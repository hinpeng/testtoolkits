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这一页想说明的核心结论是，我们已经打通了 Triton Ascend 自动 Tiling 生成与寻优的主链路，能够明显降低 kernel 的手工试参成本。左侧流程图展示的不是黑盒调参，而是一条可解释的技术闭环：系统先从 Triton DSL 和运行时 shape 中恢复两类语义空间，也就是 VV 的向量语义空间和 CV 的 dot 轴语义空间，再分别进入各自的 tiling 候选生成与剪枝流程。最终，这些候选会进入真实的编译和 benchmark 环节，由运行结果选出最优配置，所以结果既自动化，也有性能依据。右侧四点对应的是管理层最关心的问题：目标上，我们保持社区 autotune 入口兼容；技术上，我们已经把语义恢复、候选生成和约束剪枝串成闭环；进展上，VV 和 CV 两条主链都已经跑通；后续则会继续补强多 dot-site 耦合、剪枝前移以及统一建模能力。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63B66"/>
                </a:gs>
                <a:gs pos="100000">
                  <a:srgbClr val="4F86C6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52425" y="157162"/>
            <a:ext cx="11458575" cy="1038226"/>
            <a:chOff x="352425" y="157162"/>
            <a:chExt cx="11458575" cy="1038226"/>
          </a:xfrm>
        </p:grpSpPr>
        <p:sp>
          <p:nvSpPr>
            <p:cNvPr id="5" name="TextBox 5"/>
            <p:cNvSpPr txBox="1"/>
            <p:nvPr/>
          </p:nvSpPr>
          <p:spPr>
            <a:xfrm>
              <a:off x="352425" y="157162"/>
              <a:ext cx="9634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63B66"/>
                  </a:solidFill>
                  <a:latin typeface="Georgia"/>
                  <a:ea typeface="SimSun"/>
                  <a:cs typeface="Georgia"/>
                </a:rPr>
                <a:t>已打通自动 Tiling 寻优主链，显著降低 Ascend Kernel 手工试参成本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381000" y="571500"/>
              <a:ext cx="11430000" cy="590550"/>
            </a:xfrm>
            <a:prstGeom prst="roundRect">
              <a:avLst>
                <a:gd name="adj" fmla="val 19355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11505" y="692468"/>
              <a:ext cx="63890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系统已能从 Triton DSL 自动恢复 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FFD6A5"/>
                  </a:solidFill>
                  <a:latin typeface="Arial"/>
                  <a:ea typeface="Microsoft YaHei"/>
                  <a:cs typeface="Arial"/>
                </a:rPr>
                <a:t>VV / CV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语义空间，生成并剪枝 Tiling 候选，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11505" y="921068"/>
              <a:ext cx="64430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并经 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FFD6A5"/>
                  </a:solidFill>
                  <a:latin typeface="Arial"/>
                  <a:ea typeface="Microsoft YaHei"/>
                  <a:cs typeface="Arial"/>
                </a:rPr>
                <a:t>Compile / Benchmark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 选择最优配置，覆盖主流 vector 与 tl.dot 场景。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371600"/>
            <a:ext cx="6667500" cy="4953000"/>
            <a:chOff x="381000" y="1371600"/>
            <a:chExt cx="6667500" cy="4953000"/>
          </a:xfrm>
        </p:grpSpPr>
        <p:sp>
          <p:nvSpPr>
            <p:cNvPr id="10" name="Rectangle 10"/>
            <p:cNvSpPr/>
            <p:nvPr/>
          </p:nvSpPr>
          <p:spPr>
            <a:xfrm>
              <a:off x="381000" y="1371600"/>
              <a:ext cx="6667500" cy="4953000"/>
            </a:xfrm>
            <a:prstGeom prst="roundRect">
              <a:avLst>
                <a:gd name="adj" fmla="val 3077"/>
              </a:avLst>
            </a:prstGeom>
            <a:solidFill>
              <a:srgbClr val="F7F9FC"/>
            </a:solidFill>
            <a:ln w="14288">
              <a:solidFill>
                <a:srgbClr val="D6DCE5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524000"/>
              <a:ext cx="1028700" cy="266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6DCE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3916" y="15997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技术证明链路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14500" y="1866900"/>
              <a:ext cx="4000500" cy="533400"/>
            </a:xfrm>
            <a:prstGeom prst="roundRect">
              <a:avLst>
                <a:gd name="adj" fmla="val 25000"/>
              </a:avLst>
            </a:prstGeom>
            <a:solidFill>
              <a:srgbClr val="163B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47231" y="2009775"/>
              <a:ext cx="35350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Triton DSL / Runtime Shape / Hints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714750" y="24003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4F86C6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657600" y="2590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F86C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2085975" y="26860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23812">
              <a:solidFill>
                <a:srgbClr val="9CBC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085975" y="26860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23812">
              <a:solidFill>
                <a:srgbClr val="9CBCE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43525" y="2686050"/>
              <a:ext cx="9525" cy="133350"/>
            </a:xfrm>
            <a:custGeom>
              <a:avLst/>
              <a:gdLst/>
              <a:ahLst/>
              <a:cxnLst/>
              <a:rect l="l" t="t" r="r" b="b"/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/>
            <a:ln w="23812">
              <a:solidFill>
                <a:srgbClr val="9CBCE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2819400"/>
              <a:ext cx="2686050" cy="838200"/>
            </a:xfrm>
            <a:prstGeom prst="roundRect">
              <a:avLst>
                <a:gd name="adj" fmla="val 18182"/>
              </a:avLst>
            </a:prstGeom>
            <a:solidFill>
              <a:srgbClr val="EAF2FC"/>
            </a:solidFill>
            <a:ln w="14288">
              <a:solidFill>
                <a:srgbClr val="A8C7E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89828" y="2924175"/>
              <a:ext cx="15922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63B66"/>
                  </a:solidFill>
                  <a:latin typeface="Arial"/>
                  <a:ea typeface="Microsoft YaHei"/>
                  <a:cs typeface="Arial"/>
                </a:rPr>
                <a:t>VV 向量语义空间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6502" y="3210878"/>
              <a:ext cx="2238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 tl.arange / tl.load 等访问模式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021" y="3401378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恢复 axis / split / tiling 角色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2819400"/>
              <a:ext cx="2686050" cy="838200"/>
            </a:xfrm>
            <a:prstGeom prst="roundRect">
              <a:avLst>
                <a:gd name="adj" fmla="val 18182"/>
              </a:avLst>
            </a:prstGeom>
            <a:solidFill>
              <a:srgbClr val="EAF2FC"/>
            </a:solidFill>
            <a:ln w="14288">
              <a:solidFill>
                <a:srgbClr val="A8C7E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47615" y="2924175"/>
              <a:ext cx="17918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63B66"/>
                  </a:solidFill>
                  <a:latin typeface="Arial"/>
                  <a:ea typeface="Microsoft YaHei"/>
                  <a:cs typeface="Arial"/>
                </a:rPr>
                <a:t>CV dot 轴语义空间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2082" y="3210878"/>
              <a:ext cx="17628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从 tl.dot 恢复 M / N / K 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58581" y="3401378"/>
              <a:ext cx="1769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dot-site 对应的轴语义约束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085975" y="3657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3812">
              <a:solidFill>
                <a:srgbClr val="4F86C6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2028825" y="38862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F86C6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343525" y="3657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3812">
              <a:solidFill>
                <a:srgbClr val="4F86C6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286375" y="38862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F86C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2950" y="4000500"/>
              <a:ext cx="268605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14288">
              <a:solidFill>
                <a:srgbClr val="D6DCE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94596" y="4121468"/>
              <a:ext cx="1782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3B66"/>
                  </a:solidFill>
                  <a:latin typeface="Arial"/>
                  <a:ea typeface="Microsoft YaHei"/>
                  <a:cs typeface="Arial"/>
                </a:rPr>
                <a:t>VV tiling 生成与剪枝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32535" y="4382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按向量轴语义生成候选配置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2509" y="45729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并结合对齐、容量与核数约束收敛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00500" y="4000500"/>
              <a:ext cx="268605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14288">
              <a:solidFill>
                <a:srgbClr val="D6DCE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452146" y="4121468"/>
              <a:ext cx="17827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3B66"/>
                  </a:solidFill>
                  <a:latin typeface="Arial"/>
                  <a:ea typeface="Microsoft YaHei"/>
                  <a:cs typeface="Arial"/>
                </a:rPr>
                <a:t>CV tiling 生成与剪枝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15063" y="4382452"/>
              <a:ext cx="20569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围绕 M / N / K 与 dot-site 展开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0076" y="45729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完成候选空间构造与保守过滤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2085975" y="4876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E67E2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5343525" y="4876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>
              <a:solidFill>
                <a:srgbClr val="E67E22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085975" y="5048250"/>
              <a:ext cx="3257550" cy="9525"/>
            </a:xfrm>
            <a:custGeom>
              <a:avLst/>
              <a:gdLst/>
              <a:ahLst/>
              <a:cxnLst/>
              <a:rect l="l" t="t" r="r" b="b"/>
              <a:pathLst>
                <a:path w="3257550" h="9525">
                  <a:moveTo>
                    <a:pt x="0" y="0"/>
                  </a:moveTo>
                  <a:lnTo>
                    <a:pt x="3257550" y="0"/>
                  </a:lnTo>
                </a:path>
              </a:pathLst>
            </a:custGeom>
            <a:noFill/>
            <a:ln w="23812">
              <a:solidFill>
                <a:srgbClr val="E67E22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3714750" y="50482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8575">
              <a:solidFill>
                <a:srgbClr val="E67E22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3657600" y="52006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714500" y="5295900"/>
              <a:ext cx="4000500" cy="800100"/>
            </a:xfrm>
            <a:prstGeom prst="roundRect">
              <a:avLst>
                <a:gd name="adj" fmla="val 19048"/>
              </a:avLst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82031" y="5432108"/>
              <a:ext cx="38654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Compile / Benchmark / Best Config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28206" y="5735002"/>
              <a:ext cx="33730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4E8"/>
                  </a:solidFill>
                  <a:latin typeface="Arial"/>
                  <a:ea typeface="Microsoft YaHei"/>
                  <a:cs typeface="Arial"/>
                </a:rPr>
                <a:t>通过真实编译与 benchmark 结果选择最优 tiling 配置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302818" y="1428274"/>
            <a:ext cx="4508182" cy="4801076"/>
            <a:chOff x="7302818" y="1428274"/>
            <a:chExt cx="4508182" cy="4801076"/>
          </a:xfrm>
        </p:grpSpPr>
        <p:sp>
          <p:nvSpPr>
            <p:cNvPr id="49" name="TextBox 49"/>
            <p:cNvSpPr txBox="1"/>
            <p:nvPr/>
          </p:nvSpPr>
          <p:spPr>
            <a:xfrm>
              <a:off x="7302818" y="14282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管理摘要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315200" y="1676400"/>
              <a:ext cx="4495800" cy="1066800"/>
              <a:chOff x="7315200" y="1676400"/>
              <a:chExt cx="4495800" cy="10668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315200" y="1676400"/>
                <a:ext cx="44958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F7F9FC"/>
              </a:solidFill>
              <a:ln w="14288">
                <a:solidFill>
                  <a:srgbClr val="D6DCE5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7315200" y="167640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7486650" y="1828800"/>
                <a:ext cx="342900" cy="342900"/>
              </a:xfrm>
              <a:prstGeom prst="ellipse">
                <a:avLst/>
              </a:prstGeom>
              <a:solidFill>
                <a:srgbClr val="FFF2E3"/>
              </a:solidFill>
              <a:ln>
                <a:noFill/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7543800" y="1885950"/>
                <a:ext cx="228600" cy="228600"/>
                <a:chOff x="7543800" y="1885950"/>
                <a:chExt cx="228600" cy="228600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7600950" y="19431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57150" y="0"/>
                      </a:moveTo>
                      <a:cubicBezTo>
                        <a:pt x="25587" y="0"/>
                        <a:pt x="0" y="25587"/>
                        <a:pt x="0" y="57150"/>
                      </a:cubicBez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lose/>
                      <a:moveTo>
                        <a:pt x="28575" y="57150"/>
                      </a:moveTo>
                      <a:cubicBezTo>
                        <a:pt x="28575" y="41368"/>
                        <a:pt x="41368" y="28575"/>
                        <a:pt x="57150" y="28575"/>
                      </a:cubicBezTo>
                      <a:cubicBezTo>
                        <a:pt x="72932" y="28575"/>
                        <a:pt x="85725" y="41368"/>
                        <a:pt x="85725" y="57150"/>
                      </a:cubicBezTo>
                      <a:cubicBezTo>
                        <a:pt x="85725" y="72932"/>
                        <a:pt x="72932" y="85725"/>
                        <a:pt x="57150" y="85725"/>
                      </a:cubicBezTo>
                      <a:cubicBezTo>
                        <a:pt x="41368" y="85725"/>
                        <a:pt x="28575" y="72932"/>
                        <a:pt x="28575" y="57150"/>
                      </a:cubicBezTo>
                      <a:close/>
                    </a:path>
                  </a:pathLst>
                </a:custGeom>
                <a:solidFill>
                  <a:srgbClr val="E67E22"/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543800" y="18859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114300" y="0"/>
                      </a:moveTo>
                      <a:cubicBezTo>
                        <a:pt x="51174" y="0"/>
                        <a:pt x="0" y="51174"/>
                        <a:pt x="0" y="114300"/>
                      </a:cubicBez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lose/>
                      <a:moveTo>
                        <a:pt x="28575" y="114300"/>
                      </a:moveTo>
                      <a:cubicBezTo>
                        <a:pt x="28575" y="66955"/>
                        <a:pt x="66955" y="28575"/>
                        <a:pt x="114300" y="28575"/>
                      </a:cubicBezTo>
                      <a:cubicBezTo>
                        <a:pt x="161644" y="28575"/>
                        <a:pt x="200025" y="66955"/>
                        <a:pt x="200025" y="114300"/>
                      </a:cubicBezTo>
                      <a:cubicBezTo>
                        <a:pt x="200025" y="161644"/>
                        <a:pt x="161644" y="200025"/>
                        <a:pt x="114300" y="200025"/>
                      </a:cubicBezTo>
                      <a:cubicBezTo>
                        <a:pt x="66955" y="200025"/>
                        <a:pt x="28575" y="161644"/>
                        <a:pt x="28575" y="114300"/>
                      </a:cubicBezTo>
                      <a:close/>
                    </a:path>
                  </a:pathLst>
                </a:custGeom>
                <a:solidFill>
                  <a:srgbClr val="E67E22"/>
                </a:solidFill>
                <a:ln>
                  <a:noFill/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908608" y="1824514"/>
                <a:ext cx="95177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1. 功能目标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12418" y="2085499"/>
                <a:ext cx="21245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保持 @triton.autotune 入口兼容，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12418" y="225694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自动为 Ascend NPU 生成 Tiling 候选，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912418" y="2428399"/>
                <a:ext cx="22025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并以真实 benchmark 结果完成选优。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7315200" y="2838450"/>
              <a:ext cx="4495800" cy="1066800"/>
              <a:chOff x="7315200" y="2838450"/>
              <a:chExt cx="4495800" cy="10668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7315200" y="2838450"/>
                <a:ext cx="44958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F7F9FC"/>
              </a:solidFill>
              <a:ln w="14288">
                <a:solidFill>
                  <a:srgbClr val="D6DCE5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315200" y="283845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4F86C6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7486650" y="2990850"/>
                <a:ext cx="342900" cy="342900"/>
              </a:xfrm>
              <a:prstGeom prst="ellipse">
                <a:avLst/>
              </a:prstGeom>
              <a:solidFill>
                <a:srgbClr val="EAF2FC"/>
              </a:solidFill>
              <a:ln>
                <a:noFill/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7543800" y="3062288"/>
                <a:ext cx="228600" cy="200025"/>
                <a:chOff x="7543800" y="3062288"/>
                <a:chExt cx="228600" cy="20002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7543800" y="3062288"/>
                  <a:ext cx="2286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8575">
                      <a:moveTo>
                        <a:pt x="0" y="28575"/>
                      </a:moveTo>
                      <a:lnTo>
                        <a:pt x="228600" y="28575"/>
                      </a:lnTo>
                      <a:lnTo>
                        <a:pt x="228600" y="0"/>
                      </a:lnTo>
                      <a:lnTo>
                        <a:pt x="0" y="0"/>
                      </a:lnTo>
                      <a:lnTo>
                        <a:pt x="0" y="28575"/>
                      </a:lnTo>
                      <a:close/>
                    </a:path>
                  </a:pathLst>
                </a:custGeom>
                <a:solidFill>
                  <a:srgbClr val="4F86C6"/>
                </a:solidFill>
                <a:ln>
                  <a:noFill/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7572375" y="3119438"/>
                  <a:ext cx="1714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8575">
                      <a:moveTo>
                        <a:pt x="0" y="28575"/>
                      </a:moveTo>
                      <a:lnTo>
                        <a:pt x="171450" y="28575"/>
                      </a:lnTo>
                      <a:lnTo>
                        <a:pt x="171450" y="0"/>
                      </a:lnTo>
                      <a:lnTo>
                        <a:pt x="0" y="0"/>
                      </a:lnTo>
                      <a:lnTo>
                        <a:pt x="0" y="28575"/>
                      </a:lnTo>
                      <a:close/>
                    </a:path>
                  </a:pathLst>
                </a:custGeom>
                <a:solidFill>
                  <a:srgbClr val="4F86C6"/>
                </a:solidFill>
                <a:ln>
                  <a:noFill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7600950" y="3176588"/>
                  <a:ext cx="11430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28575">
                      <a:moveTo>
                        <a:pt x="0" y="28575"/>
                      </a:moveTo>
                      <a:lnTo>
                        <a:pt x="114300" y="28575"/>
                      </a:lnTo>
                      <a:lnTo>
                        <a:pt x="114300" y="0"/>
                      </a:lnTo>
                      <a:lnTo>
                        <a:pt x="0" y="0"/>
                      </a:lnTo>
                      <a:lnTo>
                        <a:pt x="0" y="28575"/>
                      </a:lnTo>
                      <a:close/>
                    </a:path>
                  </a:pathLst>
                </a:custGeom>
                <a:solidFill>
                  <a:srgbClr val="4F86C6"/>
                </a:solidFill>
                <a:ln>
                  <a:noFill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7629525" y="3233738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57150" y="28575"/>
                      </a:moveTo>
                      <a:lnTo>
                        <a:pt x="0" y="28575"/>
                      </a:lnTo>
                      <a:lnTo>
                        <a:pt x="0" y="0"/>
                      </a:lnTo>
                      <a:lnTo>
                        <a:pt x="57150" y="0"/>
                      </a:lnTo>
                      <a:lnTo>
                        <a:pt x="57150" y="28575"/>
                      </a:lnTo>
                      <a:close/>
                    </a:path>
                  </a:pathLst>
                </a:custGeom>
                <a:solidFill>
                  <a:srgbClr val="4F86C6"/>
                </a:solidFill>
                <a:ln>
                  <a:noFill/>
                </a:ln>
              </p:spPr>
            </p:sp>
          </p:grpSp>
          <p:sp>
            <p:nvSpPr>
              <p:cNvPr id="69" name="TextBox 69"/>
              <p:cNvSpPr txBox="1"/>
              <p:nvPr/>
            </p:nvSpPr>
            <p:spPr>
              <a:xfrm>
                <a:off x="7908608" y="2986564"/>
                <a:ext cx="9964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2. 关键技术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912418" y="3247549"/>
                <a:ext cx="23065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从 Triton DSL 恢复 VV / CV 语义空间，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912418" y="3418999"/>
                <a:ext cx="27551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将 shape、dot 轴语义与硬件约束映射为候选，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912418" y="3590449"/>
                <a:ext cx="19750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再通过剪枝控制搜索规模与成本。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7315200" y="4000500"/>
              <a:ext cx="4495800" cy="1066800"/>
              <a:chOff x="7315200" y="4000500"/>
              <a:chExt cx="4495800" cy="10668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7315200" y="4000500"/>
                <a:ext cx="44958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F7F9FC"/>
              </a:solidFill>
              <a:ln w="14288">
                <a:solidFill>
                  <a:srgbClr val="D6DCE5"/>
                </a:solidFill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7315200" y="400050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0F9F6E"/>
              </a:solidFill>
              <a:ln>
                <a:noFill/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7486650" y="4152900"/>
                <a:ext cx="342900" cy="342900"/>
              </a:xfrm>
              <a:prstGeom prst="ellipse">
                <a:avLst/>
              </a:prstGeom>
              <a:solidFill>
                <a:srgbClr val="E8F6F0"/>
              </a:solidFill>
              <a:ln>
                <a:noFill/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7543800" y="4224338"/>
                <a:ext cx="228600" cy="200025"/>
                <a:chOff x="7543800" y="4224338"/>
                <a:chExt cx="228600" cy="200025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7715250" y="42243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200025"/>
                      </a:lnTo>
                      <a:lnTo>
                        <a:pt x="57150" y="200025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0F9F6E"/>
                </a:solidFill>
                <a:ln>
                  <a:noFill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7629525" y="4281488"/>
                  <a:ext cx="571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42875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142875"/>
                      </a:lnTo>
                      <a:lnTo>
                        <a:pt x="0" y="1428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F9F6E"/>
                </a:solidFill>
                <a:ln>
                  <a:noFill/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543800" y="4338638"/>
                  <a:ext cx="571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85725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85725"/>
                      </a:lnTo>
                      <a:lnTo>
                        <a:pt x="0" y="85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F9F6E"/>
                </a:solidFill>
                <a:ln>
                  <a:noFill/>
                </a:ln>
              </p:spPr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7908608" y="4148614"/>
                <a:ext cx="63936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3. 进展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912418" y="440959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已形成从语义解析、候选生成、剪枝、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7912418" y="4581049"/>
                <a:ext cx="19425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编译到 benchmark 的完整闭环，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912418" y="4752499"/>
                <a:ext cx="211152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VV 与 tl.dot 主场景均可自动寻优。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7315200" y="5162550"/>
              <a:ext cx="4495800" cy="1066800"/>
              <a:chOff x="7315200" y="5162550"/>
              <a:chExt cx="4495800" cy="10668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7315200" y="5162550"/>
                <a:ext cx="4495800" cy="1066800"/>
              </a:xfrm>
              <a:prstGeom prst="roundRect">
                <a:avLst>
                  <a:gd name="adj" fmla="val 12500"/>
                </a:avLst>
              </a:prstGeom>
              <a:solidFill>
                <a:srgbClr val="F7F9FC"/>
              </a:solidFill>
              <a:ln w="14288">
                <a:solidFill>
                  <a:srgbClr val="D6DCE5"/>
                </a:solidFill>
              </a:ln>
            </p:spPr>
          </p:sp>
          <p:sp>
            <p:nvSpPr>
              <p:cNvPr id="87" name="Rectangle 87"/>
              <p:cNvSpPr/>
              <p:nvPr/>
            </p:nvSpPr>
            <p:spPr>
              <a:xfrm>
                <a:off x="7315200" y="5162550"/>
                <a:ext cx="57150" cy="1066800"/>
              </a:xfrm>
              <a:prstGeom prst="roundRect">
                <a:avLst>
                  <a:gd name="adj" fmla="val 50000"/>
                </a:avLst>
              </a:prstGeom>
              <a:solidFill>
                <a:srgbClr val="D14343"/>
              </a:solidFill>
              <a:ln>
                <a:noFill/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7486650" y="5314950"/>
                <a:ext cx="342900" cy="342900"/>
              </a:xfrm>
              <a:prstGeom prst="ellipse">
                <a:avLst/>
              </a:prstGeom>
              <a:solidFill>
                <a:srgbClr val="FCECEC"/>
              </a:solidFill>
              <a:ln>
                <a:noFill/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558088" y="5386388"/>
                <a:ext cx="200025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4312">
                    <a:moveTo>
                      <a:pt x="0" y="0"/>
                    </a:moveTo>
                    <a:lnTo>
                      <a:pt x="0" y="214312"/>
                    </a:lnTo>
                    <a:lnTo>
                      <a:pt x="28575" y="214312"/>
                    </a:lnTo>
                    <a:lnTo>
                      <a:pt x="28575" y="128588"/>
                    </a:lnTo>
                    <a:lnTo>
                      <a:pt x="85725" y="128588"/>
                    </a:lnTo>
                    <a:lnTo>
                      <a:pt x="114300" y="157162"/>
                    </a:lnTo>
                    <a:lnTo>
                      <a:pt x="200025" y="157162"/>
                    </a:lnTo>
                    <a:lnTo>
                      <a:pt x="200025" y="28575"/>
                    </a:lnTo>
                    <a:lnTo>
                      <a:pt x="114300" y="28575"/>
                    </a:lnTo>
                    <a:lnTo>
                      <a:pt x="857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4343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908608" y="5310664"/>
                <a:ext cx="9964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4. 剩余挑战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7912418" y="5571649"/>
                <a:ext cx="25925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仍需补强多 dot-site 耦合与统一输入建模，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7912418" y="5743099"/>
                <a:ext cx="24950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并将容量、对齐、核数等约束进一步前移，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7912418" y="5914549"/>
                <a:ext cx="24495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提升复杂 kernel 场景下的稳定覆盖能力。</a:t>
                </a: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370522" y="6534150"/>
            <a:ext cx="11450956" cy="250031"/>
            <a:chOff x="370522" y="6534150"/>
            <a:chExt cx="11450956" cy="250031"/>
          </a:xfrm>
        </p:grpSpPr>
        <p:sp>
          <p:nvSpPr>
            <p:cNvPr id="96" name="Line 96"/>
            <p:cNvSpPr/>
            <p:nvPr/>
          </p:nvSpPr>
          <p:spPr>
            <a:xfrm>
              <a:off x="381000" y="6534150"/>
              <a:ext cx="11430000" cy="9525"/>
            </a:xfrm>
            <a:custGeom>
              <a:avLst/>
              <a:gdLst/>
              <a:ahLst/>
              <a:cxnLst/>
              <a:rect l="l" t="t" r="r" b="b"/>
              <a:pathLst>
                <a:path w="11430000" h="9525">
                  <a:moveTo>
                    <a:pt x="0" y="0"/>
                  </a:moveTo>
                  <a:lnTo>
                    <a:pt x="11430000" y="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70522" y="6616541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Source: Triton Autotune 自动 Tiling 生成寻优功能.md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111901" y="6616541"/>
              <a:ext cx="19681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TRITON ASCEND · AUTOTUNE CLOSEOUT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707011" y="66165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9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