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4"/>
    <p:restoredTop sz="94643"/>
  </p:normalViewPr>
  <p:slideViewPr>
    <p:cSldViewPr snapToGrid="0" snapToObjects="1">
      <p:cViewPr varScale="1">
        <p:scale>
          <a:sx n="151" d="100"/>
          <a:sy n="151" d="100"/>
        </p:scale>
        <p:origin x="208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28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各位领导好，今天汇报的主题是 PyTorch Ascend Inductor 的架构问题，以及如何把当前实现逐步改造成更升级友好的形态。</a:t>
            </a:r>
          </a:p>
          <a:p>
            <a:endParaRPr lang="zh-CN" dirty="0"/>
          </a:p>
          <a:p>
            <a:r>
              <a:rPr lang="zh-CN" dirty="0"/>
              <a:t>这份分析基于 v2.7.1 版本相对社区 PyTorch Inductor 的深度差异。核心不是评价某一个 kernel 写得好不好，而是看 Ascend 路径在 lowering、scheduling、codegen、autotune 和 runtime 之间，已经形成了怎样的私有协议，以及这些协议会如何影响后续跟随上游升级。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今天我会围绕三个管理问题展开。第一，当前 Ascend Inductor 到底改到了哪一层；第二，哪些差异是必要的硬件适配，哪些差异会放大升级成本；第三，下一阶段我们应该优先治理哪些点。</a:t>
            </a:r>
          </a:p>
          <a:p>
            <a:endParaRPr lang="zh-CN" dirty="0"/>
          </a:p>
          <a:p>
            <a:r>
              <a:rPr lang="zh-CN" dirty="0"/>
              <a:t>汇报口径会尽量避免陷入逐函数细节，而是把事实收敛成工程决策：哪里需要保留，哪里需要收口，哪里需要专项化治理。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先给结论：Ascend Inductor 不是只在末端做 NPU codegen 适配，而是从 import-time patch 开始，跨 lowering、scheduling、codegen 和 runtime 形成了一套私有化接管路径。</a:t>
            </a:r>
          </a:p>
          <a:p>
            <a:endParaRPr lang="zh-CN" dirty="0"/>
          </a:p>
          <a:p>
            <a:r>
              <a:rPr lang="zh-CN" dirty="0"/>
              <a:t>这意味着后续升级风险的来源，不只是单点函数和上游不同，而是跨层协议发生漂移。比如 lowering 输出的 IR 形态、scheduling 的保轴分组、codegen 写入的 axis metadata，以及 runtime autotune 对这些 metadata 的消费，都已经连成了一条链。</a:t>
            </a:r>
          </a:p>
          <a:p>
            <a:endParaRPr lang="zh-CN" dirty="0"/>
          </a:p>
          <a:p>
            <a:r>
              <a:rPr lang="zh-CN" dirty="0"/>
              <a:t>管理上的含义是：升级治理不能只靠追 diff、补 kernel，而要把私有协议的边界、schema 和回归覆盖作为工程对象来管理。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在这个结论之下，我们先单独看当前 Ascend Inductor 的接入方式。它不是简单新增一个 NPU device backend，而是在 `torch_npu/_inductor` 加载 backend 时，同时完成 backend 注册和一组上游 monkey patch。</a:t>
            </a:r>
          </a:p>
          <a:p>
            <a:endParaRPr lang="zh-CN" dirty="0"/>
          </a:p>
          <a:p>
            <a:r>
              <a:rPr lang="zh-CN" dirty="0"/>
              <a:t>更准确地讲，这一页要分成六类看，同时要看每一类的可扩展性。第一是 `_load_triton_backend()` 触发接入，扩展性中等，问题在于入口职责偏重，适合拆成分层 install。第二是 `register_backend_for_device` 注册 NPU backend，这是标准扩展点，可扩展性最高。第三是 scheduling 侧接入，属于必要的 NPU override，可扩展性中高，但要收窄 whole-method copy。</a:t>
            </a:r>
          </a:p>
          <a:p>
            <a:endParaRPr lang="zh-CN" dirty="0"/>
          </a:p>
          <a:p>
            <a:r>
              <a:rPr lang="zh-CN" dirty="0"/>
              <a:t>第四是 codegen 前置表达式改写，它支撑 NPUIndexTritonKernel 的轴空间和 indexing 表达式，当前必要但隐式前提较多，可扩展性中等。第五是 autotune 和 runtime hook，当前通过 import-time patch 接入候选生成、cache 和 profiling，可扩展性中低，后续应收回到类内或 NPU-specific call path。第六是 `inductor_meta` 协议，短期很高效，但私有 dict ABI 长期脆弱，只有类型化 schema 和边界校验补上以后，才会成为真正升级友好的 contract。</a:t>
            </a:r>
          </a:p>
          <a:p>
            <a:endParaRPr lang="zh-CN" dirty="0"/>
          </a:p>
          <a:p>
            <a:r>
              <a:rPr lang="zh-CN" dirty="0"/>
              <a:t>所以后续做升级时，第一步不是直接追某个 codegen 函数的 diff，而是先审计这六类接入面的作用域和扩展性等级。治理优先级也不是“把所有 patch 都去掉”，而是先收缩高 blast radius 的接入，再把 import-time 策略 patch 收回到可测试、可归属的 NPU-owned override 或 typed contract。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这一页说明实际生效路径。Ascend 逻辑从 `torch_npu/_inductor` 的 backend 加载开始，首先注册 NPU backend，然后安装一批上游 patch，再进入各阶段的接管逻辑。</a:t>
            </a:r>
          </a:p>
          <a:p>
            <a:endParaRPr lang="zh-CN" dirty="0"/>
          </a:p>
          <a:p>
            <a:r>
              <a:rPr lang="zh-CN" dirty="0"/>
              <a:t>需要特别注意的是，这些 patch 是进程内全局生效的。后面我们看到的 lowering 分流、scheduling 保轴、codegen 轴线性化、autotune 私有候选，都运行在这个已经被改写过的环境里。</a:t>
            </a:r>
          </a:p>
          <a:p>
            <a:endParaRPr lang="zh-CN" dirty="0"/>
          </a:p>
          <a:p>
            <a:r>
              <a:rPr lang="zh-CN" dirty="0"/>
              <a:t>所以做版本升级时，不能只看某个阶段代码是否能编译通过。必须先识别 import-time patch 的作用域，否则很容易把全局行为变化误判成局部代码差异。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从阶段上看，Ascend 与上游的差异主要集中在四层。Lowering 更保守，强调 fallback 和 NPU 自定义 IR；Scheduling 保留更多轴信息，给后续 split、tiling 和 runtime metadata 使用；Codegen 重写了坐标、mask、signature 和 metadata；Autotune 则变成了 NPU 资源过滤和 runtime dispatch 的一部分。</a:t>
            </a:r>
          </a:p>
          <a:p>
            <a:endParaRPr lang="zh-CN" dirty="0"/>
          </a:p>
          <a:p>
            <a:r>
              <a:rPr lang="zh-CN" dirty="0"/>
              <a:t>这里的判断不是“这些改动都不合理”。相反，很多改动是为了让 NPU 路径跑起来必须做的选择。真正的问题是，部分选择现在以全局 patch、整函数复制、松散 dict 协议的方式存在，后续上游升级时维护成本会快速放大。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Lowering 阶段的总体特点是保守。对于 scan、reduction、间接访存和部分融合路径，Ascend 更倾向于 fallback 或走自定义 IR，以降低 bring-up 阶段的 correctness 风险。</a:t>
            </a:r>
          </a:p>
          <a:p>
            <a:endParaRPr lang="zh-CN" dirty="0"/>
          </a:p>
          <a:p>
            <a:r>
              <a:rPr lang="zh-CN" dirty="0"/>
              <a:t>这个方向短期是合理的，因为硬件约束、runtime 支持和 codegen 能力都不同。但代价也很明确：fallback 面扩大后，性能波动更难预测；自定义 IR 与后续 `patch_loop_body()`、`patch_indexing()`、mask 优化和统一轴逻辑强耦合，长尾正确性问题会更难排查。</a:t>
            </a:r>
          </a:p>
          <a:p>
            <a:endParaRPr lang="zh-CN" dirty="0"/>
          </a:p>
          <a:p>
            <a:r>
              <a:rPr lang="zh-CN" dirty="0"/>
              <a:t>因此下一阶段需要把 fallback 边界和模板路径列成可审计清单，而不是继续把它们当作分散的特殊分支。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Scheduling 阶段最关键的变化，是 `NPUTritonScheduling.group_fn()` 保留了更多 per-axis 信息。这是后续 `SplitTiling`、`TileGenerator` 和 grouped autotune 能工作的前提。</a:t>
            </a:r>
          </a:p>
          <a:p>
            <a:endParaRPr lang="zh-CN" dirty="0"/>
          </a:p>
          <a:p>
            <a:r>
              <a:rPr lang="zh-CN" dirty="0"/>
              <a:t>但这里有两个风险点。第一，这个保轴语义只适用于 `NPUTritonScheduling` 主线，不能泛化到所有 Triton 路径。第二，`can_fuse()` 虽然文本上和上游非常接近，但输入语义已经变了，因此 fusion legality 不能简单认为等价。</a:t>
            </a:r>
          </a:p>
          <a:p>
            <a:endParaRPr lang="zh-CN" dirty="0"/>
          </a:p>
          <a:p>
            <a:r>
              <a:rPr lang="zh-CN" dirty="0"/>
              <a:t>工程上建议保留保轴 override，但把 whole-method fork 收缩成更小粒度的 helper 或 override，让上游升级时差异更容易 review。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Codegen 是当前分叉最大的单点，尤其是 `NPUIndexTritonKernel`。它已经不只是一个 kernel emitter，而是同时承担 axis planner、DSL emission 和 runtime metadata builder 三类职责。</a:t>
            </a:r>
          </a:p>
          <a:p>
            <a:endParaRPr lang="zh-CN" dirty="0"/>
          </a:p>
          <a:p>
            <a:r>
              <a:rPr lang="zh-CN" dirty="0"/>
              <a:t>这带来两个后果。第一，职责过重导致阅读和验证成本高，很多 correctness 前提分散在构造期、body 生成、indexing、load/store 和 metadata 写入之间。第二，部分状态是按需初始化的，如果调用点没有一致遵守初始化契约，就会留下“编译能过但结果可能错”的长尾风险。</a:t>
            </a:r>
          </a:p>
          <a:p>
            <a:endParaRPr lang="zh-CN" dirty="0"/>
          </a:p>
          <a:p>
            <a:r>
              <a:rPr lang="zh-CN" dirty="0"/>
              <a:t>后续改造不应简单重写这个类，而应先拆出明确的轴规划协议和 metadata 生成边界。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这一页展示私有轴协议链路：`group_fn` 保留轴结构，`SplitTiling` 决定 split、tiling 和 no-loop 信息，codegen 写入 `inductor_meta`，runtime 再用这些信息生成候选和做资源过滤。</a:t>
            </a:r>
          </a:p>
          <a:p>
            <a:endParaRPr lang="zh-CN" dirty="0"/>
          </a:p>
          <a:p>
            <a:r>
              <a:rPr lang="zh-CN" dirty="0"/>
              <a:t>这条链路是 Ascend codegen 与 autotune 深耦合的根源。短期看，它让 NPU 能按自己的硬件约束生成有效候选；长期看，如果继续使用松散的 metadata dict，字段含义、生命周期和消费方前提都会越来越难验证。</a:t>
            </a:r>
          </a:p>
          <a:p>
            <a:endParaRPr lang="zh-CN" dirty="0"/>
          </a:p>
          <a:p>
            <a:r>
              <a:rPr lang="zh-CN" dirty="0"/>
              <a:t>建议把 `split_axis`、`tiling_axis`、`no_loop_axis`、`npu_kernel_type` 等字段提升为 typed schema，并明确生产者、消费者和兼容策略。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Autotune 现在已经不是单纯的 benchmark 工具，而是 runtime 决策系统。它从 `cached_autotune()` 入口开始，返回 NPU 专用 autotuner，并围绕候选生成、编译资源准入、批量 profiling 和 grouped dispatch 形成闭环。</a:t>
            </a:r>
          </a:p>
          <a:p>
            <a:endParaRPr lang="zh-CN" dirty="0"/>
          </a:p>
          <a:p>
            <a:r>
              <a:rPr lang="zh-CN" dirty="0"/>
              <a:t>这部分改造的合理性很强，因为 NPU 需要理解 UB、stack、模式、profiling 环境和 batch benchmark。但风险也很集中：cache key、profiling 稳定性、grouped symbolic dispatch 和 metadata schema，都不再是上游标准 Triton autotune 的简单扩展。</a:t>
            </a:r>
          </a:p>
          <a:p>
            <a:endParaRPr lang="zh-CN" dirty="0"/>
          </a:p>
          <a:p>
            <a:r>
              <a:rPr lang="zh-CN" dirty="0"/>
              <a:t>所以 Autotune 层建议作为“协议消费者”一起治理，不能只在 runtime 里局部修补。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对四个阶段做一个总体判断：方向大多合理，但实现形态已经进入高维护成本区。Lowering 的保守策略适合 bring-up；Scheduling 的保轴是必要前提；Codegen 的轴线性化支撑了 NPU 代码生成；Autotune 的资源过滤也符合硬件实际。</a:t>
            </a:r>
          </a:p>
          <a:p>
            <a:endParaRPr lang="zh-CN" dirty="0"/>
          </a:p>
          <a:p>
            <a:r>
              <a:rPr lang="zh-CN" dirty="0"/>
              <a:t>但这些合理性不等于长期可维护。当前问题主要在实现形态：全局 patch、整函数复制、隐式时序依赖、松散 metadata 协议，以及缺少面向协议的回归覆盖。</a:t>
            </a:r>
          </a:p>
          <a:p>
            <a:endParaRPr lang="zh-CN" dirty="0"/>
          </a:p>
          <a:p>
            <a:r>
              <a:rPr lang="zh-CN" dirty="0"/>
              <a:t>所以汇报口径应该是：不是否定当前实现，而是把“能跑”升级为“可持续跟随上游升级”。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改造优先级不是去掉所有 patch。有些 patch 现在仍然是必要的，例如保轴 `group_fn()`、长距离融合风险收紧，以及 `patch_loop_body()`、`patch_indexing()` 对间接访存模板和统一轴逻辑的支撑。</a:t>
            </a:r>
          </a:p>
          <a:p>
            <a:endParaRPr lang="zh-CN" dirty="0"/>
          </a:p>
          <a:p>
            <a:r>
              <a:rPr lang="zh-CN" dirty="0"/>
              <a:t>真正应该优先收缩的是高 blast-radius patch。比如 `can_fuse()` 这种大部分逻辑与上游相同的 whole-method fork，更适合下沉为小粒度 helper；全局 `select_index_dtype = tl.int32` 应该收回 NPU 自己的类或 kernel 逻辑；import-time 替换 autotuner 方法也应该尽量回到 `NPUCachingAutotuner` 类内部。</a:t>
            </a:r>
          </a:p>
          <a:p>
            <a:endParaRPr lang="zh-CN" dirty="0"/>
          </a:p>
          <a:p>
            <a:r>
              <a:rPr lang="zh-CN" dirty="0"/>
              <a:t>这样做的目标不是减少代码行数，而是让差异位置显式、作用域更小、升级 review 成本更低。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风险排序建议按两个维度看：correctness 风险和升级 blast radius。最高优先级是 unified-axis、mask 和 scan 相关问题，因为这类问题可能编译通过但结果错误，而且横跨 codegen 和 runtime。</a:t>
            </a:r>
          </a:p>
          <a:p>
            <a:endParaRPr lang="zh-CN" dirty="0"/>
          </a:p>
          <a:p>
            <a:r>
              <a:rPr lang="zh-CN" dirty="0"/>
              <a:t>第二类是间接访存 template、TileGenerator 资源过滤和 grouped runtime 协议。这些问题同样有较高的协议耦合度，应该通过类型化 schema 和专项回归集来治理。</a:t>
            </a:r>
          </a:p>
          <a:p>
            <a:endParaRPr lang="zh-CN" dirty="0"/>
          </a:p>
          <a:p>
            <a:r>
              <a:rPr lang="zh-CN" dirty="0"/>
              <a:t>fusion 语义漂移相对更偏调度层，但也不能忽视，因为保轴后 `can_fuse()` 的语义前提已经和上游不同。总体原则是：先 correctness，再 blast radius，最后再看性能收益。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改造建议分阶段推进。第一阶段先做差异审计，把 import-time patch、whole-method fork、metadata 字段和 fallback 边界列清楚。第二阶段收缩高 blast-radius patch，把明显可下沉的逻辑改成小粒度 override。</a:t>
            </a:r>
          </a:p>
          <a:p>
            <a:endParaRPr lang="zh-CN" dirty="0"/>
          </a:p>
          <a:p>
            <a:r>
              <a:rPr lang="zh-CN" dirty="0"/>
              <a:t>第三阶段治理 codegen/runtime 协议，把松散 dict 逐步变成 typed schema，并明确字段生产和消费责任。第四阶段补齐面向协议的回归集，覆盖 axis、mask、scan、grouped autotune 和 cache key 等关键路径。</a:t>
            </a:r>
          </a:p>
          <a:p>
            <a:endParaRPr lang="zh-CN" dirty="0"/>
          </a:p>
          <a:p>
            <a:r>
              <a:rPr lang="zh-CN" dirty="0"/>
              <a:t>这条路线的好处是，不要求一次性推倒重来，而是先降低升级风险最高的部分，再逐步提高架构可持续性。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最后需要领导确认三件事。第一，是否同意把“升级友好”作为 Ascend Inductor 下一阶段的明确工程目标，而不仅是继续补功能、补性能。第二，是否允许我们把短期能跑的 patch 逐步改造成更小粒度、更可审计的 override。</a:t>
            </a:r>
          </a:p>
          <a:p>
            <a:endParaRPr lang="zh-CN" dirty="0"/>
          </a:p>
          <a:p>
            <a:r>
              <a:rPr lang="zh-CN" dirty="0"/>
              <a:t>第三，是否把 codegen/runtime metadata contract 作为专项治理对象，配套投入回归集建设。这里的投入不是单纯重构，而是为了减少后续每次跟随社区 PyTorch 升级时的重复成本和 correctness 风险。</a:t>
            </a:r>
          </a:p>
          <a:p>
            <a:endParaRPr lang="zh-CN" dirty="0"/>
          </a:p>
          <a:p>
            <a:r>
              <a:rPr lang="zh-CN" dirty="0"/>
              <a:t>我的建议是按这三项推进：先收缩高 blast-radius patch，再治理私有协议，最后把协议回归纳入常规升级门禁。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609600"/>
            <a:ext cx="12858750" cy="8324850"/>
            <a:chOff x="0" y="-609600"/>
            <a:chExt cx="12858750" cy="83248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53A5B"/>
                </a:gs>
                <a:gs pos="100000">
                  <a:srgbClr val="1F4E7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572500" y="-609600"/>
              <a:ext cx="3619500" cy="3619500"/>
            </a:xfrm>
            <a:prstGeom prst="ellipse">
              <a:avLst/>
            </a:prstGeom>
            <a:solidFill>
              <a:srgbClr val="E7EFF8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620250" y="4476750"/>
              <a:ext cx="3238500" cy="3238500"/>
            </a:xfrm>
            <a:prstGeom prst="ellipse">
              <a:avLst/>
            </a:prstGeom>
            <a:solidFill>
              <a:srgbClr val="E7F5F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0070" y="914400"/>
            <a:ext cx="7197947" cy="2514198"/>
            <a:chOff x="560070" y="914400"/>
            <a:chExt cx="7197947" cy="2514198"/>
          </a:xfrm>
        </p:grpSpPr>
        <p:sp>
          <p:nvSpPr>
            <p:cNvPr id="7" name="Rectangle 7"/>
            <p:cNvSpPr/>
            <p:nvPr/>
          </p:nvSpPr>
          <p:spPr>
            <a:xfrm>
              <a:off x="609600" y="914400"/>
              <a:ext cx="819150" cy="57150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0070" y="1236345"/>
              <a:ext cx="659727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53A5B"/>
                  </a:solidFill>
                  <a:latin typeface="Segoe UI"/>
                  <a:ea typeface="Microsoft YaHei"/>
                  <a:cs typeface="Segoe UI"/>
                </a:rPr>
                <a:t>PyTorch Ascend Inductor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0070" y="1845945"/>
              <a:ext cx="719794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53A5B"/>
                  </a:solidFill>
                  <a:latin typeface="Segoe UI"/>
                  <a:ea typeface="Microsoft YaHei"/>
                  <a:cs typeface="Segoe UI"/>
                </a:rPr>
                <a:t>架构问题与升级友好改造建议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6745" y="2850832"/>
              <a:ext cx="59446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基于 v2.7.1 相对社区 PyTorch Inductor 的深度差异分析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6745" y="3174682"/>
              <a:ext cx="62312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结论先行：从 lowering 到 runtime autotune 的跨阶段私有化接管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98188" y="1144191"/>
            <a:ext cx="4381500" cy="4000500"/>
            <a:chOff x="6858000" y="1200150"/>
            <a:chExt cx="43815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6858000" y="1200150"/>
              <a:ext cx="4381500" cy="4000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rgbClr val="D6DEE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26605" y="14544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真实生效链路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1368" y="174259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不是末端替换，而是协议逐层重写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39000" y="2190750"/>
              <a:ext cx="1524000" cy="495300"/>
            </a:xfrm>
            <a:prstGeom prst="roundRect">
              <a:avLst>
                <a:gd name="adj" fmla="val 15385"/>
              </a:avLst>
            </a:prstGeom>
            <a:solidFill>
              <a:srgbClr val="E7EFF8"/>
            </a:solidFill>
            <a:ln w="9525">
              <a:solidFill>
                <a:srgbClr val="1F4E7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78712" y="2383631"/>
              <a:ext cx="10445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社区 Inductor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334500" y="2190750"/>
              <a:ext cx="1524000" cy="495300"/>
            </a:xfrm>
            <a:prstGeom prst="roundRect">
              <a:avLst>
                <a:gd name="adj" fmla="val 15385"/>
              </a:avLst>
            </a:prstGeom>
            <a:solidFill>
              <a:srgbClr val="FFF6E5"/>
            </a:solidFill>
            <a:ln w="9525">
              <a:solidFill>
                <a:srgbClr val="E9A23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52134" y="2383631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torch_npu patch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801100" y="2438400"/>
              <a:ext cx="4762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39000" y="3143250"/>
              <a:ext cx="3738379" cy="2019300"/>
              <a:chOff x="7239000" y="3143250"/>
              <a:chExt cx="3738379" cy="20193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239000" y="3143250"/>
                <a:ext cx="36195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7450272" y="3251470"/>
                <a:ext cx="193540" cy="201326"/>
                <a:chOff x="7450272" y="3251470"/>
                <a:chExt cx="193540" cy="201326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585472" y="3261122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25003"/>
                      </a:moveTo>
                      <a:cubicBezTo>
                        <a:pt x="50006" y="38812"/>
                        <a:pt x="38812" y="50006"/>
                        <a:pt x="25003" y="50006"/>
                      </a:cubicBezTo>
                      <a:cubicBezTo>
                        <a:pt x="11194" y="50006"/>
                        <a:pt x="0" y="38812"/>
                        <a:pt x="0" y="25003"/>
                      </a:cubicBezTo>
                      <a:cubicBezTo>
                        <a:pt x="0" y="11194"/>
                        <a:pt x="11194" y="0"/>
                        <a:pt x="25003" y="0"/>
                      </a:cubicBezTo>
                      <a:cubicBezTo>
                        <a:pt x="38812" y="0"/>
                        <a:pt x="50006" y="11194"/>
                        <a:pt x="50006" y="25003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7450272" y="3251470"/>
                  <a:ext cx="193540" cy="201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540" h="201326">
                      <a:moveTo>
                        <a:pt x="193540" y="34655"/>
                      </a:moveTo>
                      <a:cubicBezTo>
                        <a:pt x="193531" y="17333"/>
                        <a:pt x="180258" y="2903"/>
                        <a:pt x="162996" y="1451"/>
                      </a:cubicBezTo>
                      <a:cubicBezTo>
                        <a:pt x="145735" y="0"/>
                        <a:pt x="130238" y="12010"/>
                        <a:pt x="127336" y="29088"/>
                      </a:cubicBezTo>
                      <a:cubicBezTo>
                        <a:pt x="124435" y="46166"/>
                        <a:pt x="135096" y="62620"/>
                        <a:pt x="151868" y="66951"/>
                      </a:cubicBezTo>
                      <a:lnTo>
                        <a:pt x="151868" y="76327"/>
                      </a:lnTo>
                      <a:cubicBezTo>
                        <a:pt x="151868" y="85533"/>
                        <a:pt x="144406" y="92996"/>
                        <a:pt x="135200" y="92996"/>
                      </a:cubicBezTo>
                      <a:lnTo>
                        <a:pt x="60190" y="92996"/>
                      </a:lnTo>
                      <a:cubicBezTo>
                        <a:pt x="54334" y="92988"/>
                        <a:pt x="48582" y="94538"/>
                        <a:pt x="43521" y="97486"/>
                      </a:cubicBezTo>
                      <a:lnTo>
                        <a:pt x="43521" y="66951"/>
                      </a:lnTo>
                      <a:cubicBezTo>
                        <a:pt x="59776" y="62754"/>
                        <a:pt x="70374" y="47125"/>
                        <a:pt x="68259" y="30471"/>
                      </a:cubicBezTo>
                      <a:cubicBezTo>
                        <a:pt x="66144" y="13817"/>
                        <a:pt x="51975" y="1334"/>
                        <a:pt x="35187" y="1334"/>
                      </a:cubicBezTo>
                      <a:cubicBezTo>
                        <a:pt x="18399" y="1334"/>
                        <a:pt x="4231" y="13817"/>
                        <a:pt x="2115" y="30471"/>
                      </a:cubicBezTo>
                      <a:cubicBezTo>
                        <a:pt x="0" y="47125"/>
                        <a:pt x="10598" y="62754"/>
                        <a:pt x="26853" y="66951"/>
                      </a:cubicBezTo>
                      <a:lnTo>
                        <a:pt x="26853" y="135709"/>
                      </a:lnTo>
                      <a:cubicBezTo>
                        <a:pt x="10598" y="139906"/>
                        <a:pt x="0" y="155535"/>
                        <a:pt x="2115" y="172189"/>
                      </a:cubicBezTo>
                      <a:cubicBezTo>
                        <a:pt x="4231" y="188843"/>
                        <a:pt x="18399" y="201326"/>
                        <a:pt x="35187" y="201326"/>
                      </a:cubicBezTo>
                      <a:cubicBezTo>
                        <a:pt x="51975" y="201326"/>
                        <a:pt x="66144" y="188843"/>
                        <a:pt x="68259" y="172189"/>
                      </a:cubicBezTo>
                      <a:cubicBezTo>
                        <a:pt x="70374" y="155535"/>
                        <a:pt x="59776" y="139906"/>
                        <a:pt x="43521" y="135709"/>
                      </a:cubicBezTo>
                      <a:lnTo>
                        <a:pt x="43521" y="126333"/>
                      </a:lnTo>
                      <a:cubicBezTo>
                        <a:pt x="43521" y="117127"/>
                        <a:pt x="50984" y="109664"/>
                        <a:pt x="60190" y="109664"/>
                      </a:cubicBezTo>
                      <a:lnTo>
                        <a:pt x="135200" y="109664"/>
                      </a:lnTo>
                      <a:cubicBezTo>
                        <a:pt x="153611" y="109664"/>
                        <a:pt x="168537" y="94739"/>
                        <a:pt x="168537" y="76327"/>
                      </a:cubicBezTo>
                      <a:lnTo>
                        <a:pt x="168537" y="66951"/>
                      </a:lnTo>
                      <a:cubicBezTo>
                        <a:pt x="183249" y="63129"/>
                        <a:pt x="193526" y="49855"/>
                        <a:pt x="193540" y="34655"/>
                      </a:cubicBezTo>
                      <a:close/>
                      <a:moveTo>
                        <a:pt x="18518" y="34655"/>
                      </a:moveTo>
                      <a:cubicBezTo>
                        <a:pt x="18518" y="25449"/>
                        <a:pt x="25981" y="17986"/>
                        <a:pt x="35187" y="17986"/>
                      </a:cubicBezTo>
                      <a:cubicBezTo>
                        <a:pt x="44393" y="17986"/>
                        <a:pt x="51856" y="25449"/>
                        <a:pt x="51856" y="34655"/>
                      </a:cubicBezTo>
                      <a:cubicBezTo>
                        <a:pt x="51856" y="43861"/>
                        <a:pt x="44393" y="51324"/>
                        <a:pt x="35187" y="51324"/>
                      </a:cubicBezTo>
                      <a:cubicBezTo>
                        <a:pt x="25981" y="51324"/>
                        <a:pt x="18518" y="43861"/>
                        <a:pt x="18518" y="34655"/>
                      </a:cubicBezTo>
                      <a:close/>
                      <a:moveTo>
                        <a:pt x="51856" y="168005"/>
                      </a:moveTo>
                      <a:cubicBezTo>
                        <a:pt x="51856" y="177211"/>
                        <a:pt x="44393" y="184674"/>
                        <a:pt x="35187" y="184674"/>
                      </a:cubicBezTo>
                      <a:cubicBezTo>
                        <a:pt x="25981" y="184674"/>
                        <a:pt x="18518" y="177211"/>
                        <a:pt x="18518" y="168005"/>
                      </a:cubicBezTo>
                      <a:cubicBezTo>
                        <a:pt x="18518" y="158799"/>
                        <a:pt x="25981" y="151336"/>
                        <a:pt x="35187" y="151336"/>
                      </a:cubicBezTo>
                      <a:cubicBezTo>
                        <a:pt x="44393" y="151336"/>
                        <a:pt x="51856" y="158799"/>
                        <a:pt x="51856" y="168005"/>
                      </a:cubicBezTo>
                      <a:close/>
                      <a:moveTo>
                        <a:pt x="160203" y="51324"/>
                      </a:moveTo>
                      <a:cubicBezTo>
                        <a:pt x="150997" y="51324"/>
                        <a:pt x="143534" y="43861"/>
                        <a:pt x="143534" y="34655"/>
                      </a:cubicBezTo>
                      <a:cubicBezTo>
                        <a:pt x="143534" y="25449"/>
                        <a:pt x="150997" y="17986"/>
                        <a:pt x="160203" y="17986"/>
                      </a:cubicBezTo>
                      <a:cubicBezTo>
                        <a:pt x="169409" y="17986"/>
                        <a:pt x="176871" y="25449"/>
                        <a:pt x="176871" y="34655"/>
                      </a:cubicBezTo>
                      <a:cubicBezTo>
                        <a:pt x="176871" y="43861"/>
                        <a:pt x="169409" y="51324"/>
                        <a:pt x="160203" y="51324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7797165" y="3296602"/>
                <a:ext cx="27024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Lowering：提前 fallback / template IR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239000" y="3676650"/>
                <a:ext cx="36195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7418565" y="3793703"/>
                <a:ext cx="250257" cy="185988"/>
                <a:chOff x="7418565" y="3793703"/>
                <a:chExt cx="250257" cy="185988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7427119" y="3902869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33338"/>
                      </a:moveTo>
                      <a:cubicBezTo>
                        <a:pt x="66675" y="51749"/>
                        <a:pt x="51749" y="66675"/>
                        <a:pt x="33338" y="66675"/>
                      </a:cubicBezTo>
                      <a:cubicBezTo>
                        <a:pt x="14926" y="66675"/>
                        <a:pt x="0" y="51749"/>
                        <a:pt x="0" y="33338"/>
                      </a:cubicBez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418565" y="3793703"/>
                  <a:ext cx="250257" cy="185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257" h="185988">
                      <a:moveTo>
                        <a:pt x="247813" y="36594"/>
                      </a:moveTo>
                      <a:lnTo>
                        <a:pt x="214475" y="3257"/>
                      </a:lnTo>
                      <a:cubicBezTo>
                        <a:pt x="211219" y="0"/>
                        <a:pt x="205939" y="0"/>
                        <a:pt x="202682" y="3257"/>
                      </a:cubicBezTo>
                      <a:cubicBezTo>
                        <a:pt x="199426" y="6513"/>
                        <a:pt x="199426" y="11793"/>
                        <a:pt x="202682" y="15050"/>
                      </a:cubicBezTo>
                      <a:lnTo>
                        <a:pt x="221799" y="34156"/>
                      </a:lnTo>
                      <a:lnTo>
                        <a:pt x="191910" y="34156"/>
                      </a:lnTo>
                      <a:cubicBezTo>
                        <a:pt x="181700" y="34526"/>
                        <a:pt x="171663" y="36909"/>
                        <a:pt x="162375" y="41168"/>
                      </a:cubicBezTo>
                      <a:cubicBezTo>
                        <a:pt x="148186" y="47720"/>
                        <a:pt x="130257" y="61701"/>
                        <a:pt x="125350" y="91174"/>
                      </a:cubicBezTo>
                      <a:cubicBezTo>
                        <a:pt x="119807" y="124438"/>
                        <a:pt x="95033" y="132033"/>
                        <a:pt x="82636" y="133742"/>
                      </a:cubicBezTo>
                      <a:cubicBezTo>
                        <a:pt x="78108" y="112840"/>
                        <a:pt x="58492" y="98759"/>
                        <a:pt x="37240" y="101155"/>
                      </a:cubicBezTo>
                      <a:cubicBezTo>
                        <a:pt x="15988" y="103551"/>
                        <a:pt x="0" y="121647"/>
                        <a:pt x="240" y="143032"/>
                      </a:cubicBezTo>
                      <a:cubicBezTo>
                        <a:pt x="479" y="164417"/>
                        <a:pt x="16869" y="182149"/>
                        <a:pt x="38169" y="184069"/>
                      </a:cubicBezTo>
                      <a:cubicBezTo>
                        <a:pt x="59470" y="185988"/>
                        <a:pt x="78765" y="171471"/>
                        <a:pt x="82824" y="150473"/>
                      </a:cubicBezTo>
                      <a:cubicBezTo>
                        <a:pt x="90316" y="149619"/>
                        <a:pt x="97636" y="147634"/>
                        <a:pt x="104535" y="144587"/>
                      </a:cubicBezTo>
                      <a:cubicBezTo>
                        <a:pt x="118724" y="138336"/>
                        <a:pt x="136695" y="124376"/>
                        <a:pt x="141789" y="93862"/>
                      </a:cubicBezTo>
                      <a:cubicBezTo>
                        <a:pt x="148832" y="51627"/>
                        <a:pt x="190181" y="50825"/>
                        <a:pt x="191910" y="50825"/>
                      </a:cubicBezTo>
                      <a:lnTo>
                        <a:pt x="221799" y="50825"/>
                      </a:lnTo>
                      <a:lnTo>
                        <a:pt x="202682" y="69932"/>
                      </a:lnTo>
                      <a:cubicBezTo>
                        <a:pt x="199426" y="73188"/>
                        <a:pt x="199426" y="78468"/>
                        <a:pt x="202682" y="81725"/>
                      </a:cubicBezTo>
                      <a:cubicBezTo>
                        <a:pt x="205939" y="84981"/>
                        <a:pt x="211219" y="84981"/>
                        <a:pt x="214475" y="81725"/>
                      </a:cubicBezTo>
                      <a:lnTo>
                        <a:pt x="247813" y="48387"/>
                      </a:lnTo>
                      <a:cubicBezTo>
                        <a:pt x="249378" y="46824"/>
                        <a:pt x="250257" y="44703"/>
                        <a:pt x="250257" y="42491"/>
                      </a:cubicBezTo>
                      <a:cubicBezTo>
                        <a:pt x="250257" y="40279"/>
                        <a:pt x="249378" y="38157"/>
                        <a:pt x="247813" y="36594"/>
                      </a:cubicBezTo>
                      <a:close/>
                      <a:moveTo>
                        <a:pt x="41891" y="167506"/>
                      </a:moveTo>
                      <a:cubicBezTo>
                        <a:pt x="28083" y="167506"/>
                        <a:pt x="16888" y="156312"/>
                        <a:pt x="16888" y="142503"/>
                      </a:cubicBezTo>
                      <a:cubicBezTo>
                        <a:pt x="16888" y="128694"/>
                        <a:pt x="28083" y="117500"/>
                        <a:pt x="41891" y="117500"/>
                      </a:cubicBezTo>
                      <a:cubicBezTo>
                        <a:pt x="55700" y="117500"/>
                        <a:pt x="66894" y="128694"/>
                        <a:pt x="66894" y="142503"/>
                      </a:cubicBezTo>
                      <a:cubicBezTo>
                        <a:pt x="66894" y="156312"/>
                        <a:pt x="55700" y="167506"/>
                        <a:pt x="41891" y="167506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7797165" y="3830002"/>
                <a:ext cx="27244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Scheduling：保轴 group 与融合风险控制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239000" y="4210050"/>
                <a:ext cx="36195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7435447" y="4310434"/>
                <a:ext cx="200032" cy="200844"/>
                <a:chOff x="7435447" y="4310434"/>
                <a:chExt cx="200032" cy="20084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460456" y="4336256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166688" y="8334"/>
                      </a:moveTo>
                      <a:lnTo>
                        <a:pt x="166688" y="158353"/>
                      </a:lnTo>
                      <a:cubicBezTo>
                        <a:pt x="166688" y="162956"/>
                        <a:pt x="162956" y="166688"/>
                        <a:pt x="158353" y="166688"/>
                      </a:cubicBezTo>
                      <a:lnTo>
                        <a:pt x="8334" y="166688"/>
                      </a:lnTo>
                      <a:cubicBezTo>
                        <a:pt x="3731" y="166688"/>
                        <a:pt x="0" y="162956"/>
                        <a:pt x="0" y="158353"/>
                      </a:cubicBezTo>
                      <a:lnTo>
                        <a:pt x="0" y="8334"/>
                      </a:lnTo>
                      <a:cubicBezTo>
                        <a:pt x="0" y="3731"/>
                        <a:pt x="3731" y="0"/>
                        <a:pt x="8334" y="0"/>
                      </a:cubicBezTo>
                      <a:lnTo>
                        <a:pt x="158353" y="0"/>
                      </a:lnTo>
                      <a:cubicBezTo>
                        <a:pt x="162956" y="0"/>
                        <a:pt x="166688" y="3731"/>
                        <a:pt x="166688" y="8334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435447" y="4310434"/>
                  <a:ext cx="200032" cy="200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32" h="200844">
                      <a:moveTo>
                        <a:pt x="35782" y="81725"/>
                      </a:moveTo>
                      <a:lnTo>
                        <a:pt x="2444" y="48387"/>
                      </a:lnTo>
                      <a:cubicBezTo>
                        <a:pt x="879" y="46824"/>
                        <a:pt x="0" y="44703"/>
                        <a:pt x="0" y="42491"/>
                      </a:cubicBezTo>
                      <a:cubicBezTo>
                        <a:pt x="0" y="40279"/>
                        <a:pt x="879" y="38157"/>
                        <a:pt x="2444" y="36594"/>
                      </a:cubicBezTo>
                      <a:lnTo>
                        <a:pt x="35782" y="3257"/>
                      </a:lnTo>
                      <a:cubicBezTo>
                        <a:pt x="39038" y="0"/>
                        <a:pt x="44318" y="0"/>
                        <a:pt x="47575" y="3257"/>
                      </a:cubicBezTo>
                      <a:cubicBezTo>
                        <a:pt x="50832" y="6513"/>
                        <a:pt x="50832" y="11793"/>
                        <a:pt x="47575" y="15050"/>
                      </a:cubicBezTo>
                      <a:lnTo>
                        <a:pt x="20124" y="42491"/>
                      </a:lnTo>
                      <a:lnTo>
                        <a:pt x="47575" y="69932"/>
                      </a:lnTo>
                      <a:cubicBezTo>
                        <a:pt x="50832" y="73188"/>
                        <a:pt x="50832" y="78468"/>
                        <a:pt x="47575" y="81725"/>
                      </a:cubicBezTo>
                      <a:cubicBezTo>
                        <a:pt x="44318" y="84981"/>
                        <a:pt x="39038" y="84981"/>
                        <a:pt x="35782" y="81725"/>
                      </a:cubicBezTo>
                      <a:close/>
                      <a:moveTo>
                        <a:pt x="77454" y="81725"/>
                      </a:moveTo>
                      <a:cubicBezTo>
                        <a:pt x="79017" y="83290"/>
                        <a:pt x="81138" y="84169"/>
                        <a:pt x="83350" y="84169"/>
                      </a:cubicBezTo>
                      <a:cubicBezTo>
                        <a:pt x="85562" y="84169"/>
                        <a:pt x="87684" y="83290"/>
                        <a:pt x="89247" y="81725"/>
                      </a:cubicBezTo>
                      <a:lnTo>
                        <a:pt x="122584" y="48387"/>
                      </a:lnTo>
                      <a:cubicBezTo>
                        <a:pt x="124149" y="46824"/>
                        <a:pt x="125029" y="44703"/>
                        <a:pt x="125029" y="42491"/>
                      </a:cubicBezTo>
                      <a:cubicBezTo>
                        <a:pt x="125029" y="40279"/>
                        <a:pt x="124149" y="38157"/>
                        <a:pt x="122584" y="36594"/>
                      </a:cubicBezTo>
                      <a:lnTo>
                        <a:pt x="89247" y="3257"/>
                      </a:lnTo>
                      <a:cubicBezTo>
                        <a:pt x="85990" y="0"/>
                        <a:pt x="80710" y="0"/>
                        <a:pt x="77454" y="3257"/>
                      </a:cubicBezTo>
                      <a:cubicBezTo>
                        <a:pt x="74197" y="6513"/>
                        <a:pt x="74197" y="11793"/>
                        <a:pt x="77454" y="15050"/>
                      </a:cubicBezTo>
                      <a:lnTo>
                        <a:pt x="104905" y="42491"/>
                      </a:lnTo>
                      <a:lnTo>
                        <a:pt x="77454" y="69932"/>
                      </a:lnTo>
                      <a:cubicBezTo>
                        <a:pt x="75889" y="71495"/>
                        <a:pt x="75009" y="73616"/>
                        <a:pt x="75009" y="75828"/>
                      </a:cubicBezTo>
                      <a:cubicBezTo>
                        <a:pt x="75009" y="78040"/>
                        <a:pt x="75889" y="80161"/>
                        <a:pt x="77454" y="81725"/>
                      </a:cubicBezTo>
                      <a:close/>
                      <a:moveTo>
                        <a:pt x="183363" y="17488"/>
                      </a:moveTo>
                      <a:lnTo>
                        <a:pt x="158360" y="17488"/>
                      </a:lnTo>
                      <a:cubicBezTo>
                        <a:pt x="153757" y="17488"/>
                        <a:pt x="150025" y="21219"/>
                        <a:pt x="150025" y="25822"/>
                      </a:cubicBezTo>
                      <a:cubicBezTo>
                        <a:pt x="150025" y="30425"/>
                        <a:pt x="153757" y="34156"/>
                        <a:pt x="158360" y="34156"/>
                      </a:cubicBezTo>
                      <a:lnTo>
                        <a:pt x="183363" y="34156"/>
                      </a:lnTo>
                      <a:lnTo>
                        <a:pt x="183363" y="184175"/>
                      </a:lnTo>
                      <a:lnTo>
                        <a:pt x="33344" y="184175"/>
                      </a:lnTo>
                      <a:lnTo>
                        <a:pt x="33344" y="117500"/>
                      </a:lnTo>
                      <a:cubicBezTo>
                        <a:pt x="33344" y="112897"/>
                        <a:pt x="29613" y="109166"/>
                        <a:pt x="25010" y="109166"/>
                      </a:cubicBezTo>
                      <a:cubicBezTo>
                        <a:pt x="20407" y="109166"/>
                        <a:pt x="16675" y="112897"/>
                        <a:pt x="16675" y="117500"/>
                      </a:cubicBezTo>
                      <a:lnTo>
                        <a:pt x="16675" y="184175"/>
                      </a:lnTo>
                      <a:cubicBezTo>
                        <a:pt x="16675" y="193381"/>
                        <a:pt x="24138" y="200844"/>
                        <a:pt x="33344" y="200844"/>
                      </a:cubicBezTo>
                      <a:lnTo>
                        <a:pt x="183363" y="200844"/>
                      </a:lnTo>
                      <a:cubicBezTo>
                        <a:pt x="192569" y="200844"/>
                        <a:pt x="200032" y="193381"/>
                        <a:pt x="200032" y="184175"/>
                      </a:cubicBezTo>
                      <a:lnTo>
                        <a:pt x="200032" y="34156"/>
                      </a:lnTo>
                      <a:cubicBezTo>
                        <a:pt x="200032" y="24950"/>
                        <a:pt x="192569" y="17488"/>
                        <a:pt x="183363" y="17488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7797165" y="4363402"/>
                <a:ext cx="31802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Codegen：坐标系、signature、metadata 重构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239000" y="4743450"/>
                <a:ext cx="36195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7443788" y="4844653"/>
                <a:ext cx="200025" cy="216694"/>
                <a:chOff x="7443788" y="4844653"/>
                <a:chExt cx="200025" cy="216694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452122" y="4852988"/>
                  <a:ext cx="183356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56" h="100012">
                      <a:moveTo>
                        <a:pt x="183356" y="50006"/>
                      </a:moveTo>
                      <a:cubicBezTo>
                        <a:pt x="183356" y="77624"/>
                        <a:pt x="142309" y="100012"/>
                        <a:pt x="91678" y="100012"/>
                      </a:cubicBezTo>
                      <a:cubicBezTo>
                        <a:pt x="41047" y="100012"/>
                        <a:pt x="0" y="77624"/>
                        <a:pt x="0" y="50006"/>
                      </a:cubicBezTo>
                      <a:cubicBezTo>
                        <a:pt x="0" y="22388"/>
                        <a:pt x="41047" y="0"/>
                        <a:pt x="91678" y="0"/>
                      </a:cubicBezTo>
                      <a:cubicBezTo>
                        <a:pt x="142309" y="0"/>
                        <a:pt x="183356" y="22388"/>
                        <a:pt x="183356" y="50006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443788" y="4844653"/>
                  <a:ext cx="200025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16694">
                      <a:moveTo>
                        <a:pt x="100012" y="0"/>
                      </a:moveTo>
                      <a:cubicBezTo>
                        <a:pt x="43933" y="0"/>
                        <a:pt x="0" y="25628"/>
                        <a:pt x="0" y="58341"/>
                      </a:cubicBezTo>
                      <a:lnTo>
                        <a:pt x="0" y="158353"/>
                      </a:lnTo>
                      <a:cubicBezTo>
                        <a:pt x="0" y="191066"/>
                        <a:pt x="43933" y="216694"/>
                        <a:pt x="100012" y="216694"/>
                      </a:cubicBezTo>
                      <a:cubicBezTo>
                        <a:pt x="156092" y="216694"/>
                        <a:pt x="200025" y="191066"/>
                        <a:pt x="200025" y="158353"/>
                      </a:cubicBezTo>
                      <a:lnTo>
                        <a:pt x="200025" y="58341"/>
                      </a:lnTo>
                      <a:cubicBezTo>
                        <a:pt x="200025" y="25628"/>
                        <a:pt x="156092" y="0"/>
                        <a:pt x="100012" y="0"/>
                      </a:cubicBezTo>
                      <a:close/>
                      <a:moveTo>
                        <a:pt x="183356" y="108347"/>
                      </a:moveTo>
                      <a:cubicBezTo>
                        <a:pt x="183356" y="118369"/>
                        <a:pt x="175147" y="128589"/>
                        <a:pt x="160843" y="136392"/>
                      </a:cubicBezTo>
                      <a:cubicBezTo>
                        <a:pt x="144737" y="145174"/>
                        <a:pt x="123130" y="150019"/>
                        <a:pt x="100012" y="150019"/>
                      </a:cubicBezTo>
                      <a:cubicBezTo>
                        <a:pt x="76895" y="150019"/>
                        <a:pt x="55288" y="145174"/>
                        <a:pt x="39182" y="136392"/>
                      </a:cubicBezTo>
                      <a:cubicBezTo>
                        <a:pt x="24878" y="128589"/>
                        <a:pt x="16669" y="118369"/>
                        <a:pt x="16669" y="108347"/>
                      </a:cubicBezTo>
                      <a:lnTo>
                        <a:pt x="16669" y="91011"/>
                      </a:lnTo>
                      <a:cubicBezTo>
                        <a:pt x="34442" y="106638"/>
                        <a:pt x="64831" y="116681"/>
                        <a:pt x="100012" y="116681"/>
                      </a:cubicBezTo>
                      <a:cubicBezTo>
                        <a:pt x="135194" y="116681"/>
                        <a:pt x="165583" y="106597"/>
                        <a:pt x="183356" y="91011"/>
                      </a:cubicBezTo>
                      <a:close/>
                      <a:moveTo>
                        <a:pt x="39182" y="30295"/>
                      </a:moveTo>
                      <a:cubicBezTo>
                        <a:pt x="55288" y="21513"/>
                        <a:pt x="76895" y="16669"/>
                        <a:pt x="100012" y="16669"/>
                      </a:cubicBezTo>
                      <a:cubicBezTo>
                        <a:pt x="123130" y="16669"/>
                        <a:pt x="144737" y="21513"/>
                        <a:pt x="160843" y="30295"/>
                      </a:cubicBezTo>
                      <a:cubicBezTo>
                        <a:pt x="175147" y="38099"/>
                        <a:pt x="183356" y="48319"/>
                        <a:pt x="183356" y="58341"/>
                      </a:cubicBezTo>
                      <a:cubicBezTo>
                        <a:pt x="183356" y="68363"/>
                        <a:pt x="175147" y="78583"/>
                        <a:pt x="160843" y="86386"/>
                      </a:cubicBezTo>
                      <a:cubicBezTo>
                        <a:pt x="144737" y="95168"/>
                        <a:pt x="123130" y="100012"/>
                        <a:pt x="100012" y="100012"/>
                      </a:cubicBezTo>
                      <a:cubicBezTo>
                        <a:pt x="76895" y="100012"/>
                        <a:pt x="55288" y="95168"/>
                        <a:pt x="39182" y="86386"/>
                      </a:cubicBezTo>
                      <a:cubicBezTo>
                        <a:pt x="24878" y="78583"/>
                        <a:pt x="16669" y="68363"/>
                        <a:pt x="16669" y="58341"/>
                      </a:cubicBezTo>
                      <a:cubicBezTo>
                        <a:pt x="16669" y="48319"/>
                        <a:pt x="24878" y="38099"/>
                        <a:pt x="39182" y="30295"/>
                      </a:cubicBezTo>
                      <a:close/>
                      <a:moveTo>
                        <a:pt x="160843" y="186398"/>
                      </a:moveTo>
                      <a:cubicBezTo>
                        <a:pt x="144737" y="195181"/>
                        <a:pt x="123130" y="200025"/>
                        <a:pt x="100012" y="200025"/>
                      </a:cubicBezTo>
                      <a:cubicBezTo>
                        <a:pt x="76895" y="200025"/>
                        <a:pt x="55288" y="195181"/>
                        <a:pt x="39182" y="186398"/>
                      </a:cubicBezTo>
                      <a:cubicBezTo>
                        <a:pt x="24878" y="178595"/>
                        <a:pt x="16669" y="168375"/>
                        <a:pt x="16669" y="158353"/>
                      </a:cubicBezTo>
                      <a:lnTo>
                        <a:pt x="16669" y="141018"/>
                      </a:lnTo>
                      <a:cubicBezTo>
                        <a:pt x="34442" y="156645"/>
                        <a:pt x="64831" y="166688"/>
                        <a:pt x="100012" y="166688"/>
                      </a:cubicBezTo>
                      <a:cubicBezTo>
                        <a:pt x="135194" y="166688"/>
                        <a:pt x="165583" y="156603"/>
                        <a:pt x="183356" y="141018"/>
                      </a:cubicBezTo>
                      <a:lnTo>
                        <a:pt x="183356" y="158353"/>
                      </a:lnTo>
                      <a:cubicBezTo>
                        <a:pt x="183356" y="168375"/>
                        <a:pt x="175147" y="178595"/>
                        <a:pt x="160843" y="186398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7797165" y="4896802"/>
                <a:ext cx="27906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Autotune：NPU 私有 axis metadata 驱动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597218" y="6085999"/>
            <a:ext cx="10997565" cy="198120"/>
            <a:chOff x="597218" y="6085999"/>
            <a:chExt cx="10997565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597218" y="6085999"/>
              <a:ext cx="3041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技术汇报 | PyTorch Ascend Inductor | 2026-07-04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59504" y="6085999"/>
              <a:ext cx="1352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33400" y="457200"/>
            <a:ext cx="10629900" cy="642938"/>
            <a:chOff x="533400" y="457200"/>
            <a:chExt cx="10629900" cy="642938"/>
          </a:xfrm>
        </p:grpSpPr>
        <p:sp>
          <p:nvSpPr>
            <p:cNvPr id="5" name="Rectangle 5"/>
            <p:cNvSpPr/>
            <p:nvPr/>
          </p:nvSpPr>
          <p:spPr>
            <a:xfrm>
              <a:off x="533400" y="45720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464820"/>
              <a:ext cx="37574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今天只回答三个管理问题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9615" y="877252"/>
              <a:ext cx="31140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从差异事实到改造优先级，避免陷入逐函数细节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05950" y="476250"/>
              <a:ext cx="1657350" cy="552450"/>
            </a:xfrm>
            <a:prstGeom prst="roundRect">
              <a:avLst>
                <a:gd name="adj" fmla="val 17241"/>
              </a:avLst>
            </a:prstGeom>
            <a:solidFill>
              <a:srgbClr val="E7EFF8"/>
            </a:solidFill>
            <a:ln w="9525">
              <a:solidFill>
                <a:srgbClr val="D6DEE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12691" y="5995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建议汇报时长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59201" y="764858"/>
              <a:ext cx="11508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15-20 分钟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57275" y="1704975"/>
            <a:ext cx="9705975" cy="4145756"/>
            <a:chOff x="1057275" y="1704975"/>
            <a:chExt cx="9705975" cy="4145756"/>
          </a:xfrm>
        </p:grpSpPr>
        <p:sp>
          <p:nvSpPr>
            <p:cNvPr id="12" name="Line 12"/>
            <p:cNvSpPr/>
            <p:nvPr/>
          </p:nvSpPr>
          <p:spPr>
            <a:xfrm>
              <a:off x="1333500" y="180975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1F4E79"/>
                  </a:gs>
                  <a:gs pos="100000">
                    <a:srgbClr val="2A9D8F"/>
                  </a:gs>
                </a:gsLst>
                <a:lin ang="5400000" scaled="1"/>
              </a:gra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76325" y="1704975"/>
              <a:ext cx="9686925" cy="602456"/>
              <a:chOff x="1076325" y="1704975"/>
              <a:chExt cx="9686925" cy="602456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076325" y="1704975"/>
                <a:ext cx="514350" cy="5143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F4E79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46851" y="1899285"/>
                <a:ext cx="17329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64042" y="1737836"/>
                <a:ext cx="270064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当前到底改到了哪一层？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71662" y="2078831"/>
                <a:ext cx="575179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先明确 Ascend Inductor 已经从 lowering 开始接管协议，不是只替换 NPU codegen。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9525000" y="1752600"/>
                <a:ext cx="123825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858708" y="18664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结论先行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076325" y="2886075"/>
              <a:ext cx="9686925" cy="602456"/>
              <a:chOff x="1076325" y="2886075"/>
              <a:chExt cx="9686925" cy="602456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076325" y="2886075"/>
                <a:ext cx="514350" cy="5143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F4E79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25848" y="30803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864042" y="2918936"/>
                <a:ext cx="4874419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哪些差异是合理适配，哪些会放大升级成本？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871662" y="3259931"/>
                <a:ext cx="46791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用四阶段拆解差异性质，区分硬件必要性、工程妥协和长期维护风险。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525000" y="2933700"/>
                <a:ext cx="123825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FFF6E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858708" y="30475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风险分层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76325" y="4067175"/>
              <a:ext cx="9686925" cy="602456"/>
              <a:chOff x="1076325" y="4067175"/>
              <a:chExt cx="9686925" cy="60245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076325" y="4067175"/>
                <a:ext cx="514350" cy="5143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2A9D8F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25848" y="42614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864042" y="4100036"/>
                <a:ext cx="270064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下一步优先改造哪些点？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871662" y="4441031"/>
                <a:ext cx="59693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不追求一次性去 patch，而是先收缩 whole-method fork 和高 blast-radius 全局替换。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525000" y="4114800"/>
                <a:ext cx="123825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7F5F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858708" y="42286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行动路线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057275" y="5229225"/>
              <a:ext cx="9705975" cy="621506"/>
              <a:chOff x="1057275" y="5229225"/>
              <a:chExt cx="9705975" cy="621506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1057275" y="5229225"/>
                <a:ext cx="552450" cy="55245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25848" y="54425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864042" y="5281136"/>
                <a:ext cx="270064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需要领导确认的工程目标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871662" y="5622131"/>
                <a:ext cx="541424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将“升级友好”设为下一阶段目标，治理 codegen/runtime 私有 ABI 和差异审计。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9525000" y="5295900"/>
                <a:ext cx="123825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858708" y="54097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决策请求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523875" y="6396038"/>
            <a:ext cx="11144250" cy="152400"/>
            <a:chOff x="523875" y="6396038"/>
            <a:chExt cx="11144250" cy="152400"/>
          </a:xfrm>
        </p:grpSpPr>
        <p:sp>
          <p:nvSpPr>
            <p:cNvPr id="42" name="TextBox 42"/>
            <p:cNvSpPr txBox="1"/>
            <p:nvPr/>
          </p:nvSpPr>
          <p:spPr>
            <a:xfrm>
              <a:off x="523875" y="6396038"/>
              <a:ext cx="334946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pytorch_ascend v2.7.1 vs PyTorch v2.7.1 Inductor deep diff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39061" y="639603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9120" y="407670"/>
            <a:ext cx="8277187" cy="663892"/>
            <a:chOff x="579120" y="407670"/>
            <a:chExt cx="8277187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79120" y="407670"/>
              <a:ext cx="827718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结论：不是末端 codegen 适配，而是跨阶段私有化接管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858202"/>
              <a:ext cx="4136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这决定了升级问题不能只靠修单点 kernel，而要治理边界和协议。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1050" y="1447800"/>
            <a:ext cx="4876800" cy="3048000"/>
            <a:chOff x="781050" y="1447800"/>
            <a:chExt cx="4876800" cy="3048000"/>
          </a:xfrm>
        </p:grpSpPr>
        <p:sp>
          <p:nvSpPr>
            <p:cNvPr id="8" name="Rectangle 8"/>
            <p:cNvSpPr/>
            <p:nvPr/>
          </p:nvSpPr>
          <p:spPr>
            <a:xfrm>
              <a:off x="781050" y="1447800"/>
              <a:ext cx="4876800" cy="3048000"/>
            </a:xfrm>
            <a:prstGeom prst="roundRect">
              <a:avLst>
                <a:gd name="adj" fmla="val 5000"/>
              </a:avLst>
            </a:prstGeom>
            <a:solidFill>
              <a:srgbClr val="153A5B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186665" y="1854994"/>
              <a:ext cx="388921" cy="385762"/>
              <a:chOff x="1186665" y="1854994"/>
              <a:chExt cx="388921" cy="38576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4317" y="2112169"/>
                <a:ext cx="112514" cy="112514"/>
              </a:xfrm>
              <a:custGeom>
                <a:avLst/>
                <a:gdLst/>
                <a:ahLst/>
                <a:cxnLst/>
                <a:rect l="l" t="t" r="r" b="b"/>
                <a:pathLst>
                  <a:path w="112514" h="112514">
                    <a:moveTo>
                      <a:pt x="112514" y="56257"/>
                    </a:moveTo>
                    <a:cubicBezTo>
                      <a:pt x="112514" y="87327"/>
                      <a:pt x="87327" y="112514"/>
                      <a:pt x="56257" y="112514"/>
                    </a:cubicBezTo>
                    <a:cubicBezTo>
                      <a:pt x="25187" y="112514"/>
                      <a:pt x="0" y="87327"/>
                      <a:pt x="0" y="56257"/>
                    </a:cubicBezTo>
                    <a:cubicBezTo>
                      <a:pt x="0" y="25187"/>
                      <a:pt x="25187" y="0"/>
                      <a:pt x="56257" y="0"/>
                    </a:cubicBezTo>
                    <a:cubicBezTo>
                      <a:pt x="87327" y="0"/>
                      <a:pt x="112514" y="25187"/>
                      <a:pt x="112514" y="56257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86665" y="1854994"/>
                <a:ext cx="388921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388921" h="385762">
                    <a:moveTo>
                      <a:pt x="73910" y="241102"/>
                    </a:moveTo>
                    <a:cubicBezTo>
                      <a:pt x="33963" y="241102"/>
                      <a:pt x="1579" y="273485"/>
                      <a:pt x="1579" y="313432"/>
                    </a:cubicBezTo>
                    <a:cubicBezTo>
                      <a:pt x="1579" y="353379"/>
                      <a:pt x="33963" y="385762"/>
                      <a:pt x="73910" y="385762"/>
                    </a:cubicBezTo>
                    <a:cubicBezTo>
                      <a:pt x="113857" y="385762"/>
                      <a:pt x="146240" y="353379"/>
                      <a:pt x="146240" y="313432"/>
                    </a:cubicBezTo>
                    <a:cubicBezTo>
                      <a:pt x="146240" y="273485"/>
                      <a:pt x="113857" y="241102"/>
                      <a:pt x="73910" y="241102"/>
                    </a:cubicBezTo>
                    <a:close/>
                    <a:moveTo>
                      <a:pt x="73910" y="353616"/>
                    </a:moveTo>
                    <a:cubicBezTo>
                      <a:pt x="51717" y="353616"/>
                      <a:pt x="33726" y="335625"/>
                      <a:pt x="33726" y="313432"/>
                    </a:cubicBezTo>
                    <a:cubicBezTo>
                      <a:pt x="33726" y="291239"/>
                      <a:pt x="51717" y="273248"/>
                      <a:pt x="73910" y="273248"/>
                    </a:cubicBezTo>
                    <a:cubicBezTo>
                      <a:pt x="96102" y="273248"/>
                      <a:pt x="114093" y="291239"/>
                      <a:pt x="114093" y="313432"/>
                    </a:cubicBezTo>
                    <a:cubicBezTo>
                      <a:pt x="114093" y="335625"/>
                      <a:pt x="96102" y="353616"/>
                      <a:pt x="73910" y="353616"/>
                    </a:cubicBezTo>
                    <a:close/>
                    <a:moveTo>
                      <a:pt x="6281" y="149362"/>
                    </a:moveTo>
                    <a:lnTo>
                      <a:pt x="35112" y="120551"/>
                    </a:lnTo>
                    <a:lnTo>
                      <a:pt x="6281" y="91739"/>
                    </a:lnTo>
                    <a:cubicBezTo>
                      <a:pt x="0" y="85459"/>
                      <a:pt x="0" y="75276"/>
                      <a:pt x="6281" y="68995"/>
                    </a:cubicBezTo>
                    <a:cubicBezTo>
                      <a:pt x="12561" y="62715"/>
                      <a:pt x="22744" y="62715"/>
                      <a:pt x="29024" y="68995"/>
                    </a:cubicBezTo>
                    <a:lnTo>
                      <a:pt x="57836" y="97827"/>
                    </a:lnTo>
                    <a:lnTo>
                      <a:pt x="86648" y="68995"/>
                    </a:lnTo>
                    <a:cubicBezTo>
                      <a:pt x="92928" y="62715"/>
                      <a:pt x="103111" y="62715"/>
                      <a:pt x="109392" y="68995"/>
                    </a:cubicBezTo>
                    <a:cubicBezTo>
                      <a:pt x="115672" y="75276"/>
                      <a:pt x="115672" y="85459"/>
                      <a:pt x="109392" y="91739"/>
                    </a:cubicBezTo>
                    <a:lnTo>
                      <a:pt x="80560" y="120551"/>
                    </a:lnTo>
                    <a:lnTo>
                      <a:pt x="109392" y="149362"/>
                    </a:lnTo>
                    <a:cubicBezTo>
                      <a:pt x="115672" y="155643"/>
                      <a:pt x="115672" y="165826"/>
                      <a:pt x="109392" y="172106"/>
                    </a:cubicBezTo>
                    <a:cubicBezTo>
                      <a:pt x="103111" y="178387"/>
                      <a:pt x="92928" y="178387"/>
                      <a:pt x="86648" y="172106"/>
                    </a:cubicBezTo>
                    <a:lnTo>
                      <a:pt x="57836" y="143275"/>
                    </a:lnTo>
                    <a:lnTo>
                      <a:pt x="29024" y="172106"/>
                    </a:lnTo>
                    <a:cubicBezTo>
                      <a:pt x="22744" y="178387"/>
                      <a:pt x="12561" y="178387"/>
                      <a:pt x="6281" y="172106"/>
                    </a:cubicBezTo>
                    <a:cubicBezTo>
                      <a:pt x="0" y="165826"/>
                      <a:pt x="0" y="155643"/>
                      <a:pt x="6281" y="149362"/>
                    </a:cubicBezTo>
                    <a:close/>
                    <a:moveTo>
                      <a:pt x="382640" y="342244"/>
                    </a:moveTo>
                    <a:cubicBezTo>
                      <a:pt x="388921" y="348524"/>
                      <a:pt x="388921" y="358707"/>
                      <a:pt x="382640" y="364988"/>
                    </a:cubicBezTo>
                    <a:cubicBezTo>
                      <a:pt x="376360" y="371268"/>
                      <a:pt x="366177" y="371268"/>
                      <a:pt x="359896" y="364988"/>
                    </a:cubicBezTo>
                    <a:lnTo>
                      <a:pt x="331085" y="336156"/>
                    </a:lnTo>
                    <a:lnTo>
                      <a:pt x="302273" y="364988"/>
                    </a:lnTo>
                    <a:cubicBezTo>
                      <a:pt x="295992" y="371268"/>
                      <a:pt x="285810" y="371268"/>
                      <a:pt x="279529" y="364988"/>
                    </a:cubicBezTo>
                    <a:cubicBezTo>
                      <a:pt x="273248" y="358707"/>
                      <a:pt x="273248" y="348524"/>
                      <a:pt x="279529" y="342244"/>
                    </a:cubicBezTo>
                    <a:lnTo>
                      <a:pt x="308361" y="313432"/>
                    </a:lnTo>
                    <a:lnTo>
                      <a:pt x="279529" y="284620"/>
                    </a:lnTo>
                    <a:cubicBezTo>
                      <a:pt x="273248" y="278340"/>
                      <a:pt x="273248" y="268157"/>
                      <a:pt x="279529" y="261876"/>
                    </a:cubicBezTo>
                    <a:cubicBezTo>
                      <a:pt x="285810" y="255596"/>
                      <a:pt x="295992" y="255596"/>
                      <a:pt x="302273" y="261876"/>
                    </a:cubicBezTo>
                    <a:lnTo>
                      <a:pt x="331085" y="290708"/>
                    </a:lnTo>
                    <a:lnTo>
                      <a:pt x="359896" y="261876"/>
                    </a:lnTo>
                    <a:cubicBezTo>
                      <a:pt x="366177" y="255596"/>
                      <a:pt x="376360" y="255596"/>
                      <a:pt x="382640" y="261876"/>
                    </a:cubicBezTo>
                    <a:cubicBezTo>
                      <a:pt x="388921" y="268157"/>
                      <a:pt x="388921" y="278340"/>
                      <a:pt x="382640" y="284620"/>
                    </a:cubicBezTo>
                    <a:lnTo>
                      <a:pt x="353808" y="313432"/>
                    </a:lnTo>
                    <a:close/>
                    <a:moveTo>
                      <a:pt x="291845" y="162402"/>
                    </a:moveTo>
                    <a:cubicBezTo>
                      <a:pt x="279429" y="207267"/>
                      <a:pt x="240973" y="246044"/>
                      <a:pt x="198358" y="256693"/>
                    </a:cubicBezTo>
                    <a:cubicBezTo>
                      <a:pt x="197044" y="257019"/>
                      <a:pt x="195694" y="257181"/>
                      <a:pt x="194340" y="257175"/>
                    </a:cubicBezTo>
                    <a:cubicBezTo>
                      <a:pt x="186230" y="257160"/>
                      <a:pt x="179401" y="251105"/>
                      <a:pt x="178415" y="243055"/>
                    </a:cubicBezTo>
                    <a:cubicBezTo>
                      <a:pt x="177429" y="235005"/>
                      <a:pt x="182595" y="227482"/>
                      <a:pt x="190462" y="225510"/>
                    </a:cubicBezTo>
                    <a:cubicBezTo>
                      <a:pt x="221866" y="217654"/>
                      <a:pt x="251441" y="187517"/>
                      <a:pt x="260783" y="153823"/>
                    </a:cubicBezTo>
                    <a:cubicBezTo>
                      <a:pt x="267193" y="130717"/>
                      <a:pt x="267253" y="95557"/>
                      <a:pt x="231228" y="59592"/>
                    </a:cubicBezTo>
                    <a:lnTo>
                      <a:pt x="226607" y="54871"/>
                    </a:lnTo>
                    <a:lnTo>
                      <a:pt x="226607" y="96441"/>
                    </a:lnTo>
                    <a:cubicBezTo>
                      <a:pt x="226607" y="105318"/>
                      <a:pt x="219411" y="112514"/>
                      <a:pt x="210534" y="112514"/>
                    </a:cubicBezTo>
                    <a:cubicBezTo>
                      <a:pt x="201657" y="112514"/>
                      <a:pt x="194460" y="105318"/>
                      <a:pt x="194460" y="96441"/>
                    </a:cubicBezTo>
                    <a:lnTo>
                      <a:pt x="194460" y="16073"/>
                    </a:lnTo>
                    <a:cubicBezTo>
                      <a:pt x="194460" y="7196"/>
                      <a:pt x="201657" y="0"/>
                      <a:pt x="210534" y="0"/>
                    </a:cubicBezTo>
                    <a:lnTo>
                      <a:pt x="290901" y="0"/>
                    </a:lnTo>
                    <a:cubicBezTo>
                      <a:pt x="299778" y="0"/>
                      <a:pt x="306974" y="7196"/>
                      <a:pt x="306974" y="16073"/>
                    </a:cubicBezTo>
                    <a:cubicBezTo>
                      <a:pt x="306974" y="24951"/>
                      <a:pt x="299778" y="32147"/>
                      <a:pt x="290901" y="32147"/>
                    </a:cubicBezTo>
                    <a:lnTo>
                      <a:pt x="249331" y="32147"/>
                    </a:lnTo>
                    <a:lnTo>
                      <a:pt x="254053" y="36848"/>
                    </a:lnTo>
                    <a:cubicBezTo>
                      <a:pt x="290700" y="73516"/>
                      <a:pt x="304121" y="118100"/>
                      <a:pt x="291845" y="1624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85850" y="24193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5850" y="297180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升级风险来自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5850" y="352425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跨层协议漂移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06805" y="3950018"/>
              <a:ext cx="3400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EFF8"/>
                  </a:solidFill>
                  <a:latin typeface="Segoe UI"/>
                  <a:ea typeface="Microsoft YaHei"/>
                  <a:cs typeface="Segoe UI"/>
                </a:rPr>
                <a:t>而不是单个 NPU kernel emitter 的差异。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9810" y="1565910"/>
            <a:ext cx="5407152" cy="3977640"/>
            <a:chOff x="6099810" y="1565910"/>
            <a:chExt cx="5407152" cy="3977640"/>
          </a:xfrm>
        </p:grpSpPr>
        <p:sp>
          <p:nvSpPr>
            <p:cNvPr id="17" name="TextBox 17"/>
            <p:cNvSpPr txBox="1"/>
            <p:nvPr/>
          </p:nvSpPr>
          <p:spPr>
            <a:xfrm>
              <a:off x="6404610" y="1565910"/>
              <a:ext cx="1836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社区 Inductor 基线假设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19850" y="1866900"/>
              <a:ext cx="4095750" cy="495300"/>
            </a:xfrm>
            <a:prstGeom prst="roundRect">
              <a:avLst>
                <a:gd name="adj" fmla="val 15385"/>
              </a:avLst>
            </a:prstGeom>
            <a:solidFill>
              <a:srgbClr val="E7EFF8"/>
            </a:solidFill>
            <a:ln w="9525">
              <a:solidFill>
                <a:srgbClr val="1F4E7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74260" y="2043589"/>
              <a:ext cx="29869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统一 IR + 通用调度 + 标准 block 参数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467725" y="2457450"/>
              <a:ext cx="1" cy="457200"/>
            </a:xfrm>
            <a:prstGeom prst="line">
              <a:avLst/>
            </a:prstGeom>
            <a:noFill/>
            <a:ln w="23812">
              <a:solidFill>
                <a:srgbClr val="2A9D8F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45868" y="2628424"/>
              <a:ext cx="19701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9D8F"/>
                  </a:solidFill>
                  <a:latin typeface="Segoe UI"/>
                  <a:ea typeface="Microsoft YaHei"/>
                  <a:cs typeface="Segoe UI"/>
                </a:rPr>
                <a:t>torch_npu import-time patch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15050" y="3028950"/>
              <a:ext cx="4686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8412" y="3136106"/>
              <a:ext cx="713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Lowering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8565" y="3144202"/>
              <a:ext cx="30090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提前 fallback / template IR，改变输出 IR 形态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15050" y="3752850"/>
              <a:ext cx="4686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8412" y="38600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Scheduling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8565" y="3868102"/>
              <a:ext cx="26449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保轴 group_fn，融合语义不再等价于上游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15050" y="4476750"/>
              <a:ext cx="4686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8412" y="4583906"/>
              <a:ext cx="627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Runtime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8565" y="4592002"/>
              <a:ext cx="30510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axis metadata 驱动候选、编译准入和 dispatch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99810" y="5299710"/>
              <a:ext cx="54071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管理含义：后续升级必须收口私有协议边界，而不是只追上游函数差异。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0075" y="6396038"/>
            <a:ext cx="10991850" cy="152400"/>
            <a:chOff x="600075" y="6396038"/>
            <a:chExt cx="10991850" cy="152400"/>
          </a:xfrm>
        </p:grpSpPr>
        <p:sp>
          <p:nvSpPr>
            <p:cNvPr id="33" name="TextBox 33"/>
            <p:cNvSpPr txBox="1"/>
            <p:nvPr/>
          </p:nvSpPr>
          <p:spPr>
            <a:xfrm>
              <a:off x="600075" y="6396038"/>
              <a:ext cx="266438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Key message: cross-stage private protocol ownership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62861" y="639603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3872" y="339566"/>
            <a:ext cx="8261890" cy="655796"/>
            <a:chOff x="503872" y="339566"/>
            <a:chExt cx="8261890" cy="655796"/>
          </a:xfrm>
        </p:grpSpPr>
        <p:sp>
          <p:nvSpPr>
            <p:cNvPr id="5" name="TextBox 5"/>
            <p:cNvSpPr txBox="1"/>
            <p:nvPr/>
          </p:nvSpPr>
          <p:spPr>
            <a:xfrm>
              <a:off x="503872" y="339566"/>
              <a:ext cx="6358267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当前 Ascend Inductor 接入方式可分为六类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82456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不是单一 device backend 注册，而是 import/load、调度、codegen、runtime 和 metadata contract 的组合接入与扩展性取舍。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219200"/>
            <a:ext cx="11125200" cy="552450"/>
            <a:chOff x="533400" y="1219200"/>
            <a:chExt cx="11125200" cy="552450"/>
          </a:xfrm>
        </p:grpSpPr>
        <p:sp>
          <p:nvSpPr>
            <p:cNvPr id="8" name="Rectangle 8"/>
            <p:cNvSpPr/>
            <p:nvPr/>
          </p:nvSpPr>
          <p:spPr>
            <a:xfrm>
              <a:off x="533400" y="1219200"/>
              <a:ext cx="11125200" cy="552450"/>
            </a:xfrm>
            <a:prstGeom prst="roundRect">
              <a:avLst>
                <a:gd name="adj" fmla="val 13793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5812" y="13263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评估口径：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66862" y="1326356"/>
              <a:ext cx="75670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7EFF8"/>
                  </a:solidFill>
                  <a:latin typeface="Segoe UI"/>
                  <a:ea typeface="Microsoft YaHei"/>
                  <a:cs typeface="Segoe UI"/>
                </a:rPr>
                <a:t>标准注册点可扩展性最高；NPU-owned override 次之；import-time monkey patch 和私有 dict ABI 风险更高。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1535906"/>
              <a:ext cx="75670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7EFF8"/>
                  </a:solidFill>
                  <a:latin typeface="Segoe UI"/>
                  <a:ea typeface="Microsoft YaHei"/>
                  <a:cs typeface="Segoe UI"/>
                </a:rPr>
                <a:t>升级友好的方向，是把高 blast radius 接入收敛为类内 override、分层 install 和 typed metadata contract。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33400" y="2000250"/>
            <a:ext cx="11125200" cy="3867150"/>
            <a:chOff x="533400" y="2000250"/>
            <a:chExt cx="11125200" cy="3867150"/>
          </a:xfrm>
        </p:grpSpPr>
        <p:grpSp>
          <p:nvGrpSpPr>
            <p:cNvPr id="26" name="Group 26"/>
            <p:cNvGrpSpPr/>
            <p:nvPr/>
          </p:nvGrpSpPr>
          <p:grpSpPr>
            <a:xfrm>
              <a:off x="533400" y="2000250"/>
              <a:ext cx="3429000" cy="1695450"/>
              <a:chOff x="533400" y="2000250"/>
              <a:chExt cx="3429000" cy="16954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000250"/>
                <a:ext cx="34290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33400" y="2000250"/>
                <a:ext cx="3429000" cy="762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704850" y="2209800"/>
                <a:ext cx="381000" cy="381000"/>
              </a:xfrm>
              <a:prstGeom prst="ellipse">
                <a:avLst/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19532" y="234410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1232297" y="2282428"/>
                <a:ext cx="278606" cy="235744"/>
                <a:chOff x="1232297" y="2282428"/>
                <a:chExt cx="278606" cy="235744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243012" y="2293144"/>
                  <a:ext cx="257175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14312">
                      <a:moveTo>
                        <a:pt x="257175" y="10716"/>
                      </a:moveTo>
                      <a:lnTo>
                        <a:pt x="257175" y="203597"/>
                      </a:lnTo>
                      <a:cubicBezTo>
                        <a:pt x="257175" y="209515"/>
                        <a:pt x="252377" y="214312"/>
                        <a:pt x="246459" y="214312"/>
                      </a:cubicBezTo>
                      <a:lnTo>
                        <a:pt x="10716" y="214312"/>
                      </a:lnTo>
                      <a:cubicBezTo>
                        <a:pt x="4798" y="214312"/>
                        <a:pt x="0" y="209515"/>
                        <a:pt x="0" y="203597"/>
                      </a:cubicBezTo>
                      <a:lnTo>
                        <a:pt x="0" y="10716"/>
                      </a:lnTo>
                      <a:cubicBezTo>
                        <a:pt x="0" y="4798"/>
                        <a:pt x="4798" y="0"/>
                        <a:pt x="10716" y="0"/>
                      </a:cubicBezTo>
                      <a:lnTo>
                        <a:pt x="246459" y="0"/>
                      </a:lnTo>
                      <a:cubicBezTo>
                        <a:pt x="252377" y="0"/>
                        <a:pt x="257175" y="4798"/>
                        <a:pt x="257175" y="10716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232297" y="2282428"/>
                  <a:ext cx="278606" cy="235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606" h="235744">
                      <a:moveTo>
                        <a:pt x="139303" y="117872"/>
                      </a:moveTo>
                      <a:cubicBezTo>
                        <a:pt x="139305" y="121128"/>
                        <a:pt x="137827" y="124208"/>
                        <a:pt x="135285" y="126243"/>
                      </a:cubicBezTo>
                      <a:lnTo>
                        <a:pt x="81707" y="169106"/>
                      </a:lnTo>
                      <a:cubicBezTo>
                        <a:pt x="77083" y="172805"/>
                        <a:pt x="70337" y="172055"/>
                        <a:pt x="66638" y="167432"/>
                      </a:cubicBezTo>
                      <a:cubicBezTo>
                        <a:pt x="62939" y="162808"/>
                        <a:pt x="63689" y="156062"/>
                        <a:pt x="68312" y="152363"/>
                      </a:cubicBezTo>
                      <a:lnTo>
                        <a:pt x="111429" y="117872"/>
                      </a:lnTo>
                      <a:lnTo>
                        <a:pt x="68312" y="83381"/>
                      </a:lnTo>
                      <a:cubicBezTo>
                        <a:pt x="63689" y="79682"/>
                        <a:pt x="62939" y="72936"/>
                        <a:pt x="66638" y="68312"/>
                      </a:cubicBezTo>
                      <a:cubicBezTo>
                        <a:pt x="70337" y="63689"/>
                        <a:pt x="77083" y="62939"/>
                        <a:pt x="81707" y="66638"/>
                      </a:cubicBezTo>
                      <a:lnTo>
                        <a:pt x="135285" y="109500"/>
                      </a:lnTo>
                      <a:cubicBezTo>
                        <a:pt x="137827" y="111535"/>
                        <a:pt x="139305" y="114616"/>
                        <a:pt x="139303" y="117872"/>
                      </a:cubicBezTo>
                      <a:close/>
                      <a:moveTo>
                        <a:pt x="203597" y="150019"/>
                      </a:moveTo>
                      <a:lnTo>
                        <a:pt x="150019" y="150019"/>
                      </a:lnTo>
                      <a:cubicBezTo>
                        <a:pt x="144101" y="150019"/>
                        <a:pt x="139303" y="154816"/>
                        <a:pt x="139303" y="160734"/>
                      </a:cubicBezTo>
                      <a:cubicBezTo>
                        <a:pt x="139303" y="166652"/>
                        <a:pt x="144101" y="171450"/>
                        <a:pt x="150019" y="171450"/>
                      </a:cubicBezTo>
                      <a:lnTo>
                        <a:pt x="203597" y="171450"/>
                      </a:lnTo>
                      <a:cubicBezTo>
                        <a:pt x="209515" y="171450"/>
                        <a:pt x="214312" y="166652"/>
                        <a:pt x="214312" y="160734"/>
                      </a:cubicBezTo>
                      <a:cubicBezTo>
                        <a:pt x="214312" y="154816"/>
                        <a:pt x="209515" y="150019"/>
                        <a:pt x="203597" y="150019"/>
                      </a:cubicBezTo>
                      <a:close/>
                      <a:moveTo>
                        <a:pt x="278606" y="21431"/>
                      </a:moveTo>
                      <a:lnTo>
                        <a:pt x="278606" y="214312"/>
                      </a:lnTo>
                      <a:cubicBezTo>
                        <a:pt x="278606" y="226149"/>
                        <a:pt x="269011" y="235744"/>
                        <a:pt x="257175" y="235744"/>
                      </a:cubicBezTo>
                      <a:lnTo>
                        <a:pt x="21431" y="235744"/>
                      </a:lnTo>
                      <a:cubicBezTo>
                        <a:pt x="9595" y="235744"/>
                        <a:pt x="0" y="226149"/>
                        <a:pt x="0" y="214312"/>
                      </a:cubicBezTo>
                      <a:lnTo>
                        <a:pt x="0" y="21431"/>
                      </a:lnTo>
                      <a:cubicBezTo>
                        <a:pt x="0" y="9595"/>
                        <a:pt x="9595" y="0"/>
                        <a:pt x="21431" y="0"/>
                      </a:cubicBezTo>
                      <a:lnTo>
                        <a:pt x="257175" y="0"/>
                      </a:lnTo>
                      <a:cubicBezTo>
                        <a:pt x="269011" y="0"/>
                        <a:pt x="278606" y="9595"/>
                        <a:pt x="278606" y="21431"/>
                      </a:cubicBezTo>
                      <a:close/>
                      <a:moveTo>
                        <a:pt x="257175" y="214312"/>
                      </a:moveTo>
                      <a:lnTo>
                        <a:pt x="257175" y="21431"/>
                      </a:lnTo>
                      <a:lnTo>
                        <a:pt x="21431" y="21431"/>
                      </a:lnTo>
                      <a:lnTo>
                        <a:pt x="21431" y="214312"/>
                      </a:lnTo>
                      <a:lnTo>
                        <a:pt x="257175" y="214312"/>
                      </a:ln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659255" y="22355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入口触发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7718" y="2752249"/>
                <a:ext cx="15329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_load_triton_backend()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7718" y="2980849"/>
                <a:ext cx="18514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import/load 阶段安装接入点，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7718" y="31903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后续阶段都运行在改写后环境。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00100" y="3448050"/>
                <a:ext cx="28956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E7EFF8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03922" y="3492341"/>
                <a:ext cx="206556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扩展性 中 | 拆 install_*，降低入口耦合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381500" y="2000250"/>
              <a:ext cx="3429000" cy="1695450"/>
              <a:chOff x="4381500" y="2000250"/>
              <a:chExt cx="3429000" cy="16954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81500" y="2000250"/>
                <a:ext cx="34290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381500" y="2000250"/>
                <a:ext cx="3429000" cy="76200"/>
              </a:xfrm>
              <a:prstGeom prst="rect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552950" y="2209800"/>
                <a:ext cx="381000" cy="381000"/>
              </a:xfrm>
              <a:prstGeom prst="ellipse">
                <a:avLst/>
              </a:prstGeom>
              <a:solidFill>
                <a:srgbClr val="E7F5F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49255" y="23441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5058683" y="2281375"/>
                <a:ext cx="321759" cy="239127"/>
                <a:chOff x="5058683" y="2281375"/>
                <a:chExt cx="321759" cy="239127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5069681" y="2421731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85725" y="42862"/>
                      </a:moveTo>
                      <a:cubicBezTo>
                        <a:pt x="85725" y="66535"/>
                        <a:pt x="66535" y="85725"/>
                        <a:pt x="42862" y="85725"/>
                      </a:cubicBezTo>
                      <a:cubicBezTo>
                        <a:pt x="19190" y="85725"/>
                        <a:pt x="0" y="66535"/>
                        <a:pt x="0" y="42862"/>
                      </a:cubicBezTo>
                      <a:cubicBezTo>
                        <a:pt x="0" y="19190"/>
                        <a:pt x="19190" y="0"/>
                        <a:pt x="42862" y="0"/>
                      </a:cubicBezTo>
                      <a:cubicBezTo>
                        <a:pt x="66535" y="0"/>
                        <a:pt x="85725" y="19190"/>
                        <a:pt x="85725" y="42862"/>
                      </a:cubicBez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058683" y="2281375"/>
                  <a:ext cx="321759" cy="23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759" h="239127">
                      <a:moveTo>
                        <a:pt x="318617" y="47050"/>
                      </a:moveTo>
                      <a:lnTo>
                        <a:pt x="275754" y="4187"/>
                      </a:lnTo>
                      <a:cubicBezTo>
                        <a:pt x="271567" y="0"/>
                        <a:pt x="264779" y="0"/>
                        <a:pt x="260592" y="4187"/>
                      </a:cubicBezTo>
                      <a:cubicBezTo>
                        <a:pt x="256404" y="8374"/>
                        <a:pt x="256404" y="15163"/>
                        <a:pt x="260592" y="19350"/>
                      </a:cubicBezTo>
                      <a:lnTo>
                        <a:pt x="285170" y="43915"/>
                      </a:lnTo>
                      <a:lnTo>
                        <a:pt x="246742" y="43915"/>
                      </a:lnTo>
                      <a:cubicBezTo>
                        <a:pt x="233614" y="44391"/>
                        <a:pt x="220709" y="47454"/>
                        <a:pt x="208768" y="52930"/>
                      </a:cubicBezTo>
                      <a:cubicBezTo>
                        <a:pt x="190525" y="61355"/>
                        <a:pt x="167473" y="79330"/>
                        <a:pt x="161164" y="117223"/>
                      </a:cubicBezTo>
                      <a:cubicBezTo>
                        <a:pt x="154038" y="159992"/>
                        <a:pt x="122186" y="169757"/>
                        <a:pt x="106246" y="171954"/>
                      </a:cubicBezTo>
                      <a:cubicBezTo>
                        <a:pt x="100424" y="145080"/>
                        <a:pt x="75204" y="126976"/>
                        <a:pt x="47880" y="130057"/>
                      </a:cubicBezTo>
                      <a:cubicBezTo>
                        <a:pt x="20556" y="133138"/>
                        <a:pt x="0" y="156403"/>
                        <a:pt x="308" y="183898"/>
                      </a:cubicBezTo>
                      <a:cubicBezTo>
                        <a:pt x="616" y="211393"/>
                        <a:pt x="21689" y="234192"/>
                        <a:pt x="49075" y="236660"/>
                      </a:cubicBezTo>
                      <a:cubicBezTo>
                        <a:pt x="76461" y="239127"/>
                        <a:pt x="101269" y="220463"/>
                        <a:pt x="106487" y="193465"/>
                      </a:cubicBezTo>
                      <a:cubicBezTo>
                        <a:pt x="116121" y="192367"/>
                        <a:pt x="125533" y="189815"/>
                        <a:pt x="134402" y="185897"/>
                      </a:cubicBezTo>
                      <a:cubicBezTo>
                        <a:pt x="152645" y="177861"/>
                        <a:pt x="175751" y="159912"/>
                        <a:pt x="182300" y="120679"/>
                      </a:cubicBezTo>
                      <a:cubicBezTo>
                        <a:pt x="191355" y="66378"/>
                        <a:pt x="244518" y="65346"/>
                        <a:pt x="246742" y="65346"/>
                      </a:cubicBezTo>
                      <a:lnTo>
                        <a:pt x="285170" y="65346"/>
                      </a:lnTo>
                      <a:lnTo>
                        <a:pt x="260592" y="89912"/>
                      </a:lnTo>
                      <a:cubicBezTo>
                        <a:pt x="256404" y="94099"/>
                        <a:pt x="256404" y="100888"/>
                        <a:pt x="260592" y="105075"/>
                      </a:cubicBezTo>
                      <a:cubicBezTo>
                        <a:pt x="264779" y="109262"/>
                        <a:pt x="271567" y="109262"/>
                        <a:pt x="275754" y="105075"/>
                      </a:cubicBezTo>
                      <a:lnTo>
                        <a:pt x="318617" y="62212"/>
                      </a:lnTo>
                      <a:cubicBezTo>
                        <a:pt x="320629" y="60202"/>
                        <a:pt x="321759" y="57475"/>
                        <a:pt x="321759" y="54631"/>
                      </a:cubicBezTo>
                      <a:cubicBezTo>
                        <a:pt x="321759" y="51787"/>
                        <a:pt x="320629" y="49059"/>
                        <a:pt x="318617" y="47050"/>
                      </a:cubicBezTo>
                      <a:close/>
                      <a:moveTo>
                        <a:pt x="53860" y="215365"/>
                      </a:moveTo>
                      <a:cubicBezTo>
                        <a:pt x="36106" y="215365"/>
                        <a:pt x="21713" y="200973"/>
                        <a:pt x="21713" y="183218"/>
                      </a:cubicBezTo>
                      <a:cubicBezTo>
                        <a:pt x="21713" y="165464"/>
                        <a:pt x="36106" y="151071"/>
                        <a:pt x="53860" y="151071"/>
                      </a:cubicBezTo>
                      <a:cubicBezTo>
                        <a:pt x="71615" y="151071"/>
                        <a:pt x="86007" y="165464"/>
                        <a:pt x="86007" y="183218"/>
                      </a:cubicBezTo>
                      <a:cubicBezTo>
                        <a:pt x="86007" y="200973"/>
                        <a:pt x="71615" y="215365"/>
                        <a:pt x="53860" y="215365"/>
                      </a:cubicBez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5507355" y="2235518"/>
                <a:ext cx="119678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Backend 注册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636770" y="2760345"/>
                <a:ext cx="17450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register_backend_for_device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635818" y="2980849"/>
                <a:ext cx="19035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把 NPU 调度、wrapper codegen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35818" y="3190399"/>
                <a:ext cx="20985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和 CppWrapperNpu 接入设备路由。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4648200" y="3448050"/>
                <a:ext cx="28956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E7F5F2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752022" y="3492341"/>
                <a:ext cx="177677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扩展性 高 | 标准注册点，优先保留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229600" y="2000250"/>
              <a:ext cx="3429000" cy="1695450"/>
              <a:chOff x="8229600" y="2000250"/>
              <a:chExt cx="3429000" cy="16954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229600" y="2000250"/>
                <a:ext cx="34290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229600" y="2000250"/>
                <a:ext cx="3429000" cy="76200"/>
              </a:xfrm>
              <a:prstGeom prst="rect">
                <a:avLst/>
              </a:prstGeom>
              <a:solidFill>
                <a:srgbClr val="E9A23B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8401050" y="2209800"/>
                <a:ext cx="381000" cy="381000"/>
              </a:xfrm>
              <a:prstGeom prst="ellipse">
                <a:avLst/>
              </a:prstGeom>
              <a:solidFill>
                <a:srgbClr val="FFF6E5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97355" y="23441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grpSp>
            <p:nvGrpSpPr>
              <p:cNvPr id="47" name="Group 47"/>
              <p:cNvGrpSpPr/>
              <p:nvPr/>
            </p:nvGrpSpPr>
            <p:grpSpPr>
              <a:xfrm>
                <a:off x="8947550" y="2270019"/>
                <a:ext cx="248837" cy="258847"/>
                <a:chOff x="8947550" y="2270019"/>
                <a:chExt cx="248837" cy="258847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9121378" y="2282428"/>
                  <a:ext cx="64294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64294">
                      <a:moveTo>
                        <a:pt x="64294" y="32147"/>
                      </a:moveTo>
                      <a:cubicBezTo>
                        <a:pt x="64294" y="49901"/>
                        <a:pt x="49901" y="64294"/>
                        <a:pt x="32147" y="64294"/>
                      </a:cubicBezTo>
                      <a:cubicBezTo>
                        <a:pt x="14393" y="64294"/>
                        <a:pt x="0" y="49901"/>
                        <a:pt x="0" y="32147"/>
                      </a:cubicBezTo>
                      <a:cubicBezTo>
                        <a:pt x="0" y="14393"/>
                        <a:pt x="14393" y="0"/>
                        <a:pt x="32147" y="0"/>
                      </a:cubicBezTo>
                      <a:cubicBezTo>
                        <a:pt x="49901" y="0"/>
                        <a:pt x="64294" y="14393"/>
                        <a:pt x="64294" y="32147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947550" y="2270019"/>
                  <a:ext cx="248837" cy="258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837" h="258847">
                      <a:moveTo>
                        <a:pt x="248837" y="44556"/>
                      </a:moveTo>
                      <a:cubicBezTo>
                        <a:pt x="248826" y="22285"/>
                        <a:pt x="231760" y="3732"/>
                        <a:pt x="209566" y="1866"/>
                      </a:cubicBezTo>
                      <a:cubicBezTo>
                        <a:pt x="187373" y="0"/>
                        <a:pt x="167448" y="15442"/>
                        <a:pt x="163718" y="37399"/>
                      </a:cubicBezTo>
                      <a:cubicBezTo>
                        <a:pt x="159988" y="59356"/>
                        <a:pt x="173695" y="80511"/>
                        <a:pt x="195259" y="86079"/>
                      </a:cubicBezTo>
                      <a:lnTo>
                        <a:pt x="195259" y="98134"/>
                      </a:lnTo>
                      <a:cubicBezTo>
                        <a:pt x="195259" y="109971"/>
                        <a:pt x="185664" y="119566"/>
                        <a:pt x="173828" y="119566"/>
                      </a:cubicBezTo>
                      <a:lnTo>
                        <a:pt x="77387" y="119566"/>
                      </a:lnTo>
                      <a:cubicBezTo>
                        <a:pt x="69858" y="119557"/>
                        <a:pt x="62462" y="121549"/>
                        <a:pt x="55956" y="125339"/>
                      </a:cubicBezTo>
                      <a:lnTo>
                        <a:pt x="55956" y="86079"/>
                      </a:lnTo>
                      <a:cubicBezTo>
                        <a:pt x="76855" y="80683"/>
                        <a:pt x="90481" y="60589"/>
                        <a:pt x="87761" y="39177"/>
                      </a:cubicBezTo>
                      <a:cubicBezTo>
                        <a:pt x="85042" y="17765"/>
                        <a:pt x="66825" y="1715"/>
                        <a:pt x="45241" y="1715"/>
                      </a:cubicBezTo>
                      <a:cubicBezTo>
                        <a:pt x="23656" y="1715"/>
                        <a:pt x="5439" y="17765"/>
                        <a:pt x="2720" y="39177"/>
                      </a:cubicBezTo>
                      <a:cubicBezTo>
                        <a:pt x="0" y="60589"/>
                        <a:pt x="13626" y="80683"/>
                        <a:pt x="34525" y="86079"/>
                      </a:cubicBezTo>
                      <a:lnTo>
                        <a:pt x="34525" y="174483"/>
                      </a:lnTo>
                      <a:cubicBezTo>
                        <a:pt x="13626" y="179879"/>
                        <a:pt x="0" y="199973"/>
                        <a:pt x="2720" y="221386"/>
                      </a:cubicBezTo>
                      <a:cubicBezTo>
                        <a:pt x="5439" y="242798"/>
                        <a:pt x="23656" y="258847"/>
                        <a:pt x="45241" y="258847"/>
                      </a:cubicBezTo>
                      <a:cubicBezTo>
                        <a:pt x="66825" y="258847"/>
                        <a:pt x="85042" y="242798"/>
                        <a:pt x="87761" y="221386"/>
                      </a:cubicBezTo>
                      <a:cubicBezTo>
                        <a:pt x="90481" y="199973"/>
                        <a:pt x="76855" y="179879"/>
                        <a:pt x="55956" y="174483"/>
                      </a:cubicBezTo>
                      <a:lnTo>
                        <a:pt x="55956" y="162428"/>
                      </a:lnTo>
                      <a:cubicBezTo>
                        <a:pt x="55956" y="150592"/>
                        <a:pt x="65551" y="140997"/>
                        <a:pt x="77387" y="140997"/>
                      </a:cubicBezTo>
                      <a:lnTo>
                        <a:pt x="173828" y="140997"/>
                      </a:lnTo>
                      <a:cubicBezTo>
                        <a:pt x="197500" y="140997"/>
                        <a:pt x="216691" y="121807"/>
                        <a:pt x="216691" y="98134"/>
                      </a:cubicBezTo>
                      <a:lnTo>
                        <a:pt x="216691" y="86079"/>
                      </a:lnTo>
                      <a:cubicBezTo>
                        <a:pt x="235606" y="81166"/>
                        <a:pt x="248819" y="64100"/>
                        <a:pt x="248837" y="44556"/>
                      </a:cubicBezTo>
                      <a:close/>
                      <a:moveTo>
                        <a:pt x="23809" y="44556"/>
                      </a:moveTo>
                      <a:cubicBezTo>
                        <a:pt x="23809" y="32720"/>
                        <a:pt x="33404" y="23125"/>
                        <a:pt x="45241" y="23125"/>
                      </a:cubicBezTo>
                      <a:cubicBezTo>
                        <a:pt x="57077" y="23125"/>
                        <a:pt x="66672" y="32720"/>
                        <a:pt x="66672" y="44556"/>
                      </a:cubicBezTo>
                      <a:cubicBezTo>
                        <a:pt x="66672" y="56392"/>
                        <a:pt x="57077" y="65988"/>
                        <a:pt x="45241" y="65988"/>
                      </a:cubicBezTo>
                      <a:cubicBezTo>
                        <a:pt x="33404" y="65988"/>
                        <a:pt x="23809" y="56392"/>
                        <a:pt x="23809" y="44556"/>
                      </a:cubicBezTo>
                      <a:close/>
                      <a:moveTo>
                        <a:pt x="66672" y="216006"/>
                      </a:moveTo>
                      <a:cubicBezTo>
                        <a:pt x="66672" y="227842"/>
                        <a:pt x="57077" y="237438"/>
                        <a:pt x="45241" y="237438"/>
                      </a:cubicBezTo>
                      <a:cubicBezTo>
                        <a:pt x="33404" y="237438"/>
                        <a:pt x="23809" y="227842"/>
                        <a:pt x="23809" y="216006"/>
                      </a:cubicBezTo>
                      <a:cubicBezTo>
                        <a:pt x="23809" y="204170"/>
                        <a:pt x="33404" y="194575"/>
                        <a:pt x="45241" y="194575"/>
                      </a:cubicBezTo>
                      <a:cubicBezTo>
                        <a:pt x="57077" y="194575"/>
                        <a:pt x="66672" y="204170"/>
                        <a:pt x="66672" y="216006"/>
                      </a:cubicBezTo>
                      <a:close/>
                      <a:moveTo>
                        <a:pt x="205975" y="65988"/>
                      </a:moveTo>
                      <a:cubicBezTo>
                        <a:pt x="194139" y="65988"/>
                        <a:pt x="184544" y="56392"/>
                        <a:pt x="184544" y="44556"/>
                      </a:cubicBezTo>
                      <a:cubicBezTo>
                        <a:pt x="184544" y="32720"/>
                        <a:pt x="194139" y="23125"/>
                        <a:pt x="205975" y="23125"/>
                      </a:cubicBezTo>
                      <a:cubicBezTo>
                        <a:pt x="217811" y="23125"/>
                        <a:pt x="227406" y="32720"/>
                        <a:pt x="227406" y="44556"/>
                      </a:cubicBezTo>
                      <a:cubicBezTo>
                        <a:pt x="227406" y="56392"/>
                        <a:pt x="217811" y="65988"/>
                        <a:pt x="205975" y="65988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9355455" y="2235518"/>
                <a:ext cx="14141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Scheduling 接入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483918" y="2752249"/>
                <a:ext cx="12079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patch_scheduler()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83918" y="2980849"/>
                <a:ext cx="18839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引入 NPUCombinedScheduling，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83918" y="3190399"/>
                <a:ext cx="17604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改变 group 和融合风险前提。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8496300" y="3448050"/>
                <a:ext cx="28956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FFF6E5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600122" y="3492341"/>
                <a:ext cx="217529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扩展性 中高 | 必要 override，收窄复制面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533400" y="4038600"/>
              <a:ext cx="3429000" cy="1828800"/>
              <a:chOff x="533400" y="4038600"/>
              <a:chExt cx="3429000" cy="18288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533400" y="4038600"/>
                <a:ext cx="3429000" cy="18288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533400" y="4038600"/>
                <a:ext cx="3429000" cy="76200"/>
              </a:xfrm>
              <a:prstGeom prst="rect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704850" y="4248150"/>
                <a:ext cx="381000" cy="381000"/>
              </a:xfrm>
              <a:prstGeom prst="ellipse">
                <a:avLst/>
              </a:prstGeom>
              <a:solidFill>
                <a:srgbClr val="FFF6E5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01155" y="438245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1232288" y="4298294"/>
                <a:ext cx="257183" cy="258228"/>
                <a:chOff x="1232288" y="4298294"/>
                <a:chExt cx="257183" cy="258228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1264444" y="4331494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214312" y="10716"/>
                      </a:moveTo>
                      <a:lnTo>
                        <a:pt x="214312" y="203597"/>
                      </a:lnTo>
                      <a:cubicBezTo>
                        <a:pt x="214312" y="209515"/>
                        <a:pt x="209515" y="214312"/>
                        <a:pt x="203597" y="214312"/>
                      </a:cubicBezTo>
                      <a:lnTo>
                        <a:pt x="10716" y="214312"/>
                      </a:lnTo>
                      <a:cubicBezTo>
                        <a:pt x="4798" y="214312"/>
                        <a:pt x="0" y="209515"/>
                        <a:pt x="0" y="203597"/>
                      </a:cubicBezTo>
                      <a:lnTo>
                        <a:pt x="0" y="10716"/>
                      </a:lnTo>
                      <a:cubicBezTo>
                        <a:pt x="0" y="4798"/>
                        <a:pt x="4798" y="0"/>
                        <a:pt x="10716" y="0"/>
                      </a:cubicBezTo>
                      <a:lnTo>
                        <a:pt x="203597" y="0"/>
                      </a:lnTo>
                      <a:cubicBezTo>
                        <a:pt x="209515" y="0"/>
                        <a:pt x="214312" y="4798"/>
                        <a:pt x="214312" y="10716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232288" y="4298294"/>
                  <a:ext cx="257183" cy="258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83" h="258228">
                      <a:moveTo>
                        <a:pt x="46005" y="105075"/>
                      </a:moveTo>
                      <a:lnTo>
                        <a:pt x="3143" y="62212"/>
                      </a:lnTo>
                      <a:cubicBezTo>
                        <a:pt x="1131" y="60202"/>
                        <a:pt x="0" y="57475"/>
                        <a:pt x="0" y="54631"/>
                      </a:cubicBezTo>
                      <a:cubicBezTo>
                        <a:pt x="0" y="51787"/>
                        <a:pt x="1131" y="49059"/>
                        <a:pt x="3143" y="47050"/>
                      </a:cubicBezTo>
                      <a:lnTo>
                        <a:pt x="46005" y="4187"/>
                      </a:lnTo>
                      <a:cubicBezTo>
                        <a:pt x="50192" y="0"/>
                        <a:pt x="56981" y="0"/>
                        <a:pt x="61168" y="4187"/>
                      </a:cubicBezTo>
                      <a:cubicBezTo>
                        <a:pt x="65355" y="8374"/>
                        <a:pt x="65355" y="15163"/>
                        <a:pt x="61168" y="19350"/>
                      </a:cubicBezTo>
                      <a:lnTo>
                        <a:pt x="25873" y="54631"/>
                      </a:lnTo>
                      <a:lnTo>
                        <a:pt x="61168" y="89912"/>
                      </a:lnTo>
                      <a:cubicBezTo>
                        <a:pt x="65355" y="94099"/>
                        <a:pt x="65355" y="100888"/>
                        <a:pt x="61168" y="105075"/>
                      </a:cubicBezTo>
                      <a:cubicBezTo>
                        <a:pt x="56981" y="109262"/>
                        <a:pt x="50192" y="109262"/>
                        <a:pt x="46005" y="105075"/>
                      </a:cubicBezTo>
                      <a:close/>
                      <a:moveTo>
                        <a:pt x="99583" y="105075"/>
                      </a:moveTo>
                      <a:cubicBezTo>
                        <a:pt x="101593" y="107087"/>
                        <a:pt x="104321" y="108217"/>
                        <a:pt x="107165" y="108217"/>
                      </a:cubicBezTo>
                      <a:cubicBezTo>
                        <a:pt x="110009" y="108217"/>
                        <a:pt x="112736" y="107087"/>
                        <a:pt x="114746" y="105075"/>
                      </a:cubicBezTo>
                      <a:lnTo>
                        <a:pt x="157608" y="62212"/>
                      </a:lnTo>
                      <a:cubicBezTo>
                        <a:pt x="159621" y="60202"/>
                        <a:pt x="160751" y="57475"/>
                        <a:pt x="160751" y="54631"/>
                      </a:cubicBezTo>
                      <a:cubicBezTo>
                        <a:pt x="160751" y="51787"/>
                        <a:pt x="159621" y="49059"/>
                        <a:pt x="157608" y="47050"/>
                      </a:cubicBezTo>
                      <a:lnTo>
                        <a:pt x="114746" y="4187"/>
                      </a:lnTo>
                      <a:cubicBezTo>
                        <a:pt x="110559" y="0"/>
                        <a:pt x="103770" y="0"/>
                        <a:pt x="99583" y="4187"/>
                      </a:cubicBezTo>
                      <a:cubicBezTo>
                        <a:pt x="95396" y="8374"/>
                        <a:pt x="95396" y="15163"/>
                        <a:pt x="99583" y="19350"/>
                      </a:cubicBezTo>
                      <a:lnTo>
                        <a:pt x="134878" y="54631"/>
                      </a:lnTo>
                      <a:lnTo>
                        <a:pt x="99583" y="89912"/>
                      </a:lnTo>
                      <a:cubicBezTo>
                        <a:pt x="97571" y="91922"/>
                        <a:pt x="96441" y="94649"/>
                        <a:pt x="96441" y="97493"/>
                      </a:cubicBezTo>
                      <a:cubicBezTo>
                        <a:pt x="96441" y="100337"/>
                        <a:pt x="97571" y="103065"/>
                        <a:pt x="99583" y="105075"/>
                      </a:cubicBezTo>
                      <a:close/>
                      <a:moveTo>
                        <a:pt x="235752" y="22484"/>
                      </a:moveTo>
                      <a:lnTo>
                        <a:pt x="203605" y="22484"/>
                      </a:lnTo>
                      <a:cubicBezTo>
                        <a:pt x="197687" y="22484"/>
                        <a:pt x="192890" y="27282"/>
                        <a:pt x="192890" y="33200"/>
                      </a:cubicBezTo>
                      <a:cubicBezTo>
                        <a:pt x="192890" y="39118"/>
                        <a:pt x="197687" y="43915"/>
                        <a:pt x="203605" y="43915"/>
                      </a:cubicBezTo>
                      <a:lnTo>
                        <a:pt x="235752" y="43915"/>
                      </a:lnTo>
                      <a:lnTo>
                        <a:pt x="235752" y="236796"/>
                      </a:lnTo>
                      <a:lnTo>
                        <a:pt x="42871" y="236796"/>
                      </a:lnTo>
                      <a:lnTo>
                        <a:pt x="42871" y="151071"/>
                      </a:lnTo>
                      <a:cubicBezTo>
                        <a:pt x="42871" y="145153"/>
                        <a:pt x="38073" y="140356"/>
                        <a:pt x="32155" y="140356"/>
                      </a:cubicBezTo>
                      <a:cubicBezTo>
                        <a:pt x="26237" y="140356"/>
                        <a:pt x="21440" y="145153"/>
                        <a:pt x="21440" y="151071"/>
                      </a:cubicBezTo>
                      <a:lnTo>
                        <a:pt x="21440" y="236796"/>
                      </a:lnTo>
                      <a:cubicBezTo>
                        <a:pt x="21440" y="248633"/>
                        <a:pt x="31035" y="258228"/>
                        <a:pt x="42871" y="258228"/>
                      </a:cubicBezTo>
                      <a:lnTo>
                        <a:pt x="235752" y="258228"/>
                      </a:lnTo>
                      <a:cubicBezTo>
                        <a:pt x="247588" y="258228"/>
                        <a:pt x="257183" y="248633"/>
                        <a:pt x="257183" y="236796"/>
                      </a:cubicBezTo>
                      <a:lnTo>
                        <a:pt x="257183" y="43915"/>
                      </a:lnTo>
                      <a:cubicBezTo>
                        <a:pt x="257183" y="32079"/>
                        <a:pt x="247588" y="22484"/>
                        <a:pt x="235752" y="22484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659255" y="4273868"/>
                <a:ext cx="17638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Codegen 表达式接入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88670" y="4779645"/>
                <a:ext cx="20391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patch_simplify / patch_num_splits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88670" y="5008245"/>
                <a:ext cx="19851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patch_loop_body / patch_indexing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87718" y="5228749"/>
                <a:ext cx="19555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进入 NPUIndexTritonKernel 前，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87718" y="5419249"/>
                <a:ext cx="19425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indexing expression 已被重塑。</a:t>
                </a: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800100" y="5619750"/>
                <a:ext cx="28956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FFF6E5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03922" y="5664041"/>
                <a:ext cx="215797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扩展性 中 | 隐式前提多，归入 NPU kernel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4381500" y="4038600"/>
              <a:ext cx="3429000" cy="1828800"/>
              <a:chOff x="4381500" y="4038600"/>
              <a:chExt cx="3429000" cy="182880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4381500" y="4038600"/>
                <a:ext cx="3429000" cy="18288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4381500" y="4038600"/>
                <a:ext cx="3429000" cy="762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4552950" y="4248150"/>
                <a:ext cx="381000" cy="381000"/>
              </a:xfrm>
              <a:prstGeom prst="ellipse">
                <a:avLst/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4649255" y="438245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05</a:t>
                </a:r>
              </a:p>
            </p:txBody>
          </p:sp>
          <p:grpSp>
            <p:nvGrpSpPr>
              <p:cNvPr id="76" name="Group 76"/>
              <p:cNvGrpSpPr/>
              <p:nvPr/>
            </p:nvGrpSpPr>
            <p:grpSpPr>
              <a:xfrm>
                <a:off x="5091112" y="4299347"/>
                <a:ext cx="257175" cy="278606"/>
                <a:chOff x="5091112" y="4299347"/>
                <a:chExt cx="257175" cy="278606"/>
              </a:xfrm>
            </p:grpSpPr>
            <p:sp>
              <p:nvSpPr>
                <p:cNvPr id="74" name="Freeform 74"/>
                <p:cNvSpPr/>
                <p:nvPr/>
              </p:nvSpPr>
              <p:spPr>
                <a:xfrm>
                  <a:off x="5101828" y="4310062"/>
                  <a:ext cx="235744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44" h="128588">
                      <a:moveTo>
                        <a:pt x="235744" y="64294"/>
                      </a:moveTo>
                      <a:cubicBezTo>
                        <a:pt x="235744" y="99803"/>
                        <a:pt x="182969" y="128588"/>
                        <a:pt x="117872" y="128588"/>
                      </a:cubicBezTo>
                      <a:cubicBezTo>
                        <a:pt x="52774" y="128588"/>
                        <a:pt x="0" y="99803"/>
                        <a:pt x="0" y="64294"/>
                      </a:cubicBezTo>
                      <a:cubicBezTo>
                        <a:pt x="0" y="28785"/>
                        <a:pt x="52774" y="0"/>
                        <a:pt x="117872" y="0"/>
                      </a:cubicBezTo>
                      <a:cubicBezTo>
                        <a:pt x="182969" y="0"/>
                        <a:pt x="235744" y="28785"/>
                        <a:pt x="235744" y="64294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5091112" y="4299347"/>
                  <a:ext cx="257175" cy="278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78606">
                      <a:moveTo>
                        <a:pt x="128588" y="0"/>
                      </a:moveTo>
                      <a:cubicBezTo>
                        <a:pt x="56485" y="0"/>
                        <a:pt x="0" y="32951"/>
                        <a:pt x="0" y="75009"/>
                      </a:cubicBezTo>
                      <a:lnTo>
                        <a:pt x="0" y="203597"/>
                      </a:lnTo>
                      <a:cubicBezTo>
                        <a:pt x="0" y="245656"/>
                        <a:pt x="56485" y="278606"/>
                        <a:pt x="128588" y="278606"/>
                      </a:cubicBezTo>
                      <a:cubicBezTo>
                        <a:pt x="200690" y="278606"/>
                        <a:pt x="257175" y="245656"/>
                        <a:pt x="257175" y="203597"/>
                      </a:cubicBezTo>
                      <a:lnTo>
                        <a:pt x="257175" y="75009"/>
                      </a:lnTo>
                      <a:cubicBezTo>
                        <a:pt x="257175" y="32951"/>
                        <a:pt x="200690" y="0"/>
                        <a:pt x="128588" y="0"/>
                      </a:cubicBezTo>
                      <a:close/>
                      <a:moveTo>
                        <a:pt x="235744" y="139303"/>
                      </a:moveTo>
                      <a:cubicBezTo>
                        <a:pt x="235744" y="152189"/>
                        <a:pt x="225189" y="165329"/>
                        <a:pt x="206798" y="175361"/>
                      </a:cubicBezTo>
                      <a:cubicBezTo>
                        <a:pt x="186090" y="186653"/>
                        <a:pt x="158310" y="192881"/>
                        <a:pt x="128588" y="192881"/>
                      </a:cubicBezTo>
                      <a:cubicBezTo>
                        <a:pt x="98865" y="192881"/>
                        <a:pt x="71085" y="186653"/>
                        <a:pt x="50377" y="175361"/>
                      </a:cubicBezTo>
                      <a:cubicBezTo>
                        <a:pt x="31986" y="165329"/>
                        <a:pt x="21431" y="152189"/>
                        <a:pt x="21431" y="139303"/>
                      </a:cubicBezTo>
                      <a:lnTo>
                        <a:pt x="21431" y="117015"/>
                      </a:lnTo>
                      <a:cubicBezTo>
                        <a:pt x="44282" y="137106"/>
                        <a:pt x="83354" y="150019"/>
                        <a:pt x="128588" y="150019"/>
                      </a:cubicBezTo>
                      <a:cubicBezTo>
                        <a:pt x="173821" y="150019"/>
                        <a:pt x="212893" y="137053"/>
                        <a:pt x="235744" y="117015"/>
                      </a:cubicBezTo>
                      <a:close/>
                      <a:moveTo>
                        <a:pt x="50377" y="38951"/>
                      </a:moveTo>
                      <a:cubicBezTo>
                        <a:pt x="71085" y="27660"/>
                        <a:pt x="98865" y="21431"/>
                        <a:pt x="128588" y="21431"/>
                      </a:cubicBezTo>
                      <a:cubicBezTo>
                        <a:pt x="158310" y="21431"/>
                        <a:pt x="186090" y="27660"/>
                        <a:pt x="206798" y="38951"/>
                      </a:cubicBezTo>
                      <a:cubicBezTo>
                        <a:pt x="225189" y="48984"/>
                        <a:pt x="235744" y="62124"/>
                        <a:pt x="235744" y="75009"/>
                      </a:cubicBezTo>
                      <a:cubicBezTo>
                        <a:pt x="235744" y="87895"/>
                        <a:pt x="225189" y="101035"/>
                        <a:pt x="206798" y="111067"/>
                      </a:cubicBezTo>
                      <a:cubicBezTo>
                        <a:pt x="186090" y="122359"/>
                        <a:pt x="158310" y="128588"/>
                        <a:pt x="128588" y="128588"/>
                      </a:cubicBezTo>
                      <a:cubicBezTo>
                        <a:pt x="98865" y="128588"/>
                        <a:pt x="71085" y="122359"/>
                        <a:pt x="50377" y="111067"/>
                      </a:cubicBezTo>
                      <a:cubicBezTo>
                        <a:pt x="31986" y="101035"/>
                        <a:pt x="21431" y="87895"/>
                        <a:pt x="21431" y="75009"/>
                      </a:cubicBezTo>
                      <a:cubicBezTo>
                        <a:pt x="21431" y="62124"/>
                        <a:pt x="31986" y="48984"/>
                        <a:pt x="50377" y="38951"/>
                      </a:cubicBezTo>
                      <a:close/>
                      <a:moveTo>
                        <a:pt x="206798" y="239655"/>
                      </a:moveTo>
                      <a:cubicBezTo>
                        <a:pt x="186090" y="250947"/>
                        <a:pt x="158310" y="257175"/>
                        <a:pt x="128588" y="257175"/>
                      </a:cubicBezTo>
                      <a:cubicBezTo>
                        <a:pt x="98865" y="257175"/>
                        <a:pt x="71085" y="250947"/>
                        <a:pt x="50377" y="239655"/>
                      </a:cubicBezTo>
                      <a:cubicBezTo>
                        <a:pt x="31986" y="229622"/>
                        <a:pt x="21431" y="216482"/>
                        <a:pt x="21431" y="203597"/>
                      </a:cubicBezTo>
                      <a:lnTo>
                        <a:pt x="21431" y="181308"/>
                      </a:lnTo>
                      <a:cubicBezTo>
                        <a:pt x="44282" y="201400"/>
                        <a:pt x="83354" y="214312"/>
                        <a:pt x="128588" y="214312"/>
                      </a:cubicBezTo>
                      <a:cubicBezTo>
                        <a:pt x="173821" y="214312"/>
                        <a:pt x="212893" y="201347"/>
                        <a:pt x="235744" y="181308"/>
                      </a:cubicBezTo>
                      <a:lnTo>
                        <a:pt x="235744" y="203597"/>
                      </a:lnTo>
                      <a:cubicBezTo>
                        <a:pt x="235744" y="216482"/>
                        <a:pt x="225189" y="229622"/>
                        <a:pt x="206798" y="239655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5507355" y="4273868"/>
                <a:ext cx="212300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Autotune/runtime 接入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4636770" y="4779645"/>
                <a:ext cx="25071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patch_triton_heuristics_cached_autotune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636770" y="5008245"/>
                <a:ext cx="181108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patch_load_cached_autotuning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4635818" y="5228749"/>
                <a:ext cx="17539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接入 NPU 候选、cache 恢复、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4635818" y="5419249"/>
                <a:ext cx="23845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batch profiling 与 grouped dispatch。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4648200" y="5619750"/>
                <a:ext cx="28956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E7EFF8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752022" y="5664041"/>
                <a:ext cx="237167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扩展性 中低 | 收回类内，限制 runtime patch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8229600" y="4038600"/>
              <a:ext cx="3429000" cy="1828800"/>
              <a:chOff x="8229600" y="4038600"/>
              <a:chExt cx="3429000" cy="1828800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8229600" y="4038600"/>
                <a:ext cx="3429000" cy="1828800"/>
              </a:xfrm>
              <a:prstGeom prst="roundRect">
                <a:avLst>
                  <a:gd name="adj" fmla="val 4167"/>
                </a:avLst>
              </a:prstGeom>
              <a:solidFill>
                <a:srgbClr val="153A5B"/>
              </a:solidFill>
              <a:ln>
                <a:noFill/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8229600" y="4038600"/>
                <a:ext cx="3429000" cy="76200"/>
              </a:xfrm>
              <a:prstGeom prst="rect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401050" y="4248150"/>
                <a:ext cx="381000" cy="381000"/>
              </a:xfrm>
              <a:prstGeom prst="ellipse">
                <a:avLst/>
              </a:prstGeom>
              <a:solidFill>
                <a:srgbClr val="E7F5F2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8497355" y="438245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06</a:t>
                </a:r>
              </a:p>
            </p:txBody>
          </p:sp>
          <p:grpSp>
            <p:nvGrpSpPr>
              <p:cNvPr id="91" name="Group 91"/>
              <p:cNvGrpSpPr/>
              <p:nvPr/>
            </p:nvGrpSpPr>
            <p:grpSpPr>
              <a:xfrm>
                <a:off x="8927083" y="4288146"/>
                <a:ext cx="281506" cy="301008"/>
                <a:chOff x="8927083" y="4288146"/>
                <a:chExt cx="281506" cy="301008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8939212" y="4299347"/>
                  <a:ext cx="257175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50019">
                      <a:moveTo>
                        <a:pt x="257175" y="75009"/>
                      </a:moveTo>
                      <a:lnTo>
                        <a:pt x="128588" y="150019"/>
                      </a:lnTo>
                      <a:lnTo>
                        <a:pt x="0" y="75009"/>
                      </a:lnTo>
                      <a:lnTo>
                        <a:pt x="128588" y="0"/>
                      </a:ln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8927083" y="4288146"/>
                  <a:ext cx="281506" cy="301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506" h="301008">
                      <a:moveTo>
                        <a:pt x="278560" y="209440"/>
                      </a:moveTo>
                      <a:cubicBezTo>
                        <a:pt x="281506" y="214553"/>
                        <a:pt x="279764" y="221087"/>
                        <a:pt x="274662" y="224053"/>
                      </a:cubicBezTo>
                      <a:lnTo>
                        <a:pt x="146074" y="299063"/>
                      </a:lnTo>
                      <a:cubicBezTo>
                        <a:pt x="142739" y="301008"/>
                        <a:pt x="138614" y="301008"/>
                        <a:pt x="135278" y="299063"/>
                      </a:cubicBezTo>
                      <a:lnTo>
                        <a:pt x="6691" y="224053"/>
                      </a:lnTo>
                      <a:cubicBezTo>
                        <a:pt x="1665" y="221033"/>
                        <a:pt x="0" y="214535"/>
                        <a:pt x="2954" y="209470"/>
                      </a:cubicBezTo>
                      <a:cubicBezTo>
                        <a:pt x="5908" y="204405"/>
                        <a:pt x="12384" y="202655"/>
                        <a:pt x="17487" y="205542"/>
                      </a:cubicBezTo>
                      <a:lnTo>
                        <a:pt x="140717" y="277404"/>
                      </a:lnTo>
                      <a:lnTo>
                        <a:pt x="263946" y="205542"/>
                      </a:lnTo>
                      <a:cubicBezTo>
                        <a:pt x="269060" y="202596"/>
                        <a:pt x="275593" y="204338"/>
                        <a:pt x="278560" y="209440"/>
                      </a:cubicBezTo>
                      <a:close/>
                      <a:moveTo>
                        <a:pt x="263946" y="141248"/>
                      </a:moveTo>
                      <a:lnTo>
                        <a:pt x="140717" y="213110"/>
                      </a:lnTo>
                      <a:lnTo>
                        <a:pt x="17487" y="141248"/>
                      </a:lnTo>
                      <a:cubicBezTo>
                        <a:pt x="12423" y="138727"/>
                        <a:pt x="6271" y="140576"/>
                        <a:pt x="3437" y="145472"/>
                      </a:cubicBezTo>
                      <a:cubicBezTo>
                        <a:pt x="603" y="150368"/>
                        <a:pt x="2063" y="156624"/>
                        <a:pt x="6771" y="159760"/>
                      </a:cubicBezTo>
                      <a:lnTo>
                        <a:pt x="135359" y="234769"/>
                      </a:lnTo>
                      <a:cubicBezTo>
                        <a:pt x="138695" y="236714"/>
                        <a:pt x="142819" y="236714"/>
                        <a:pt x="146155" y="234769"/>
                      </a:cubicBezTo>
                      <a:lnTo>
                        <a:pt x="274742" y="159760"/>
                      </a:lnTo>
                      <a:cubicBezTo>
                        <a:pt x="278103" y="157858"/>
                        <a:pt x="280181" y="154295"/>
                        <a:pt x="280181" y="150433"/>
                      </a:cubicBezTo>
                      <a:cubicBezTo>
                        <a:pt x="280181" y="146571"/>
                        <a:pt x="278103" y="143008"/>
                        <a:pt x="274742" y="141107"/>
                      </a:cubicBezTo>
                      <a:cubicBezTo>
                        <a:pt x="271381" y="139205"/>
                        <a:pt x="267256" y="139259"/>
                        <a:pt x="263946" y="141248"/>
                      </a:cubicBezTo>
                      <a:close/>
                      <a:moveTo>
                        <a:pt x="1414" y="86210"/>
                      </a:moveTo>
                      <a:cubicBezTo>
                        <a:pt x="1422" y="82391"/>
                        <a:pt x="3463" y="78864"/>
                        <a:pt x="6771" y="76955"/>
                      </a:cubicBezTo>
                      <a:lnTo>
                        <a:pt x="135359" y="1945"/>
                      </a:lnTo>
                      <a:cubicBezTo>
                        <a:pt x="138695" y="0"/>
                        <a:pt x="142819" y="0"/>
                        <a:pt x="146155" y="1945"/>
                      </a:cubicBezTo>
                      <a:lnTo>
                        <a:pt x="274742" y="76955"/>
                      </a:lnTo>
                      <a:cubicBezTo>
                        <a:pt x="278034" y="78875"/>
                        <a:pt x="280058" y="82399"/>
                        <a:pt x="280058" y="86210"/>
                      </a:cubicBezTo>
                      <a:cubicBezTo>
                        <a:pt x="280058" y="90021"/>
                        <a:pt x="278034" y="93545"/>
                        <a:pt x="274742" y="95466"/>
                      </a:cubicBezTo>
                      <a:lnTo>
                        <a:pt x="146155" y="170475"/>
                      </a:lnTo>
                      <a:cubicBezTo>
                        <a:pt x="142819" y="172420"/>
                        <a:pt x="138695" y="172420"/>
                        <a:pt x="135359" y="170475"/>
                      </a:cubicBezTo>
                      <a:lnTo>
                        <a:pt x="6771" y="95466"/>
                      </a:lnTo>
                      <a:cubicBezTo>
                        <a:pt x="3463" y="93556"/>
                        <a:pt x="1422" y="90030"/>
                        <a:pt x="1414" y="86210"/>
                      </a:cubicBezTo>
                      <a:close/>
                      <a:moveTo>
                        <a:pt x="33400" y="86210"/>
                      </a:moveTo>
                      <a:lnTo>
                        <a:pt x="140717" y="148816"/>
                      </a:lnTo>
                      <a:lnTo>
                        <a:pt x="248034" y="86210"/>
                      </a:lnTo>
                      <a:lnTo>
                        <a:pt x="140717" y="2360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92" name="TextBox 92"/>
              <p:cNvSpPr txBox="1"/>
              <p:nvPr/>
            </p:nvSpPr>
            <p:spPr>
              <a:xfrm>
                <a:off x="9355455" y="4273868"/>
                <a:ext cx="1716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Metadata 协议接入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8484870" y="4779645"/>
                <a:ext cx="181108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7EFF8"/>
                    </a:solidFill>
                    <a:latin typeface="Consolas"/>
                    <a:ea typeface="Microsoft YaHei"/>
                    <a:cs typeface="Consolas"/>
                  </a:rPr>
                  <a:t>inductor_meta / TileGenerator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8484870" y="5008245"/>
                <a:ext cx="22071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7EFF8"/>
                    </a:solidFill>
                    <a:latin typeface="Consolas"/>
                    <a:ea typeface="Microsoft YaHei"/>
                    <a:cs typeface="Consolas"/>
                  </a:rPr>
                  <a:t>split_axis / tiling_axis / no_loop_axis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483918" y="5228749"/>
                <a:ext cx="14159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7EFF8"/>
                    </a:solidFill>
                    <a:latin typeface="Segoe UI"/>
                    <a:ea typeface="Microsoft YaHei"/>
                    <a:cs typeface="Segoe UI"/>
                  </a:rPr>
                  <a:t>把轴决策写入私有 ABI，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483918" y="5419249"/>
                <a:ext cx="20270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7EFF8"/>
                    </a:solidFill>
                    <a:latin typeface="Segoe UI"/>
                    <a:ea typeface="Microsoft YaHei"/>
                    <a:cs typeface="Segoe UI"/>
                  </a:rPr>
                  <a:t>交给 autotune 和 runtime 消费。</a:t>
                </a:r>
              </a:p>
            </p:txBody>
          </p:sp>
          <p:sp>
            <p:nvSpPr>
              <p:cNvPr id="97" name="Rectangle 97"/>
              <p:cNvSpPr/>
              <p:nvPr/>
            </p:nvSpPr>
            <p:spPr>
              <a:xfrm>
                <a:off x="8496300" y="5619750"/>
                <a:ext cx="28956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E7F5F2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8600122" y="5664041"/>
                <a:ext cx="21984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53A5B"/>
                    </a:solidFill>
                    <a:latin typeface="Segoe UI"/>
                    <a:ea typeface="Microsoft YaHei"/>
                    <a:cs typeface="Segoe UI"/>
                  </a:rPr>
                  <a:t>扩展性 中低→高 | 类型化 schema 后可扩展</a:t>
                </a:r>
              </a:p>
            </p:txBody>
          </p:sp>
        </p:grpSp>
      </p:grpSp>
      <p:grpSp>
        <p:nvGrpSpPr>
          <p:cNvPr id="103" name="Group 103"/>
          <p:cNvGrpSpPr/>
          <p:nvPr/>
        </p:nvGrpSpPr>
        <p:grpSpPr>
          <a:xfrm>
            <a:off x="523875" y="6434138"/>
            <a:ext cx="11144250" cy="152400"/>
            <a:chOff x="523875" y="6434138"/>
            <a:chExt cx="11144250" cy="152400"/>
          </a:xfrm>
        </p:grpSpPr>
        <p:sp>
          <p:nvSpPr>
            <p:cNvPr id="101" name="TextBox 101"/>
            <p:cNvSpPr txBox="1"/>
            <p:nvPr/>
          </p:nvSpPr>
          <p:spPr>
            <a:xfrm>
              <a:off x="523875" y="6434138"/>
              <a:ext cx="49296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Sections 0, 3.1, 3.2 and 6.6-6.8 access hooks, extensibility assessment and upgrade advice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39061" y="643413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331470"/>
            <a:ext cx="11155680" cy="849630"/>
            <a:chOff x="502920" y="331470"/>
            <a:chExt cx="11155680" cy="849630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91845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生效路径从 import/load backend 开始，而不是 kernel 尾端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81050"/>
              <a:ext cx="11125200" cy="400050"/>
            </a:xfrm>
            <a:prstGeom prst="roundRect">
              <a:avLst>
                <a:gd name="adj" fmla="val 19048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6758" y="900589"/>
              <a:ext cx="87621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核心含义：backend 加载时已经改写上游 Inductor 的多处协议入口，后续阶段都在这个改写后的世界里运行。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04850" y="1504950"/>
            <a:ext cx="10782300" cy="3781425"/>
            <a:chOff x="704850" y="1504950"/>
            <a:chExt cx="10782300" cy="3781425"/>
          </a:xfrm>
        </p:grpSpPr>
        <p:sp>
          <p:nvSpPr>
            <p:cNvPr id="9" name="Rectangle 9"/>
            <p:cNvSpPr/>
            <p:nvPr/>
          </p:nvSpPr>
          <p:spPr>
            <a:xfrm>
              <a:off x="704850" y="1504950"/>
              <a:ext cx="10782300" cy="3781425"/>
            </a:xfrm>
            <a:prstGeom prst="roundRect">
              <a:avLst>
                <a:gd name="adj" fmla="val 3526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05158" y="1685449"/>
              <a:ext cx="61816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PIPELINE: IMPORT HOOK → PATCH INSTALLATION → STAGE-SPECIFIC TAKEOVER → RUNTIME PROTOCOL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990600" y="2095500"/>
              <a:ext cx="4500420" cy="2571750"/>
              <a:chOff x="990600" y="2095500"/>
              <a:chExt cx="4500420" cy="2571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90600" y="2095500"/>
                <a:ext cx="1809750" cy="2571750"/>
              </a:xfrm>
              <a:prstGeom prst="roundRect">
                <a:avLst>
                  <a:gd name="adj" fmla="val 5263"/>
                </a:avLst>
              </a:prstGeom>
              <a:solidFill>
                <a:srgbClr val="E7EFF8"/>
              </a:solidFill>
              <a:ln w="9525">
                <a:solidFill>
                  <a:srgbClr val="1F4E79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84910" y="2270760"/>
                <a:ext cx="8957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01 入口触发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86815" y="26679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torch_npu/_inductor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86815" y="2925128"/>
                <a:ext cx="165087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_load_triton_backend()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200150" y="3314700"/>
                <a:ext cx="139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90650" h="9525">
                    <a:moveTo>
                      <a:pt x="0" y="0"/>
                    </a:moveTo>
                    <a:lnTo>
                      <a:pt x="1390650" y="0"/>
                    </a:lnTo>
                  </a:path>
                </a:pathLst>
              </a:custGeom>
              <a:noFill/>
              <a:ln w="9525">
                <a:solidFill>
                  <a:srgbClr val="D6DEE8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86815" y="3525202"/>
                <a:ext cx="43042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触发 backend 注册与 patch 安装，影响当前进程内 Inductor 行为。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200150" y="4171950"/>
                <a:ext cx="1238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32948" y="4255770"/>
                <a:ext cx="7726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Import-time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2857500" y="3371850"/>
              <a:ext cx="4000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333750" y="2095500"/>
              <a:ext cx="2087666" cy="2571750"/>
              <a:chOff x="3333750" y="2095500"/>
              <a:chExt cx="2087666" cy="2571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333750" y="2095500"/>
                <a:ext cx="1809750" cy="2571750"/>
              </a:xfrm>
              <a:prstGeom prst="roundRect">
                <a:avLst>
                  <a:gd name="adj" fmla="val 5263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528060" y="2270760"/>
                <a:ext cx="9377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02 后端注册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30918" y="2695099"/>
                <a:ext cx="18904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register_backend_for_device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529965" y="2925128"/>
                <a:ext cx="1566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NPUCombinedScheduling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529965" y="3163252"/>
                <a:ext cx="13638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NPUWrapperCodeGen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29965" y="3401378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CppWrapperNpu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543300" y="4171950"/>
                <a:ext cx="1238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766647" y="4255770"/>
                <a:ext cx="7915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Device route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5200650" y="3371850"/>
              <a:ext cx="4000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676900" y="2095500"/>
              <a:ext cx="1809750" cy="2571750"/>
              <a:chOff x="5676900" y="2095500"/>
              <a:chExt cx="1809750" cy="2571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676900" y="2095500"/>
                <a:ext cx="1809750" cy="2571750"/>
              </a:xfrm>
              <a:prstGeom prst="roundRect">
                <a:avLst>
                  <a:gd name="adj" fmla="val 5263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871210" y="2270760"/>
                <a:ext cx="11142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03 上游 patch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874068" y="2676049"/>
                <a:ext cx="12079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patch_scheduler()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874068" y="2923699"/>
                <a:ext cx="10973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patch_simplify()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874068" y="3171349"/>
                <a:ext cx="12079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patch_loop_body()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874068" y="3418999"/>
                <a:ext cx="11039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patch_indexing()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886450" y="4171950"/>
                <a:ext cx="1238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6E5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949127" y="4255770"/>
                <a:ext cx="11128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Global side effect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7543800" y="3371850"/>
              <a:ext cx="4000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020050" y="2095500"/>
              <a:ext cx="1809750" cy="2571750"/>
              <a:chOff x="8020050" y="2095500"/>
              <a:chExt cx="1809750" cy="25717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020050" y="2095500"/>
                <a:ext cx="1809750" cy="2571750"/>
              </a:xfrm>
              <a:prstGeom prst="roundRect">
                <a:avLst>
                  <a:gd name="adj" fmla="val 5263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214360" y="2270760"/>
                <a:ext cx="9377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04 阶段接管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216265" y="2667952"/>
                <a:ext cx="14408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Lowering 输出 IR 分流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16265" y="2953702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Scheduling 保轴分组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16265" y="32394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Codegen 重写坐标系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16265" y="3525202"/>
                <a:ext cx="12448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Autotune 私有候选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8229600" y="4171950"/>
                <a:ext cx="1238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7F5F2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367886" y="4255770"/>
                <a:ext cx="9616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Stage takeover</a:t>
                </a:r>
              </a:p>
            </p:txBody>
          </p:sp>
        </p:grpSp>
        <p:sp>
          <p:nvSpPr>
            <p:cNvPr id="50" name="Line 50"/>
            <p:cNvSpPr/>
            <p:nvPr/>
          </p:nvSpPr>
          <p:spPr>
            <a:xfrm>
              <a:off x="9886950" y="3371850"/>
              <a:ext cx="4000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10363200" y="2095500"/>
              <a:ext cx="857250" cy="2571750"/>
              <a:chOff x="10363200" y="2095500"/>
              <a:chExt cx="857250" cy="25717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10363200" y="2095500"/>
                <a:ext cx="857250" cy="2571750"/>
              </a:xfrm>
              <a:prstGeom prst="roundRect">
                <a:avLst>
                  <a:gd name="adj" fmla="val 11111"/>
                </a:avLst>
              </a:prstGeom>
              <a:solidFill>
                <a:srgbClr val="153A5B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10682288" y="2661047"/>
                <a:ext cx="257175" cy="278606"/>
                <a:chOff x="10682288" y="2661047"/>
                <a:chExt cx="257175" cy="278606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10693003" y="2671762"/>
                  <a:ext cx="235744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44" h="128588">
                      <a:moveTo>
                        <a:pt x="235744" y="64294"/>
                      </a:moveTo>
                      <a:cubicBezTo>
                        <a:pt x="235744" y="99803"/>
                        <a:pt x="182969" y="128588"/>
                        <a:pt x="117872" y="128588"/>
                      </a:cubicBezTo>
                      <a:cubicBezTo>
                        <a:pt x="52774" y="128588"/>
                        <a:pt x="0" y="99803"/>
                        <a:pt x="0" y="64294"/>
                      </a:cubicBezTo>
                      <a:cubicBezTo>
                        <a:pt x="0" y="28785"/>
                        <a:pt x="52774" y="0"/>
                        <a:pt x="117872" y="0"/>
                      </a:cubicBezTo>
                      <a:cubicBezTo>
                        <a:pt x="182969" y="0"/>
                        <a:pt x="235744" y="28785"/>
                        <a:pt x="235744" y="64294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682288" y="2661047"/>
                  <a:ext cx="257175" cy="278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78606">
                      <a:moveTo>
                        <a:pt x="128588" y="0"/>
                      </a:moveTo>
                      <a:cubicBezTo>
                        <a:pt x="56485" y="0"/>
                        <a:pt x="0" y="32951"/>
                        <a:pt x="0" y="75009"/>
                      </a:cubicBezTo>
                      <a:lnTo>
                        <a:pt x="0" y="203597"/>
                      </a:lnTo>
                      <a:cubicBezTo>
                        <a:pt x="0" y="245656"/>
                        <a:pt x="56485" y="278606"/>
                        <a:pt x="128588" y="278606"/>
                      </a:cubicBezTo>
                      <a:cubicBezTo>
                        <a:pt x="200690" y="278606"/>
                        <a:pt x="257175" y="245656"/>
                        <a:pt x="257175" y="203597"/>
                      </a:cubicBezTo>
                      <a:lnTo>
                        <a:pt x="257175" y="75009"/>
                      </a:lnTo>
                      <a:cubicBezTo>
                        <a:pt x="257175" y="32951"/>
                        <a:pt x="200690" y="0"/>
                        <a:pt x="128588" y="0"/>
                      </a:cubicBezTo>
                      <a:close/>
                      <a:moveTo>
                        <a:pt x="235744" y="139303"/>
                      </a:moveTo>
                      <a:cubicBezTo>
                        <a:pt x="235744" y="152189"/>
                        <a:pt x="225189" y="165329"/>
                        <a:pt x="206798" y="175361"/>
                      </a:cubicBezTo>
                      <a:cubicBezTo>
                        <a:pt x="186090" y="186653"/>
                        <a:pt x="158310" y="192881"/>
                        <a:pt x="128588" y="192881"/>
                      </a:cubicBezTo>
                      <a:cubicBezTo>
                        <a:pt x="98865" y="192881"/>
                        <a:pt x="71085" y="186653"/>
                        <a:pt x="50377" y="175361"/>
                      </a:cubicBezTo>
                      <a:cubicBezTo>
                        <a:pt x="31986" y="165329"/>
                        <a:pt x="21431" y="152189"/>
                        <a:pt x="21431" y="139303"/>
                      </a:cubicBezTo>
                      <a:lnTo>
                        <a:pt x="21431" y="117015"/>
                      </a:lnTo>
                      <a:cubicBezTo>
                        <a:pt x="44282" y="137106"/>
                        <a:pt x="83354" y="150019"/>
                        <a:pt x="128588" y="150019"/>
                      </a:cubicBezTo>
                      <a:cubicBezTo>
                        <a:pt x="173821" y="150019"/>
                        <a:pt x="212893" y="137053"/>
                        <a:pt x="235744" y="117015"/>
                      </a:cubicBezTo>
                      <a:close/>
                      <a:moveTo>
                        <a:pt x="50377" y="38951"/>
                      </a:moveTo>
                      <a:cubicBezTo>
                        <a:pt x="71085" y="27660"/>
                        <a:pt x="98865" y="21431"/>
                        <a:pt x="128588" y="21431"/>
                      </a:cubicBezTo>
                      <a:cubicBezTo>
                        <a:pt x="158310" y="21431"/>
                        <a:pt x="186090" y="27660"/>
                        <a:pt x="206798" y="38951"/>
                      </a:cubicBezTo>
                      <a:cubicBezTo>
                        <a:pt x="225189" y="48984"/>
                        <a:pt x="235744" y="62124"/>
                        <a:pt x="235744" y="75009"/>
                      </a:cubicBezTo>
                      <a:cubicBezTo>
                        <a:pt x="235744" y="87895"/>
                        <a:pt x="225189" y="101035"/>
                        <a:pt x="206798" y="111067"/>
                      </a:cubicBezTo>
                      <a:cubicBezTo>
                        <a:pt x="186090" y="122359"/>
                        <a:pt x="158310" y="128588"/>
                        <a:pt x="128588" y="128588"/>
                      </a:cubicBezTo>
                      <a:cubicBezTo>
                        <a:pt x="98865" y="128588"/>
                        <a:pt x="71085" y="122359"/>
                        <a:pt x="50377" y="111067"/>
                      </a:cubicBezTo>
                      <a:cubicBezTo>
                        <a:pt x="31986" y="101035"/>
                        <a:pt x="21431" y="87895"/>
                        <a:pt x="21431" y="75009"/>
                      </a:cubicBezTo>
                      <a:cubicBezTo>
                        <a:pt x="21431" y="62124"/>
                        <a:pt x="31986" y="48984"/>
                        <a:pt x="50377" y="38951"/>
                      </a:cubicBezTo>
                      <a:close/>
                      <a:moveTo>
                        <a:pt x="206798" y="239655"/>
                      </a:moveTo>
                      <a:cubicBezTo>
                        <a:pt x="186090" y="250947"/>
                        <a:pt x="158310" y="257175"/>
                        <a:pt x="128588" y="257175"/>
                      </a:cubicBezTo>
                      <a:cubicBezTo>
                        <a:pt x="98865" y="257175"/>
                        <a:pt x="71085" y="250947"/>
                        <a:pt x="50377" y="239655"/>
                      </a:cubicBezTo>
                      <a:cubicBezTo>
                        <a:pt x="31986" y="229622"/>
                        <a:pt x="21431" y="216482"/>
                        <a:pt x="21431" y="203597"/>
                      </a:cubicBezTo>
                      <a:lnTo>
                        <a:pt x="21431" y="181308"/>
                      </a:lnTo>
                      <a:cubicBezTo>
                        <a:pt x="44282" y="201400"/>
                        <a:pt x="83354" y="214312"/>
                        <a:pt x="128588" y="214312"/>
                      </a:cubicBezTo>
                      <a:cubicBezTo>
                        <a:pt x="173821" y="214312"/>
                        <a:pt x="212893" y="201347"/>
                        <a:pt x="235744" y="181308"/>
                      </a:cubicBezTo>
                      <a:lnTo>
                        <a:pt x="235744" y="203597"/>
                      </a:lnTo>
                      <a:cubicBezTo>
                        <a:pt x="235744" y="216482"/>
                        <a:pt x="225189" y="229622"/>
                        <a:pt x="206798" y="239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10608564" y="31661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私有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457345" y="3432810"/>
                <a:ext cx="6689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Runtime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504360" y="3998595"/>
                <a:ext cx="57492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7EFF8"/>
                    </a:solidFill>
                    <a:latin typeface="Segoe UI"/>
                    <a:ea typeface="Microsoft YaHei"/>
                    <a:cs typeface="Segoe UI"/>
                  </a:rPr>
                  <a:t>metadata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704850" y="5562600"/>
            <a:ext cx="10782300" cy="514350"/>
            <a:chOff x="704850" y="5562600"/>
            <a:chExt cx="10782300" cy="514350"/>
          </a:xfrm>
        </p:grpSpPr>
        <p:sp>
          <p:nvSpPr>
            <p:cNvPr id="60" name="Rectangle 60"/>
            <p:cNvSpPr/>
            <p:nvPr/>
          </p:nvSpPr>
          <p:spPr>
            <a:xfrm>
              <a:off x="704850" y="5562600"/>
              <a:ext cx="10782300" cy="514350"/>
            </a:xfrm>
            <a:prstGeom prst="roundRect">
              <a:avLst>
                <a:gd name="adj" fmla="val 18519"/>
              </a:avLst>
            </a:prstGeom>
            <a:solidFill>
              <a:srgbClr val="FFF6E5"/>
            </a:solidFill>
            <a:ln w="9525">
              <a:solidFill>
                <a:srgbClr val="E9A23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8208" y="57488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升级影响：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36408" y="5748814"/>
              <a:ext cx="81253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后续跟随上游时，必须先识别 import-time patch 的作用域，否则很容易把行为变化误判为单点代码差异。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23875" y="6396038"/>
            <a:ext cx="11144250" cy="152400"/>
            <a:chOff x="523875" y="6396038"/>
            <a:chExt cx="11144250" cy="152400"/>
          </a:xfrm>
        </p:grpSpPr>
        <p:sp>
          <p:nvSpPr>
            <p:cNvPr id="64" name="TextBox 64"/>
            <p:cNvSpPr txBox="1"/>
            <p:nvPr/>
          </p:nvSpPr>
          <p:spPr>
            <a:xfrm>
              <a:off x="523875" y="6396038"/>
              <a:ext cx="20943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 0 effective path overview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39061" y="639603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8159572" cy="663892"/>
            <a:chOff x="502920" y="331470"/>
            <a:chExt cx="8159572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815957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四个阶段的差异性质不同，不能用一个“后端适配”概括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61874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这页用于建立全局地图：哪些是功能覆盖策略，哪些是代码生成协议，哪些已进入运行时决策系统。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28650" y="1421350"/>
            <a:ext cx="10972800" cy="4171951"/>
            <a:chOff x="628650" y="1390649"/>
            <a:chExt cx="10972800" cy="4171951"/>
          </a:xfrm>
        </p:grpSpPr>
        <p:grpSp>
          <p:nvGrpSpPr>
            <p:cNvPr id="20" name="Group 20"/>
            <p:cNvGrpSpPr/>
            <p:nvPr/>
          </p:nvGrpSpPr>
          <p:grpSpPr>
            <a:xfrm>
              <a:off x="628650" y="1390649"/>
              <a:ext cx="2571750" cy="4171951"/>
              <a:chOff x="628650" y="1390649"/>
              <a:chExt cx="2571750" cy="4171951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28650" y="1390650"/>
                <a:ext cx="2571750" cy="41719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28650" y="1390649"/>
                <a:ext cx="2571750" cy="1043731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71550">
                    <a:moveTo>
                      <a:pt x="95250" y="0"/>
                    </a:moveTo>
                    <a:lnTo>
                      <a:pt x="2476500" y="0"/>
                    </a:lnTo>
                    <a:cubicBezTo>
                      <a:pt x="2529105" y="0"/>
                      <a:pt x="2571750" y="42645"/>
                      <a:pt x="2571750" y="95250"/>
                    </a:cubicBezTo>
                    <a:lnTo>
                      <a:pt x="2571750" y="971550"/>
                    </a:lnTo>
                    <a:lnTo>
                      <a:pt x="0" y="971550"/>
                    </a:ln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7EFF8"/>
              </a:solidFill>
              <a:ln>
                <a:noFill/>
              </a:ln>
            </p:spPr>
            <p:txBody>
              <a:bodyPr/>
              <a:lstStyle/>
              <a:p>
                <a:endParaRPr lang="en-CN" dirty="0"/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1754192" y="1693192"/>
                <a:ext cx="331783" cy="345130"/>
                <a:chOff x="1754192" y="1693192"/>
                <a:chExt cx="331783" cy="34513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985962" y="17097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85725" y="42862"/>
                      </a:moveTo>
                      <a:cubicBezTo>
                        <a:pt x="85725" y="66535"/>
                        <a:pt x="66535" y="85725"/>
                        <a:pt x="42862" y="85725"/>
                      </a:cubicBezTo>
                      <a:cubicBezTo>
                        <a:pt x="19190" y="85725"/>
                        <a:pt x="0" y="66535"/>
                        <a:pt x="0" y="42862"/>
                      </a:cubicBezTo>
                      <a:cubicBezTo>
                        <a:pt x="0" y="19190"/>
                        <a:pt x="19190" y="0"/>
                        <a:pt x="42862" y="0"/>
                      </a:cubicBezTo>
                      <a:cubicBezTo>
                        <a:pt x="66535" y="0"/>
                        <a:pt x="85725" y="19190"/>
                        <a:pt x="85725" y="42862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754192" y="1693192"/>
                  <a:ext cx="331783" cy="345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783" h="345130">
                      <a:moveTo>
                        <a:pt x="331783" y="59408"/>
                      </a:moveTo>
                      <a:cubicBezTo>
                        <a:pt x="331768" y="29713"/>
                        <a:pt x="309013" y="4977"/>
                        <a:pt x="279422" y="2488"/>
                      </a:cubicBezTo>
                      <a:cubicBezTo>
                        <a:pt x="249831" y="0"/>
                        <a:pt x="223264" y="20589"/>
                        <a:pt x="218291" y="49865"/>
                      </a:cubicBezTo>
                      <a:cubicBezTo>
                        <a:pt x="213317" y="79141"/>
                        <a:pt x="231593" y="107349"/>
                        <a:pt x="260346" y="114773"/>
                      </a:cubicBezTo>
                      <a:lnTo>
                        <a:pt x="260346" y="130846"/>
                      </a:lnTo>
                      <a:cubicBezTo>
                        <a:pt x="260346" y="146627"/>
                        <a:pt x="247552" y="159421"/>
                        <a:pt x="231771" y="159421"/>
                      </a:cubicBezTo>
                      <a:lnTo>
                        <a:pt x="103183" y="159421"/>
                      </a:lnTo>
                      <a:cubicBezTo>
                        <a:pt x="93144" y="159409"/>
                        <a:pt x="83283" y="162065"/>
                        <a:pt x="74608" y="167118"/>
                      </a:cubicBezTo>
                      <a:lnTo>
                        <a:pt x="74608" y="114773"/>
                      </a:lnTo>
                      <a:cubicBezTo>
                        <a:pt x="102473" y="107578"/>
                        <a:pt x="120642" y="80786"/>
                        <a:pt x="117015" y="52236"/>
                      </a:cubicBezTo>
                      <a:cubicBezTo>
                        <a:pt x="113389" y="23687"/>
                        <a:pt x="89100" y="2287"/>
                        <a:pt x="60321" y="2287"/>
                      </a:cubicBezTo>
                      <a:cubicBezTo>
                        <a:pt x="31542" y="2287"/>
                        <a:pt x="7253" y="23687"/>
                        <a:pt x="3626" y="52236"/>
                      </a:cubicBezTo>
                      <a:cubicBezTo>
                        <a:pt x="0" y="80786"/>
                        <a:pt x="18168" y="107578"/>
                        <a:pt x="46033" y="114773"/>
                      </a:cubicBezTo>
                      <a:lnTo>
                        <a:pt x="46033" y="232644"/>
                      </a:lnTo>
                      <a:cubicBezTo>
                        <a:pt x="18168" y="239839"/>
                        <a:pt x="0" y="266631"/>
                        <a:pt x="3626" y="295181"/>
                      </a:cubicBezTo>
                      <a:cubicBezTo>
                        <a:pt x="7253" y="323730"/>
                        <a:pt x="31542" y="345130"/>
                        <a:pt x="60321" y="345130"/>
                      </a:cubicBezTo>
                      <a:cubicBezTo>
                        <a:pt x="89100" y="345130"/>
                        <a:pt x="113389" y="323730"/>
                        <a:pt x="117015" y="295181"/>
                      </a:cubicBezTo>
                      <a:cubicBezTo>
                        <a:pt x="120642" y="266631"/>
                        <a:pt x="102473" y="239839"/>
                        <a:pt x="74608" y="232644"/>
                      </a:cubicBezTo>
                      <a:lnTo>
                        <a:pt x="74608" y="216571"/>
                      </a:lnTo>
                      <a:cubicBezTo>
                        <a:pt x="74608" y="200789"/>
                        <a:pt x="87402" y="187996"/>
                        <a:pt x="103183" y="187996"/>
                      </a:cubicBezTo>
                      <a:lnTo>
                        <a:pt x="231771" y="187996"/>
                      </a:lnTo>
                      <a:cubicBezTo>
                        <a:pt x="263334" y="187996"/>
                        <a:pt x="288921" y="162409"/>
                        <a:pt x="288921" y="130846"/>
                      </a:cubicBezTo>
                      <a:lnTo>
                        <a:pt x="288921" y="114773"/>
                      </a:lnTo>
                      <a:cubicBezTo>
                        <a:pt x="314142" y="108221"/>
                        <a:pt x="331759" y="85467"/>
                        <a:pt x="331783" y="59408"/>
                      </a:cubicBezTo>
                      <a:close/>
                      <a:moveTo>
                        <a:pt x="31746" y="59408"/>
                      </a:moveTo>
                      <a:cubicBezTo>
                        <a:pt x="31746" y="43627"/>
                        <a:pt x="44539" y="30833"/>
                        <a:pt x="60321" y="30833"/>
                      </a:cubicBezTo>
                      <a:cubicBezTo>
                        <a:pt x="76102" y="30833"/>
                        <a:pt x="88896" y="43627"/>
                        <a:pt x="88896" y="59408"/>
                      </a:cubicBezTo>
                      <a:cubicBezTo>
                        <a:pt x="88896" y="75190"/>
                        <a:pt x="76102" y="87983"/>
                        <a:pt x="60321" y="87983"/>
                      </a:cubicBezTo>
                      <a:cubicBezTo>
                        <a:pt x="44539" y="87983"/>
                        <a:pt x="31746" y="75190"/>
                        <a:pt x="31746" y="59408"/>
                      </a:cubicBezTo>
                      <a:close/>
                      <a:moveTo>
                        <a:pt x="88896" y="288008"/>
                      </a:moveTo>
                      <a:cubicBezTo>
                        <a:pt x="88896" y="303790"/>
                        <a:pt x="76102" y="316583"/>
                        <a:pt x="60321" y="316583"/>
                      </a:cubicBezTo>
                      <a:cubicBezTo>
                        <a:pt x="44539" y="316583"/>
                        <a:pt x="31746" y="303790"/>
                        <a:pt x="31746" y="288008"/>
                      </a:cubicBezTo>
                      <a:cubicBezTo>
                        <a:pt x="31746" y="272227"/>
                        <a:pt x="44539" y="259433"/>
                        <a:pt x="60321" y="259433"/>
                      </a:cubicBezTo>
                      <a:cubicBezTo>
                        <a:pt x="76102" y="259433"/>
                        <a:pt x="88896" y="272227"/>
                        <a:pt x="88896" y="288008"/>
                      </a:cubicBezTo>
                      <a:close/>
                      <a:moveTo>
                        <a:pt x="274633" y="87983"/>
                      </a:moveTo>
                      <a:cubicBezTo>
                        <a:pt x="258852" y="87983"/>
                        <a:pt x="246058" y="75190"/>
                        <a:pt x="246058" y="59408"/>
                      </a:cubicBezTo>
                      <a:cubicBezTo>
                        <a:pt x="246058" y="43627"/>
                        <a:pt x="258852" y="30833"/>
                        <a:pt x="274633" y="30833"/>
                      </a:cubicBezTo>
                      <a:cubicBezTo>
                        <a:pt x="290415" y="30833"/>
                        <a:pt x="303208" y="43627"/>
                        <a:pt x="303208" y="59408"/>
                      </a:cubicBezTo>
                      <a:cubicBezTo>
                        <a:pt x="303208" y="75190"/>
                        <a:pt x="290415" y="87983"/>
                        <a:pt x="274633" y="87983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438668" y="2181225"/>
                <a:ext cx="9517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Lowering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9158" y="27579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更早分流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82015" y="3125152"/>
                <a:ext cx="2132838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fallback 被当成一等设计手段，覆盖面直接影响性能稳定性。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9158" y="3653314"/>
                <a:ext cx="77325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模板化 IR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2016" y="4020502"/>
                <a:ext cx="2030518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gather / scatter / index 类访存提前进入 NPU 自定义路径。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895350" y="4876800"/>
                <a:ext cx="11239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6E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93864" y="497014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性能波动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429000" y="1390650"/>
              <a:ext cx="2571750" cy="4171950"/>
              <a:chOff x="3429000" y="1390650"/>
              <a:chExt cx="2571750" cy="41719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429000" y="1390650"/>
                <a:ext cx="2571750" cy="41719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429000" y="1390650"/>
                <a:ext cx="2571750" cy="104373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71550">
                    <a:moveTo>
                      <a:pt x="95250" y="0"/>
                    </a:moveTo>
                    <a:lnTo>
                      <a:pt x="2476500" y="0"/>
                    </a:lnTo>
                    <a:cubicBezTo>
                      <a:pt x="2529105" y="0"/>
                      <a:pt x="2571750" y="42645"/>
                      <a:pt x="2571750" y="95250"/>
                    </a:cubicBezTo>
                    <a:lnTo>
                      <a:pt x="2571750" y="971550"/>
                    </a:lnTo>
                    <a:lnTo>
                      <a:pt x="0" y="971550"/>
                    </a:ln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7F5F2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500186" y="1708334"/>
                <a:ext cx="429013" cy="318836"/>
                <a:chOff x="4500186" y="1708334"/>
                <a:chExt cx="429013" cy="318836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14850" y="18954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57150"/>
                      </a:moveTo>
                      <a:cubicBezTo>
                        <a:pt x="114300" y="88713"/>
                        <a:pt x="88713" y="114300"/>
                        <a:pt x="57150" y="114300"/>
                      </a:cubicBezTo>
                      <a:cubicBezTo>
                        <a:pt x="25587" y="114300"/>
                        <a:pt x="0" y="88713"/>
                        <a:pt x="0" y="57150"/>
                      </a:cubicBezTo>
                      <a:cubicBezTo>
                        <a:pt x="0" y="25587"/>
                        <a:pt x="25587" y="0"/>
                        <a:pt x="57150" y="0"/>
                      </a:cubicBezTo>
                      <a:cubicBezTo>
                        <a:pt x="88713" y="0"/>
                        <a:pt x="114300" y="25587"/>
                        <a:pt x="114300" y="57150"/>
                      </a:cubicBez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00186" y="1708334"/>
                  <a:ext cx="429013" cy="318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013" h="318836">
                      <a:moveTo>
                        <a:pt x="424822" y="62733"/>
                      </a:moveTo>
                      <a:lnTo>
                        <a:pt x="367672" y="5583"/>
                      </a:lnTo>
                      <a:cubicBezTo>
                        <a:pt x="362089" y="0"/>
                        <a:pt x="353038" y="0"/>
                        <a:pt x="347455" y="5583"/>
                      </a:cubicBezTo>
                      <a:cubicBezTo>
                        <a:pt x="341873" y="11165"/>
                        <a:pt x="341873" y="20217"/>
                        <a:pt x="347455" y="25800"/>
                      </a:cubicBezTo>
                      <a:lnTo>
                        <a:pt x="380227" y="58554"/>
                      </a:lnTo>
                      <a:lnTo>
                        <a:pt x="328989" y="58554"/>
                      </a:lnTo>
                      <a:cubicBezTo>
                        <a:pt x="311485" y="59188"/>
                        <a:pt x="294279" y="63273"/>
                        <a:pt x="278357" y="70573"/>
                      </a:cubicBezTo>
                      <a:cubicBezTo>
                        <a:pt x="254033" y="81807"/>
                        <a:pt x="223297" y="105774"/>
                        <a:pt x="214885" y="156298"/>
                      </a:cubicBezTo>
                      <a:cubicBezTo>
                        <a:pt x="205384" y="213323"/>
                        <a:pt x="162914" y="226342"/>
                        <a:pt x="141662" y="229271"/>
                      </a:cubicBezTo>
                      <a:cubicBezTo>
                        <a:pt x="133899" y="193440"/>
                        <a:pt x="100272" y="169301"/>
                        <a:pt x="63840" y="173409"/>
                      </a:cubicBezTo>
                      <a:cubicBezTo>
                        <a:pt x="27408" y="177517"/>
                        <a:pt x="0" y="208537"/>
                        <a:pt x="411" y="245197"/>
                      </a:cubicBezTo>
                      <a:cubicBezTo>
                        <a:pt x="822" y="281858"/>
                        <a:pt x="28918" y="312256"/>
                        <a:pt x="65433" y="315546"/>
                      </a:cubicBezTo>
                      <a:cubicBezTo>
                        <a:pt x="101948" y="318836"/>
                        <a:pt x="135026" y="293950"/>
                        <a:pt x="141983" y="257954"/>
                      </a:cubicBezTo>
                      <a:cubicBezTo>
                        <a:pt x="154828" y="256489"/>
                        <a:pt x="167377" y="253087"/>
                        <a:pt x="179202" y="247863"/>
                      </a:cubicBezTo>
                      <a:cubicBezTo>
                        <a:pt x="203527" y="237147"/>
                        <a:pt x="234334" y="213216"/>
                        <a:pt x="243067" y="160906"/>
                      </a:cubicBezTo>
                      <a:cubicBezTo>
                        <a:pt x="255140" y="88504"/>
                        <a:pt x="326024" y="87129"/>
                        <a:pt x="328989" y="87129"/>
                      </a:cubicBezTo>
                      <a:lnTo>
                        <a:pt x="380227" y="87129"/>
                      </a:lnTo>
                      <a:lnTo>
                        <a:pt x="347455" y="119883"/>
                      </a:lnTo>
                      <a:cubicBezTo>
                        <a:pt x="341873" y="125465"/>
                        <a:pt x="341873" y="134517"/>
                        <a:pt x="347455" y="140100"/>
                      </a:cubicBezTo>
                      <a:cubicBezTo>
                        <a:pt x="353038" y="145682"/>
                        <a:pt x="362089" y="145682"/>
                        <a:pt x="367672" y="140100"/>
                      </a:cubicBezTo>
                      <a:lnTo>
                        <a:pt x="424822" y="82950"/>
                      </a:lnTo>
                      <a:cubicBezTo>
                        <a:pt x="427505" y="80270"/>
                        <a:pt x="429013" y="76633"/>
                        <a:pt x="429013" y="72841"/>
                      </a:cubicBezTo>
                      <a:cubicBezTo>
                        <a:pt x="429013" y="69049"/>
                        <a:pt x="427505" y="65413"/>
                        <a:pt x="424822" y="62733"/>
                      </a:cubicBezTo>
                      <a:close/>
                      <a:moveTo>
                        <a:pt x="71814" y="287154"/>
                      </a:moveTo>
                      <a:cubicBezTo>
                        <a:pt x="48141" y="287154"/>
                        <a:pt x="28951" y="267963"/>
                        <a:pt x="28951" y="244291"/>
                      </a:cubicBezTo>
                      <a:cubicBezTo>
                        <a:pt x="28951" y="220619"/>
                        <a:pt x="48141" y="201429"/>
                        <a:pt x="71814" y="201429"/>
                      </a:cubicBezTo>
                      <a:cubicBezTo>
                        <a:pt x="95486" y="201429"/>
                        <a:pt x="114676" y="220619"/>
                        <a:pt x="114676" y="244291"/>
                      </a:cubicBezTo>
                      <a:cubicBezTo>
                        <a:pt x="114676" y="267963"/>
                        <a:pt x="95486" y="287154"/>
                        <a:pt x="71814" y="287154"/>
                      </a:cubicBez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4170759" y="21812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Scheduling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79508" y="2757964"/>
                <a:ext cx="93392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保轴 group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682366" y="3125152"/>
                <a:ext cx="2209800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NPUTritonScheduling.group_fn 保留轴结构，支撑后续 split/tiling。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679508" y="3653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融合前提变了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682365" y="4020502"/>
                <a:ext cx="2209800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can_fuse 文本接近上游，但 reduction 兼容性与 tiling 约束不同。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695700" y="4876800"/>
                <a:ext cx="1219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7F5F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887469" y="4970145"/>
                <a:ext cx="8356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必要 override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29350" y="1390650"/>
              <a:ext cx="2571750" cy="4171950"/>
              <a:chOff x="6229350" y="1390650"/>
              <a:chExt cx="2571750" cy="41719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229350" y="1390650"/>
                <a:ext cx="2571750" cy="41719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229350" y="1390650"/>
                <a:ext cx="2571750" cy="104373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71550">
                    <a:moveTo>
                      <a:pt x="95250" y="0"/>
                    </a:moveTo>
                    <a:lnTo>
                      <a:pt x="2476500" y="0"/>
                    </a:lnTo>
                    <a:cubicBezTo>
                      <a:pt x="2529105" y="0"/>
                      <a:pt x="2571750" y="42645"/>
                      <a:pt x="2571750" y="95250"/>
                    </a:cubicBezTo>
                    <a:lnTo>
                      <a:pt x="2571750" y="971550"/>
                    </a:lnTo>
                    <a:lnTo>
                      <a:pt x="0" y="971550"/>
                    </a:ln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6E5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329476" y="1679759"/>
                <a:ext cx="342911" cy="344304"/>
                <a:chOff x="7329476" y="1679759"/>
                <a:chExt cx="342911" cy="344304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7372350" y="1724025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285750" y="14288"/>
                      </a:moveTo>
                      <a:lnTo>
                        <a:pt x="285750" y="271462"/>
                      </a:lnTo>
                      <a:cubicBezTo>
                        <a:pt x="285750" y="279353"/>
                        <a:pt x="279353" y="285750"/>
                        <a:pt x="271462" y="285750"/>
                      </a:cubicBezTo>
                      <a:lnTo>
                        <a:pt x="14288" y="285750"/>
                      </a:lnTo>
                      <a:cubicBezTo>
                        <a:pt x="6397" y="285750"/>
                        <a:pt x="0" y="279353"/>
                        <a:pt x="0" y="271462"/>
                      </a:cubicBez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271462" y="0"/>
                      </a:lnTo>
                      <a:cubicBezTo>
                        <a:pt x="279353" y="0"/>
                        <a:pt x="285750" y="6397"/>
                        <a:pt x="285750" y="14288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329476" y="1679759"/>
                  <a:ext cx="342911" cy="344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11" h="344304">
                      <a:moveTo>
                        <a:pt x="61340" y="140100"/>
                      </a:moveTo>
                      <a:lnTo>
                        <a:pt x="4190" y="82950"/>
                      </a:lnTo>
                      <a:cubicBezTo>
                        <a:pt x="1507" y="80270"/>
                        <a:pt x="0" y="76633"/>
                        <a:pt x="0" y="72841"/>
                      </a:cubicBezTo>
                      <a:cubicBezTo>
                        <a:pt x="0" y="69049"/>
                        <a:pt x="1507" y="65413"/>
                        <a:pt x="4190" y="62733"/>
                      </a:cubicBezTo>
                      <a:lnTo>
                        <a:pt x="61340" y="5583"/>
                      </a:lnTo>
                      <a:cubicBezTo>
                        <a:pt x="66923" y="0"/>
                        <a:pt x="75974" y="0"/>
                        <a:pt x="81557" y="5583"/>
                      </a:cubicBezTo>
                      <a:cubicBezTo>
                        <a:pt x="87140" y="11165"/>
                        <a:pt x="87140" y="20217"/>
                        <a:pt x="81557" y="25800"/>
                      </a:cubicBezTo>
                      <a:lnTo>
                        <a:pt x="34498" y="72841"/>
                      </a:lnTo>
                      <a:lnTo>
                        <a:pt x="81557" y="119883"/>
                      </a:lnTo>
                      <a:cubicBezTo>
                        <a:pt x="87140" y="125465"/>
                        <a:pt x="87140" y="134517"/>
                        <a:pt x="81557" y="140100"/>
                      </a:cubicBezTo>
                      <a:cubicBezTo>
                        <a:pt x="75974" y="145682"/>
                        <a:pt x="66923" y="145682"/>
                        <a:pt x="61340" y="140100"/>
                      </a:cubicBezTo>
                      <a:close/>
                      <a:moveTo>
                        <a:pt x="132778" y="140100"/>
                      </a:moveTo>
                      <a:cubicBezTo>
                        <a:pt x="135458" y="142782"/>
                        <a:pt x="139094" y="144290"/>
                        <a:pt x="142886" y="144290"/>
                      </a:cubicBezTo>
                      <a:cubicBezTo>
                        <a:pt x="146678" y="144290"/>
                        <a:pt x="150315" y="142782"/>
                        <a:pt x="152995" y="140100"/>
                      </a:cubicBezTo>
                      <a:lnTo>
                        <a:pt x="210145" y="82950"/>
                      </a:lnTo>
                      <a:cubicBezTo>
                        <a:pt x="212828" y="80270"/>
                        <a:pt x="214335" y="76633"/>
                        <a:pt x="214335" y="72841"/>
                      </a:cubicBezTo>
                      <a:cubicBezTo>
                        <a:pt x="214335" y="69049"/>
                        <a:pt x="212828" y="65413"/>
                        <a:pt x="210145" y="62733"/>
                      </a:cubicBezTo>
                      <a:lnTo>
                        <a:pt x="152995" y="5583"/>
                      </a:lnTo>
                      <a:cubicBezTo>
                        <a:pt x="147412" y="0"/>
                        <a:pt x="138361" y="0"/>
                        <a:pt x="132778" y="5583"/>
                      </a:cubicBezTo>
                      <a:cubicBezTo>
                        <a:pt x="127195" y="11165"/>
                        <a:pt x="127195" y="20217"/>
                        <a:pt x="132778" y="25800"/>
                      </a:cubicBezTo>
                      <a:lnTo>
                        <a:pt x="179837" y="72841"/>
                      </a:lnTo>
                      <a:lnTo>
                        <a:pt x="132778" y="119883"/>
                      </a:lnTo>
                      <a:cubicBezTo>
                        <a:pt x="130095" y="122563"/>
                        <a:pt x="128588" y="126199"/>
                        <a:pt x="128588" y="129991"/>
                      </a:cubicBezTo>
                      <a:cubicBezTo>
                        <a:pt x="128588" y="133783"/>
                        <a:pt x="130095" y="137420"/>
                        <a:pt x="132778" y="140100"/>
                      </a:cubicBezTo>
                      <a:close/>
                      <a:moveTo>
                        <a:pt x="314336" y="29979"/>
                      </a:moveTo>
                      <a:lnTo>
                        <a:pt x="271474" y="29979"/>
                      </a:lnTo>
                      <a:cubicBezTo>
                        <a:pt x="263583" y="29979"/>
                        <a:pt x="257186" y="36375"/>
                        <a:pt x="257186" y="44266"/>
                      </a:cubicBezTo>
                      <a:cubicBezTo>
                        <a:pt x="257186" y="52157"/>
                        <a:pt x="263583" y="58554"/>
                        <a:pt x="271474" y="58554"/>
                      </a:cubicBezTo>
                      <a:lnTo>
                        <a:pt x="314336" y="58554"/>
                      </a:lnTo>
                      <a:lnTo>
                        <a:pt x="314336" y="315729"/>
                      </a:lnTo>
                      <a:lnTo>
                        <a:pt x="57161" y="315729"/>
                      </a:lnTo>
                      <a:lnTo>
                        <a:pt x="57161" y="201429"/>
                      </a:lnTo>
                      <a:cubicBezTo>
                        <a:pt x="57161" y="193538"/>
                        <a:pt x="50765" y="187141"/>
                        <a:pt x="42874" y="187141"/>
                      </a:cubicBezTo>
                      <a:cubicBezTo>
                        <a:pt x="34983" y="187141"/>
                        <a:pt x="28586" y="193538"/>
                        <a:pt x="28586" y="201429"/>
                      </a:cubicBezTo>
                      <a:lnTo>
                        <a:pt x="28586" y="315729"/>
                      </a:lnTo>
                      <a:cubicBezTo>
                        <a:pt x="28586" y="331510"/>
                        <a:pt x="41380" y="344304"/>
                        <a:pt x="57161" y="344304"/>
                      </a:cubicBezTo>
                      <a:lnTo>
                        <a:pt x="314336" y="344304"/>
                      </a:lnTo>
                      <a:cubicBezTo>
                        <a:pt x="330118" y="344304"/>
                        <a:pt x="342911" y="331510"/>
                        <a:pt x="342911" y="315729"/>
                      </a:cubicBezTo>
                      <a:lnTo>
                        <a:pt x="342911" y="58554"/>
                      </a:lnTo>
                      <a:cubicBezTo>
                        <a:pt x="342911" y="42772"/>
                        <a:pt x="330118" y="29979"/>
                        <a:pt x="314336" y="29979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091874" y="2181225"/>
                <a:ext cx="8467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Codegen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79858" y="27579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坐标系重构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82715" y="3125152"/>
                <a:ext cx="2179777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NPUIndexTritonKernel 重写轴选择、indexing 和 body emission。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79858" y="3653314"/>
                <a:ext cx="6929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私有 ABI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82715" y="4020502"/>
                <a:ext cx="2179777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split_axis / tiling_axis / no_loop_axis 写入 inductor_meta。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496050" y="4876800"/>
                <a:ext cx="13144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6E5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826806" y="49701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最大风险点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9029700" y="1390650"/>
              <a:ext cx="2571750" cy="4171950"/>
              <a:chOff x="9029700" y="1390650"/>
              <a:chExt cx="2571750" cy="41719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029700" y="1390650"/>
                <a:ext cx="2571750" cy="41719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029700" y="1390650"/>
                <a:ext cx="2571750" cy="104373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71550">
                    <a:moveTo>
                      <a:pt x="95250" y="0"/>
                    </a:moveTo>
                    <a:lnTo>
                      <a:pt x="2476500" y="0"/>
                    </a:lnTo>
                    <a:cubicBezTo>
                      <a:pt x="2529105" y="0"/>
                      <a:pt x="2571750" y="42645"/>
                      <a:pt x="2571750" y="95250"/>
                    </a:cubicBezTo>
                    <a:lnTo>
                      <a:pt x="2571750" y="971550"/>
                    </a:lnTo>
                    <a:lnTo>
                      <a:pt x="0" y="971550"/>
                    </a:ln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7EFF8"/>
              </a:solidFill>
              <a:ln>
                <a:noFill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10127764" y="1709673"/>
                <a:ext cx="375722" cy="344561"/>
                <a:chOff x="10127764" y="1709673"/>
                <a:chExt cx="375722" cy="344561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10143098" y="1724025"/>
                  <a:ext cx="344954" cy="315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954" h="315095">
                      <a:moveTo>
                        <a:pt x="340177" y="23896"/>
                      </a:moveTo>
                      <a:lnTo>
                        <a:pt x="219197" y="153037"/>
                      </a:lnTo>
                      <a:cubicBezTo>
                        <a:pt x="216718" y="155685"/>
                        <a:pt x="215339" y="159178"/>
                        <a:pt x="215340" y="162806"/>
                      </a:cubicBezTo>
                      <a:lnTo>
                        <a:pt x="215340" y="261908"/>
                      </a:lnTo>
                      <a:cubicBezTo>
                        <a:pt x="215343" y="266686"/>
                        <a:pt x="212957" y="271150"/>
                        <a:pt x="208982" y="273802"/>
                      </a:cubicBezTo>
                      <a:lnTo>
                        <a:pt x="151832" y="311896"/>
                      </a:lnTo>
                      <a:cubicBezTo>
                        <a:pt x="147452" y="314818"/>
                        <a:pt x="141819" y="315095"/>
                        <a:pt x="137174" y="312615"/>
                      </a:cubicBezTo>
                      <a:cubicBezTo>
                        <a:pt x="132529" y="310136"/>
                        <a:pt x="129624" y="305303"/>
                        <a:pt x="129615" y="300038"/>
                      </a:cubicBezTo>
                      <a:lnTo>
                        <a:pt x="129615" y="162806"/>
                      </a:lnTo>
                      <a:cubicBezTo>
                        <a:pt x="129616" y="159178"/>
                        <a:pt x="128237" y="155685"/>
                        <a:pt x="125757" y="153037"/>
                      </a:cubicBezTo>
                      <a:lnTo>
                        <a:pt x="4778" y="23896"/>
                      </a:lnTo>
                      <a:cubicBezTo>
                        <a:pt x="979" y="19716"/>
                        <a:pt x="0" y="13691"/>
                        <a:pt x="2279" y="8523"/>
                      </a:cubicBezTo>
                      <a:cubicBezTo>
                        <a:pt x="4558" y="3355"/>
                        <a:pt x="9667" y="15"/>
                        <a:pt x="15315" y="0"/>
                      </a:cubicBezTo>
                      <a:lnTo>
                        <a:pt x="329640" y="0"/>
                      </a:lnTo>
                      <a:cubicBezTo>
                        <a:pt x="335288" y="15"/>
                        <a:pt x="340397" y="3355"/>
                        <a:pt x="342676" y="8523"/>
                      </a:cubicBezTo>
                      <a:cubicBezTo>
                        <a:pt x="344954" y="13691"/>
                        <a:pt x="343975" y="19716"/>
                        <a:pt x="340177" y="23896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0127764" y="1709673"/>
                  <a:ext cx="375722" cy="3445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722" h="344561">
                      <a:moveTo>
                        <a:pt x="371048" y="17085"/>
                      </a:moveTo>
                      <a:cubicBezTo>
                        <a:pt x="366553" y="6699"/>
                        <a:pt x="356290" y="0"/>
                        <a:pt x="344973" y="65"/>
                      </a:cubicBezTo>
                      <a:lnTo>
                        <a:pt x="30648" y="65"/>
                      </a:lnTo>
                      <a:cubicBezTo>
                        <a:pt x="19349" y="87"/>
                        <a:pt x="9124" y="6765"/>
                        <a:pt x="4562" y="17102"/>
                      </a:cubicBezTo>
                      <a:cubicBezTo>
                        <a:pt x="0" y="27440"/>
                        <a:pt x="1958" y="39494"/>
                        <a:pt x="9556" y="47857"/>
                      </a:cubicBezTo>
                      <a:lnTo>
                        <a:pt x="9699" y="48017"/>
                      </a:lnTo>
                      <a:lnTo>
                        <a:pt x="130661" y="177176"/>
                      </a:lnTo>
                      <a:lnTo>
                        <a:pt x="130661" y="314390"/>
                      </a:lnTo>
                      <a:cubicBezTo>
                        <a:pt x="130658" y="324927"/>
                        <a:pt x="136455" y="334611"/>
                        <a:pt x="145744" y="339586"/>
                      </a:cubicBezTo>
                      <a:cubicBezTo>
                        <a:pt x="155033" y="344561"/>
                        <a:pt x="166307" y="344020"/>
                        <a:pt x="175077" y="338179"/>
                      </a:cubicBezTo>
                      <a:lnTo>
                        <a:pt x="232227" y="300067"/>
                      </a:lnTo>
                      <a:cubicBezTo>
                        <a:pt x="240184" y="294767"/>
                        <a:pt x="244963" y="285838"/>
                        <a:pt x="244961" y="276278"/>
                      </a:cubicBezTo>
                      <a:lnTo>
                        <a:pt x="244961" y="177176"/>
                      </a:lnTo>
                      <a:lnTo>
                        <a:pt x="365940" y="48017"/>
                      </a:lnTo>
                      <a:lnTo>
                        <a:pt x="366083" y="47857"/>
                      </a:lnTo>
                      <a:cubicBezTo>
                        <a:pt x="373767" y="39527"/>
                        <a:pt x="375722" y="27408"/>
                        <a:pt x="371048" y="17085"/>
                      </a:cubicBezTo>
                      <a:close/>
                      <a:moveTo>
                        <a:pt x="30648" y="28640"/>
                      </a:moveTo>
                      <a:lnTo>
                        <a:pt x="30648" y="28640"/>
                      </a:lnTo>
                      <a:close/>
                      <a:moveTo>
                        <a:pt x="224137" y="157727"/>
                      </a:moveTo>
                      <a:cubicBezTo>
                        <a:pt x="219173" y="162989"/>
                        <a:pt x="216401" y="169943"/>
                        <a:pt x="216386" y="177176"/>
                      </a:cubicBezTo>
                      <a:lnTo>
                        <a:pt x="216386" y="276278"/>
                      </a:lnTo>
                      <a:lnTo>
                        <a:pt x="159236" y="314390"/>
                      </a:lnTo>
                      <a:lnTo>
                        <a:pt x="159236" y="177176"/>
                      </a:lnTo>
                      <a:cubicBezTo>
                        <a:pt x="159252" y="169918"/>
                        <a:pt x="156492" y="162927"/>
                        <a:pt x="151520" y="157638"/>
                      </a:cubicBezTo>
                      <a:lnTo>
                        <a:pt x="30648" y="28640"/>
                      </a:lnTo>
                      <a:lnTo>
                        <a:pt x="344973" y="28640"/>
                      </a:ln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9834467" y="2181225"/>
                <a:ext cx="9622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Autotune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280208" y="27579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候选空间私有化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283065" y="3125152"/>
                <a:ext cx="2146935" cy="484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TileGenerator 依据 NPU axis metadata 生成候选，而非标准 XBLOCK。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280208" y="365331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运行时决策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283065" y="4020502"/>
                <a:ext cx="2026919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compile resource、batch profiling、grouped dispatch 已进入主链路。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9296400" y="4876800"/>
                <a:ext cx="14097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674781" y="49701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环境依赖强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628650" y="5810250"/>
            <a:ext cx="10972800" cy="400050"/>
            <a:chOff x="628650" y="5810250"/>
            <a:chExt cx="10972800" cy="400050"/>
          </a:xfrm>
        </p:grpSpPr>
        <p:sp>
          <p:nvSpPr>
            <p:cNvPr id="61" name="Rectangle 61"/>
            <p:cNvSpPr/>
            <p:nvPr/>
          </p:nvSpPr>
          <p:spPr>
            <a:xfrm>
              <a:off x="628650" y="5810250"/>
              <a:ext cx="10972800" cy="400050"/>
            </a:xfrm>
            <a:prstGeom prst="roundRect">
              <a:avLst>
                <a:gd name="adj" fmla="val 19048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61060" y="5937885"/>
              <a:ext cx="70873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汇报口径：四个阶段都合理地回应了 Ascend 硬件约束，但工程形态已经需要“升级友好”治理。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23875" y="6396038"/>
            <a:ext cx="11144250" cy="152400"/>
            <a:chOff x="523875" y="6396038"/>
            <a:chExt cx="11144250" cy="152400"/>
          </a:xfrm>
        </p:grpSpPr>
        <p:sp>
          <p:nvSpPr>
            <p:cNvPr id="64" name="TextBox 64"/>
            <p:cNvSpPr txBox="1"/>
            <p:nvPr/>
          </p:nvSpPr>
          <p:spPr>
            <a:xfrm>
              <a:off x="523875" y="6396038"/>
              <a:ext cx="261437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Sections 1-4 stage-level difference summary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39061" y="639603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9201302" cy="663892"/>
            <a:chOff x="502920" y="331470"/>
            <a:chExt cx="9201302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920130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Lowering 的关键问题不是“能不能跑”，而是 IR 形态已经不同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5613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同一个算子在两边经常不再进入同一种 Inductor IR，后续 scheduler 可融合面随之变化。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33400" y="1238250"/>
            <a:ext cx="11125200" cy="4400550"/>
            <a:chOff x="533400" y="1238250"/>
            <a:chExt cx="11125200" cy="4400550"/>
          </a:xfrm>
        </p:grpSpPr>
        <p:sp>
          <p:nvSpPr>
            <p:cNvPr id="8" name="Rectangle 8"/>
            <p:cNvSpPr/>
            <p:nvPr/>
          </p:nvSpPr>
          <p:spPr>
            <a:xfrm>
              <a:off x="533400" y="1238250"/>
              <a:ext cx="11125200" cy="533400"/>
            </a:xfrm>
            <a:prstGeom prst="roundRect">
              <a:avLst>
                <a:gd name="adj" fmla="val 14286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56499" y="1450181"/>
              <a:ext cx="8398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算子 / 机制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09444" y="1450181"/>
              <a:ext cx="15250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社区 PyTorch v2.7.1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44866" y="1450181"/>
              <a:ext cx="17691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pytorch_ascend v2.7.1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76673" y="1450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升级含义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33400" y="1885950"/>
              <a:ext cx="11125200" cy="704850"/>
              <a:chOff x="533400" y="1885950"/>
              <a:chExt cx="111252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1885950"/>
                <a:ext cx="11125200" cy="704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5808" y="2167414"/>
                <a:ext cx="11838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4E79"/>
                    </a:solidFill>
                    <a:latin typeface="Consolas"/>
                    <a:ea typeface="Microsoft YaHei"/>
                    <a:cs typeface="Consolas"/>
                  </a:rPr>
                  <a:t>aten.cumsum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148965" y="20393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非标量优先输出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148965" y="2258378"/>
                <a:ext cx="5307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ir.Scan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06465" y="20393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非标量直接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06465" y="2258378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2410C"/>
                    </a:solidFill>
                    <a:latin typeface="Consolas"/>
                    <a:ea typeface="Microsoft YaHei"/>
                    <a:cs typeface="Consolas"/>
                  </a:rPr>
                  <a:t>fallback_cumsum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40165" y="2039302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功能更稳，但 scan fusion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940165" y="2258378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机会被提前切断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2590800"/>
              <a:ext cx="11125200" cy="704850"/>
              <a:chOff x="533400" y="2590800"/>
              <a:chExt cx="11125200" cy="7048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2590800"/>
                <a:ext cx="11125200" cy="704850"/>
              </a:xfrm>
              <a:prstGeom prst="rect">
                <a:avLst/>
              </a:prstGeom>
              <a:solidFill>
                <a:srgbClr val="F7F8FA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45808" y="2872264"/>
                <a:ext cx="135345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4E79"/>
                    </a:solidFill>
                    <a:latin typeface="Consolas"/>
                    <a:ea typeface="Microsoft YaHei"/>
                    <a:cs typeface="Consolas"/>
                  </a:rPr>
                  <a:t>var / var_mean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148965" y="27441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two-step 或 Welford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148965" y="2963228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按场景选择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06465" y="2744152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固定 two-step sum path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006465" y="2963228"/>
                <a:ext cx="116081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暂不支持 Welford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940165" y="27441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低精度大规约下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40165" y="296322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数值偏离风险更高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3295650"/>
              <a:ext cx="11125200" cy="819150"/>
              <a:chOff x="533400" y="3295650"/>
              <a:chExt cx="11125200" cy="8191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3295650"/>
                <a:ext cx="11125200" cy="8191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5808" y="353901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间接访存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49618" y="3809524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Consolas"/>
                    <a:ea typeface="Microsoft YaHei"/>
                    <a:cs typeface="Consolas"/>
                  </a:rPr>
                  <a:t>embedding / gather / index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148965" y="3506152"/>
                <a:ext cx="16998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通用 pointwise / scatter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148965" y="3725228"/>
                <a:ext cx="15178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依赖 indirect_indexing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06465" y="3506152"/>
                <a:ext cx="25119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转向 index_select / gather_template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06465" y="3725228"/>
                <a:ext cx="19939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indexput / scatter_template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940165" y="35061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硬件适配合理，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940165" y="3725228"/>
                <a:ext cx="1657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但 correctness 长尾更长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33400" y="4114800"/>
              <a:ext cx="11125200" cy="704850"/>
              <a:chOff x="533400" y="4114800"/>
              <a:chExt cx="11125200" cy="7048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33400" y="4114800"/>
                <a:ext cx="11125200" cy="704850"/>
              </a:xfrm>
              <a:prstGeom prst="rect">
                <a:avLst/>
              </a:prstGeom>
              <a:solidFill>
                <a:srgbClr val="F7F8FA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45808" y="4396264"/>
                <a:ext cx="32694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4E79"/>
                    </a:solidFill>
                    <a:latin typeface="Consolas"/>
                    <a:ea typeface="Microsoft YaHei"/>
                    <a:cs typeface="Consolas"/>
                  </a:rPr>
                  <a:t>cat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148965" y="42681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条件满足时可走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148965" y="4487228"/>
                <a:ext cx="9857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pointwise_cat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006465" y="42681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默认更倾向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006465" y="4487228"/>
                <a:ext cx="9157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2410C"/>
                    </a:solidFill>
                    <a:latin typeface="Consolas"/>
                    <a:ea typeface="Microsoft YaHei"/>
                    <a:cs typeface="Consolas"/>
                  </a:rPr>
                  <a:t>ConcatKernel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940165" y="42681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减少索引压力，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40165" y="4487228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但降低融合机会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533400" y="4819650"/>
              <a:ext cx="11125200" cy="819150"/>
              <a:chOff x="533400" y="4819650"/>
              <a:chExt cx="11125200" cy="8191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33400" y="4819650"/>
                <a:ext cx="11125200" cy="8191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5808" y="5082064"/>
                <a:ext cx="113922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fallback 策略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148965" y="5030152"/>
                <a:ext cx="19099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上游 make_fallback 更像兜底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148965" y="5249228"/>
                <a:ext cx="17838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lowering 主线仍尽量保留 IR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006465" y="5030152"/>
                <a:ext cx="1636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按 FALLBACK_LIST 重注册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006465" y="5249228"/>
                <a:ext cx="17348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可用环境变量扩大 fallback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40165" y="50301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功能覆盖优先，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940165" y="5249228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模型性能路径更敏感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33400" y="5867400"/>
            <a:ext cx="11125200" cy="400050"/>
            <a:chOff x="533400" y="5867400"/>
            <a:chExt cx="11125200" cy="400050"/>
          </a:xfrm>
        </p:grpSpPr>
        <p:sp>
          <p:nvSpPr>
            <p:cNvPr id="60" name="Rectangle 60"/>
            <p:cNvSpPr/>
            <p:nvPr/>
          </p:nvSpPr>
          <p:spPr>
            <a:xfrm>
              <a:off x="533400" y="5867400"/>
              <a:ext cx="11125200" cy="400050"/>
            </a:xfrm>
            <a:prstGeom prst="roundRect">
              <a:avLst>
                <a:gd name="adj" fmla="val 19048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5810" y="5995035"/>
              <a:ext cx="75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判断：Lowering 的保守性是 bring-up 合理选择，但升级时必须把 fallback 边界作为显式审计对象。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3875" y="6396038"/>
            <a:ext cx="11144250" cy="152400"/>
            <a:chOff x="523875" y="6396038"/>
            <a:chExt cx="11144250" cy="152400"/>
          </a:xfrm>
        </p:grpSpPr>
        <p:sp>
          <p:nvSpPr>
            <p:cNvPr id="63" name="TextBox 63"/>
            <p:cNvSpPr txBox="1"/>
            <p:nvPr/>
          </p:nvSpPr>
          <p:spPr>
            <a:xfrm>
              <a:off x="523875" y="6396038"/>
              <a:ext cx="13192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 1 Lowering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39061" y="639603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9470136" cy="663892"/>
            <a:chOff x="502920" y="331470"/>
            <a:chExt cx="9470136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94701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Scheduling 没有完全推倒 can_fuse，但融合语义前提已经变了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62994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风险点不在单个 if 分支，而在 group_fn、tiling、TTIR precheck、benchmark 共同改变发射语义。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33400" y="1428750"/>
            <a:ext cx="11498264" cy="4286250"/>
            <a:chOff x="533400" y="1428750"/>
            <a:chExt cx="11498264" cy="4286250"/>
          </a:xfrm>
        </p:grpSpPr>
        <p:sp>
          <p:nvSpPr>
            <p:cNvPr id="8" name="Rectangle 8"/>
            <p:cNvSpPr/>
            <p:nvPr/>
          </p:nvSpPr>
          <p:spPr>
            <a:xfrm>
              <a:off x="533400" y="1428750"/>
              <a:ext cx="11125200" cy="4286250"/>
            </a:xfrm>
            <a:prstGeom prst="roundRect">
              <a:avLst>
                <a:gd name="adj" fmla="val 3111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14400" y="2114550"/>
              <a:ext cx="1809750" cy="1057275"/>
              <a:chOff x="914400" y="2114550"/>
              <a:chExt cx="1809750" cy="105727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2114550"/>
                <a:ext cx="180975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E7EFF8"/>
              </a:solidFill>
              <a:ln w="9525">
                <a:solidFill>
                  <a:srgbClr val="1F4E79"/>
                </a:solidFill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133804" y="2373707"/>
                <a:ext cx="303884" cy="225842"/>
                <a:chOff x="1133804" y="2373707"/>
                <a:chExt cx="303884" cy="22584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44191" y="2506266"/>
                  <a:ext cx="80962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80962">
                      <a:moveTo>
                        <a:pt x="80962" y="40481"/>
                      </a:moveTo>
                      <a:cubicBezTo>
                        <a:pt x="80962" y="62838"/>
                        <a:pt x="62838" y="80962"/>
                        <a:pt x="40481" y="80962"/>
                      </a:cubicBezTo>
                      <a:cubicBezTo>
                        <a:pt x="18124" y="80962"/>
                        <a:pt x="0" y="62838"/>
                        <a:pt x="0" y="40481"/>
                      </a:cubicBezTo>
                      <a:cubicBezTo>
                        <a:pt x="0" y="18124"/>
                        <a:pt x="18124" y="0"/>
                        <a:pt x="40481" y="0"/>
                      </a:cubicBezTo>
                      <a:cubicBezTo>
                        <a:pt x="62838" y="0"/>
                        <a:pt x="80962" y="18124"/>
                        <a:pt x="80962" y="40481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33804" y="2373707"/>
                  <a:ext cx="303884" cy="22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84" h="225842">
                      <a:moveTo>
                        <a:pt x="300916" y="44436"/>
                      </a:moveTo>
                      <a:lnTo>
                        <a:pt x="260434" y="3954"/>
                      </a:lnTo>
                      <a:cubicBezTo>
                        <a:pt x="256480" y="0"/>
                        <a:pt x="250069" y="0"/>
                        <a:pt x="246114" y="3954"/>
                      </a:cubicBezTo>
                      <a:cubicBezTo>
                        <a:pt x="242160" y="7909"/>
                        <a:pt x="242160" y="14320"/>
                        <a:pt x="246114" y="18275"/>
                      </a:cubicBezTo>
                      <a:lnTo>
                        <a:pt x="269328" y="41475"/>
                      </a:lnTo>
                      <a:lnTo>
                        <a:pt x="233034" y="41475"/>
                      </a:lnTo>
                      <a:cubicBezTo>
                        <a:pt x="220635" y="41925"/>
                        <a:pt x="208447" y="44818"/>
                        <a:pt x="197170" y="49989"/>
                      </a:cubicBezTo>
                      <a:cubicBezTo>
                        <a:pt x="179940" y="57946"/>
                        <a:pt x="158169" y="74923"/>
                        <a:pt x="152210" y="110711"/>
                      </a:cubicBezTo>
                      <a:cubicBezTo>
                        <a:pt x="145480" y="151104"/>
                        <a:pt x="115398" y="160326"/>
                        <a:pt x="100344" y="162401"/>
                      </a:cubicBezTo>
                      <a:cubicBezTo>
                        <a:pt x="94845" y="137020"/>
                        <a:pt x="71026" y="119922"/>
                        <a:pt x="45220" y="122831"/>
                      </a:cubicBezTo>
                      <a:cubicBezTo>
                        <a:pt x="19414" y="125741"/>
                        <a:pt x="0" y="147714"/>
                        <a:pt x="291" y="173681"/>
                      </a:cubicBezTo>
                      <a:cubicBezTo>
                        <a:pt x="582" y="199649"/>
                        <a:pt x="20484" y="221181"/>
                        <a:pt x="46348" y="223512"/>
                      </a:cubicBezTo>
                      <a:cubicBezTo>
                        <a:pt x="72213" y="225842"/>
                        <a:pt x="95643" y="208215"/>
                        <a:pt x="100571" y="182717"/>
                      </a:cubicBezTo>
                      <a:cubicBezTo>
                        <a:pt x="109670" y="181680"/>
                        <a:pt x="118559" y="179270"/>
                        <a:pt x="126935" y="175570"/>
                      </a:cubicBezTo>
                      <a:cubicBezTo>
                        <a:pt x="144165" y="167979"/>
                        <a:pt x="165987" y="151028"/>
                        <a:pt x="172173" y="113975"/>
                      </a:cubicBezTo>
                      <a:cubicBezTo>
                        <a:pt x="180724" y="62690"/>
                        <a:pt x="230934" y="61716"/>
                        <a:pt x="233034" y="61716"/>
                      </a:cubicBezTo>
                      <a:lnTo>
                        <a:pt x="269328" y="61716"/>
                      </a:lnTo>
                      <a:lnTo>
                        <a:pt x="246114" y="84917"/>
                      </a:lnTo>
                      <a:cubicBezTo>
                        <a:pt x="242160" y="88871"/>
                        <a:pt x="242160" y="95283"/>
                        <a:pt x="246114" y="99237"/>
                      </a:cubicBezTo>
                      <a:cubicBezTo>
                        <a:pt x="250069" y="103192"/>
                        <a:pt x="256480" y="103192"/>
                        <a:pt x="260434" y="99237"/>
                      </a:cubicBezTo>
                      <a:lnTo>
                        <a:pt x="300916" y="58756"/>
                      </a:lnTo>
                      <a:cubicBezTo>
                        <a:pt x="302816" y="56858"/>
                        <a:pt x="303884" y="54282"/>
                        <a:pt x="303884" y="51596"/>
                      </a:cubicBezTo>
                      <a:cubicBezTo>
                        <a:pt x="303884" y="48910"/>
                        <a:pt x="302816" y="46334"/>
                        <a:pt x="300916" y="44436"/>
                      </a:cubicBezTo>
                      <a:close/>
                      <a:moveTo>
                        <a:pt x="50868" y="203400"/>
                      </a:moveTo>
                      <a:cubicBezTo>
                        <a:pt x="34100" y="203400"/>
                        <a:pt x="20507" y="189807"/>
                        <a:pt x="20507" y="173040"/>
                      </a:cubicBezTo>
                      <a:cubicBezTo>
                        <a:pt x="20507" y="156272"/>
                        <a:pt x="34100" y="142679"/>
                        <a:pt x="50868" y="142679"/>
                      </a:cubicBezTo>
                      <a:cubicBezTo>
                        <a:pt x="67636" y="142679"/>
                        <a:pt x="81229" y="156272"/>
                        <a:pt x="81229" y="173040"/>
                      </a:cubicBezTo>
                      <a:cubicBezTo>
                        <a:pt x="81229" y="189807"/>
                        <a:pt x="67636" y="203400"/>
                        <a:pt x="50868" y="203400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65910" y="2385060"/>
                <a:ext cx="115622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group_fn 保轴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95852" y="2677751"/>
                <a:ext cx="1403032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保留 range 轴级结构，服务后续 SplitTiling。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12520" y="2988945"/>
                <a:ext cx="1187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4E79"/>
                    </a:solidFill>
                    <a:latin typeface="Consolas"/>
                    <a:ea typeface="Microsoft YaHei"/>
                    <a:cs typeface="Consolas"/>
                  </a:rPr>
                  <a:t>NPUTritonScheduling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2781300" y="2628900"/>
              <a:ext cx="5905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448050" y="2114550"/>
              <a:ext cx="1838325" cy="1047750"/>
              <a:chOff x="3448050" y="2114550"/>
              <a:chExt cx="1838325" cy="1047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448050" y="2114550"/>
                <a:ext cx="180975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687156" y="2344341"/>
                <a:ext cx="264730" cy="263136"/>
                <a:chOff x="3687156" y="2344341"/>
                <a:chExt cx="264730" cy="263136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698081" y="2556867"/>
                  <a:ext cx="242888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40481">
                      <a:moveTo>
                        <a:pt x="0" y="0"/>
                      </a:moveTo>
                      <a:lnTo>
                        <a:pt x="80962" y="0"/>
                      </a:lnTo>
                      <a:lnTo>
                        <a:pt x="40481" y="40481"/>
                      </a:lnTo>
                      <a:close/>
                      <a:moveTo>
                        <a:pt x="161925" y="0"/>
                      </a:moveTo>
                      <a:lnTo>
                        <a:pt x="202406" y="40481"/>
                      </a:lnTo>
                      <a:lnTo>
                        <a:pt x="242888" y="0"/>
                      </a:ln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687156" y="2344341"/>
                  <a:ext cx="264730" cy="263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30" h="263136">
                      <a:moveTo>
                        <a:pt x="263161" y="208656"/>
                      </a:moveTo>
                      <a:cubicBezTo>
                        <a:pt x="261596" y="204874"/>
                        <a:pt x="257906" y="202407"/>
                        <a:pt x="253813" y="202406"/>
                      </a:cubicBezTo>
                      <a:lnTo>
                        <a:pt x="223452" y="202406"/>
                      </a:lnTo>
                      <a:lnTo>
                        <a:pt x="223452" y="151805"/>
                      </a:lnTo>
                      <a:cubicBezTo>
                        <a:pt x="223454" y="149120"/>
                        <a:pt x="222389" y="146544"/>
                        <a:pt x="220492" y="144645"/>
                      </a:cubicBezTo>
                      <a:lnTo>
                        <a:pt x="142489" y="66655"/>
                      </a:lnTo>
                      <a:lnTo>
                        <a:pt x="142489" y="10120"/>
                      </a:lnTo>
                      <a:cubicBezTo>
                        <a:pt x="142489" y="4531"/>
                        <a:pt x="137958" y="0"/>
                        <a:pt x="132369" y="0"/>
                      </a:cubicBezTo>
                      <a:cubicBezTo>
                        <a:pt x="126780" y="0"/>
                        <a:pt x="122249" y="4531"/>
                        <a:pt x="122249" y="10120"/>
                      </a:cubicBezTo>
                      <a:lnTo>
                        <a:pt x="122249" y="66655"/>
                      </a:lnTo>
                      <a:lnTo>
                        <a:pt x="44246" y="144645"/>
                      </a:lnTo>
                      <a:cubicBezTo>
                        <a:pt x="42349" y="146544"/>
                        <a:pt x="41284" y="149120"/>
                        <a:pt x="41286" y="151805"/>
                      </a:cubicBezTo>
                      <a:lnTo>
                        <a:pt x="41286" y="202406"/>
                      </a:lnTo>
                      <a:lnTo>
                        <a:pt x="10925" y="202406"/>
                      </a:lnTo>
                      <a:cubicBezTo>
                        <a:pt x="6830" y="202403"/>
                        <a:pt x="3136" y="204869"/>
                        <a:pt x="1568" y="208653"/>
                      </a:cubicBezTo>
                      <a:cubicBezTo>
                        <a:pt x="0" y="212436"/>
                        <a:pt x="867" y="216792"/>
                        <a:pt x="3765" y="219687"/>
                      </a:cubicBezTo>
                      <a:lnTo>
                        <a:pt x="44246" y="260168"/>
                      </a:lnTo>
                      <a:cubicBezTo>
                        <a:pt x="46145" y="262068"/>
                        <a:pt x="48721" y="263136"/>
                        <a:pt x="51407" y="263136"/>
                      </a:cubicBezTo>
                      <a:cubicBezTo>
                        <a:pt x="54093" y="263136"/>
                        <a:pt x="56668" y="262068"/>
                        <a:pt x="58567" y="260168"/>
                      </a:cubicBezTo>
                      <a:lnTo>
                        <a:pt x="99048" y="219687"/>
                      </a:lnTo>
                      <a:cubicBezTo>
                        <a:pt x="101946" y="216792"/>
                        <a:pt x="102813" y="212436"/>
                        <a:pt x="101245" y="208653"/>
                      </a:cubicBezTo>
                      <a:cubicBezTo>
                        <a:pt x="99677" y="204869"/>
                        <a:pt x="95984" y="202403"/>
                        <a:pt x="91888" y="202406"/>
                      </a:cubicBezTo>
                      <a:lnTo>
                        <a:pt x="61527" y="202406"/>
                      </a:lnTo>
                      <a:lnTo>
                        <a:pt x="61527" y="155992"/>
                      </a:lnTo>
                      <a:lnTo>
                        <a:pt x="132369" y="85150"/>
                      </a:lnTo>
                      <a:lnTo>
                        <a:pt x="203211" y="155992"/>
                      </a:lnTo>
                      <a:lnTo>
                        <a:pt x="203211" y="202406"/>
                      </a:lnTo>
                      <a:lnTo>
                        <a:pt x="172850" y="202406"/>
                      </a:lnTo>
                      <a:cubicBezTo>
                        <a:pt x="168755" y="202403"/>
                        <a:pt x="165061" y="204869"/>
                        <a:pt x="163493" y="208653"/>
                      </a:cubicBezTo>
                      <a:cubicBezTo>
                        <a:pt x="161925" y="212436"/>
                        <a:pt x="162792" y="216792"/>
                        <a:pt x="165690" y="219687"/>
                      </a:cubicBezTo>
                      <a:lnTo>
                        <a:pt x="206171" y="260168"/>
                      </a:lnTo>
                      <a:cubicBezTo>
                        <a:pt x="208070" y="262068"/>
                        <a:pt x="210646" y="263136"/>
                        <a:pt x="213332" y="263136"/>
                      </a:cubicBezTo>
                      <a:cubicBezTo>
                        <a:pt x="216018" y="263136"/>
                        <a:pt x="218593" y="262068"/>
                        <a:pt x="220492" y="260168"/>
                      </a:cubicBezTo>
                      <a:lnTo>
                        <a:pt x="260973" y="219687"/>
                      </a:lnTo>
                      <a:cubicBezTo>
                        <a:pt x="263866" y="216791"/>
                        <a:pt x="264730" y="212437"/>
                        <a:pt x="263161" y="208656"/>
                      </a:cubicBezTo>
                      <a:close/>
                      <a:moveTo>
                        <a:pt x="51407" y="238700"/>
                      </a:moveTo>
                      <a:lnTo>
                        <a:pt x="35353" y="222647"/>
                      </a:lnTo>
                      <a:lnTo>
                        <a:pt x="67460" y="222647"/>
                      </a:lnTo>
                      <a:close/>
                      <a:moveTo>
                        <a:pt x="213332" y="238700"/>
                      </a:moveTo>
                      <a:lnTo>
                        <a:pt x="197278" y="222647"/>
                      </a:lnTo>
                      <a:lnTo>
                        <a:pt x="229385" y="222647"/>
                      </a:ln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4099560" y="2385060"/>
                <a:ext cx="84538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tiling 前提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466042" y="2771299"/>
                <a:ext cx="1820333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valid tiling group 适配 NumelList，融合规则不再纯上游。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5314950" y="2628900"/>
              <a:ext cx="5905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810250" y="2000250"/>
              <a:ext cx="2000250" cy="1276350"/>
              <a:chOff x="5810250" y="2000250"/>
              <a:chExt cx="2000250" cy="12763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810250" y="2000250"/>
                <a:ext cx="2000250" cy="1276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1276350">
                    <a:moveTo>
                      <a:pt x="1000125" y="0"/>
                    </a:moveTo>
                    <a:lnTo>
                      <a:pt x="2000250" y="638175"/>
                    </a:lnTo>
                    <a:lnTo>
                      <a:pt x="1000125" y="1276350"/>
                    </a:lnTo>
                    <a:lnTo>
                      <a:pt x="0" y="638175"/>
                    </a:lnTo>
                    <a:close/>
                  </a:path>
                </a:pathLst>
              </a:custGeom>
              <a:solidFill>
                <a:srgbClr val="FFF6E5"/>
              </a:solidFill>
              <a:ln w="19050">
                <a:solidFill>
                  <a:srgbClr val="E9A23B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425489" y="2423160"/>
                <a:ext cx="7697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can_fuse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37960" y="26760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文本相近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37960" y="28760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语义不同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7848600" y="2628900"/>
              <a:ext cx="5905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515350" y="2114550"/>
              <a:ext cx="1809751" cy="1047750"/>
              <a:chOff x="8515350" y="2114550"/>
              <a:chExt cx="1809751" cy="10477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515350" y="2114550"/>
                <a:ext cx="180975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765381" y="2364581"/>
                <a:ext cx="242888" cy="242888"/>
                <a:chOff x="8765381" y="2364581"/>
                <a:chExt cx="242888" cy="242888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775502" y="2374702"/>
                  <a:ext cx="222647" cy="222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7" h="222647">
                      <a:moveTo>
                        <a:pt x="212527" y="0"/>
                      </a:moveTo>
                      <a:lnTo>
                        <a:pt x="10120" y="0"/>
                      </a:lnTo>
                      <a:cubicBezTo>
                        <a:pt x="4531" y="0"/>
                        <a:pt x="0" y="4531"/>
                        <a:pt x="0" y="10120"/>
                      </a:cubicBezTo>
                      <a:lnTo>
                        <a:pt x="0" y="212527"/>
                      </a:lnTo>
                      <a:cubicBezTo>
                        <a:pt x="0" y="218116"/>
                        <a:pt x="4531" y="222647"/>
                        <a:pt x="10120" y="222647"/>
                      </a:cubicBezTo>
                      <a:lnTo>
                        <a:pt x="212527" y="222647"/>
                      </a:lnTo>
                      <a:cubicBezTo>
                        <a:pt x="218116" y="222647"/>
                        <a:pt x="222647" y="218116"/>
                        <a:pt x="222647" y="212527"/>
                      </a:cubicBezTo>
                      <a:lnTo>
                        <a:pt x="222647" y="10120"/>
                      </a:lnTo>
                      <a:cubicBezTo>
                        <a:pt x="222647" y="4531"/>
                        <a:pt x="218116" y="0"/>
                        <a:pt x="212527" y="0"/>
                      </a:cubicBezTo>
                      <a:close/>
                      <a:moveTo>
                        <a:pt x="60722" y="182166"/>
                      </a:moveTo>
                      <a:cubicBezTo>
                        <a:pt x="49543" y="182166"/>
                        <a:pt x="40481" y="173104"/>
                        <a:pt x="40481" y="161925"/>
                      </a:cubicBezTo>
                      <a:cubicBezTo>
                        <a:pt x="40481" y="150746"/>
                        <a:pt x="49543" y="141684"/>
                        <a:pt x="60722" y="141684"/>
                      </a:cubicBezTo>
                      <a:cubicBezTo>
                        <a:pt x="71900" y="141684"/>
                        <a:pt x="80962" y="150746"/>
                        <a:pt x="80962" y="161925"/>
                      </a:cubicBezTo>
                      <a:cubicBezTo>
                        <a:pt x="80962" y="173104"/>
                        <a:pt x="71900" y="182166"/>
                        <a:pt x="60722" y="182166"/>
                      </a:cubicBezTo>
                      <a:close/>
                      <a:moveTo>
                        <a:pt x="161925" y="101203"/>
                      </a:moveTo>
                      <a:cubicBezTo>
                        <a:pt x="150746" y="101203"/>
                        <a:pt x="141684" y="92141"/>
                        <a:pt x="141684" y="80962"/>
                      </a:cubicBezTo>
                      <a:cubicBezTo>
                        <a:pt x="141684" y="69784"/>
                        <a:pt x="150746" y="60722"/>
                        <a:pt x="161925" y="60722"/>
                      </a:cubicBezTo>
                      <a:cubicBezTo>
                        <a:pt x="173104" y="60722"/>
                        <a:pt x="182166" y="69784"/>
                        <a:pt x="182166" y="80962"/>
                      </a:cubicBezTo>
                      <a:cubicBezTo>
                        <a:pt x="182166" y="92141"/>
                        <a:pt x="173104" y="101203"/>
                        <a:pt x="161925" y="101203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765381" y="236458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222647" y="0"/>
                      </a:moveTo>
                      <a:lnTo>
                        <a:pt x="20241" y="0"/>
                      </a:lnTo>
                      <a:cubicBezTo>
                        <a:pt x="9062" y="0"/>
                        <a:pt x="0" y="9062"/>
                        <a:pt x="0" y="20241"/>
                      </a:cubicBezTo>
                      <a:lnTo>
                        <a:pt x="0" y="222647"/>
                      </a:lnTo>
                      <a:cubicBezTo>
                        <a:pt x="0" y="233825"/>
                        <a:pt x="9062" y="242888"/>
                        <a:pt x="20241" y="242888"/>
                      </a:cubicBezTo>
                      <a:lnTo>
                        <a:pt x="222647" y="242888"/>
                      </a:lnTo>
                      <a:cubicBezTo>
                        <a:pt x="233825" y="242888"/>
                        <a:pt x="242888" y="233825"/>
                        <a:pt x="242888" y="222647"/>
                      </a:cubicBezTo>
                      <a:lnTo>
                        <a:pt x="242888" y="20241"/>
                      </a:lnTo>
                      <a:cubicBezTo>
                        <a:pt x="242888" y="9062"/>
                        <a:pt x="233825" y="0"/>
                        <a:pt x="222647" y="0"/>
                      </a:cubicBezTo>
                      <a:close/>
                      <a:moveTo>
                        <a:pt x="70842" y="161925"/>
                      </a:moveTo>
                      <a:cubicBezTo>
                        <a:pt x="76431" y="161925"/>
                        <a:pt x="80962" y="166456"/>
                        <a:pt x="80962" y="172045"/>
                      </a:cubicBezTo>
                      <a:cubicBezTo>
                        <a:pt x="80962" y="177635"/>
                        <a:pt x="76431" y="182166"/>
                        <a:pt x="70842" y="182166"/>
                      </a:cubicBezTo>
                      <a:cubicBezTo>
                        <a:pt x="65253" y="182166"/>
                        <a:pt x="60722" y="177635"/>
                        <a:pt x="60722" y="172045"/>
                      </a:cubicBezTo>
                      <a:cubicBezTo>
                        <a:pt x="60722" y="166456"/>
                        <a:pt x="65253" y="161925"/>
                        <a:pt x="70842" y="161925"/>
                      </a:cubicBezTo>
                      <a:close/>
                      <a:moveTo>
                        <a:pt x="20241" y="20241"/>
                      </a:moveTo>
                      <a:lnTo>
                        <a:pt x="60722" y="20241"/>
                      </a:lnTo>
                      <a:lnTo>
                        <a:pt x="60722" y="143430"/>
                      </a:lnTo>
                      <a:cubicBezTo>
                        <a:pt x="46781" y="148359"/>
                        <a:pt x="38418" y="162615"/>
                        <a:pt x="40918" y="177189"/>
                      </a:cubicBezTo>
                      <a:cubicBezTo>
                        <a:pt x="43419" y="191763"/>
                        <a:pt x="56055" y="202416"/>
                        <a:pt x="70842" y="202416"/>
                      </a:cubicBezTo>
                      <a:cubicBezTo>
                        <a:pt x="85629" y="202416"/>
                        <a:pt x="98265" y="191763"/>
                        <a:pt x="100766" y="177189"/>
                      </a:cubicBezTo>
                      <a:cubicBezTo>
                        <a:pt x="103266" y="162615"/>
                        <a:pt x="94904" y="148359"/>
                        <a:pt x="80962" y="143430"/>
                      </a:cubicBezTo>
                      <a:lnTo>
                        <a:pt x="80962" y="105390"/>
                      </a:lnTo>
                      <a:lnTo>
                        <a:pt x="141684" y="166112"/>
                      </a:lnTo>
                      <a:lnTo>
                        <a:pt x="141684" y="222647"/>
                      </a:lnTo>
                      <a:lnTo>
                        <a:pt x="20241" y="222647"/>
                      </a:lnTo>
                      <a:close/>
                      <a:moveTo>
                        <a:pt x="222647" y="222647"/>
                      </a:moveTo>
                      <a:lnTo>
                        <a:pt x="161925" y="222647"/>
                      </a:lnTo>
                      <a:lnTo>
                        <a:pt x="161925" y="161925"/>
                      </a:lnTo>
                      <a:cubicBezTo>
                        <a:pt x="161927" y="159240"/>
                        <a:pt x="160862" y="156664"/>
                        <a:pt x="158965" y="154765"/>
                      </a:cubicBezTo>
                      <a:lnTo>
                        <a:pt x="80962" y="76775"/>
                      </a:lnTo>
                      <a:lnTo>
                        <a:pt x="80962" y="20241"/>
                      </a:lnTo>
                      <a:lnTo>
                        <a:pt x="121444" y="20241"/>
                      </a:lnTo>
                      <a:lnTo>
                        <a:pt x="121444" y="50602"/>
                      </a:lnTo>
                      <a:cubicBezTo>
                        <a:pt x="121442" y="53286"/>
                        <a:pt x="122506" y="55862"/>
                        <a:pt x="124404" y="57762"/>
                      </a:cubicBezTo>
                      <a:lnTo>
                        <a:pt x="144645" y="78002"/>
                      </a:lnTo>
                      <a:cubicBezTo>
                        <a:pt x="142684" y="82084"/>
                        <a:pt x="141672" y="86555"/>
                        <a:pt x="141684" y="91083"/>
                      </a:cubicBezTo>
                      <a:cubicBezTo>
                        <a:pt x="141684" y="107851"/>
                        <a:pt x="155277" y="121444"/>
                        <a:pt x="172045" y="121444"/>
                      </a:cubicBezTo>
                      <a:cubicBezTo>
                        <a:pt x="188813" y="121444"/>
                        <a:pt x="202406" y="107851"/>
                        <a:pt x="202406" y="91083"/>
                      </a:cubicBezTo>
                      <a:cubicBezTo>
                        <a:pt x="202406" y="74315"/>
                        <a:pt x="188813" y="60722"/>
                        <a:pt x="172045" y="60722"/>
                      </a:cubicBezTo>
                      <a:cubicBezTo>
                        <a:pt x="167517" y="60714"/>
                        <a:pt x="163045" y="61730"/>
                        <a:pt x="158965" y="63695"/>
                      </a:cubicBezTo>
                      <a:lnTo>
                        <a:pt x="141684" y="46414"/>
                      </a:lnTo>
                      <a:lnTo>
                        <a:pt x="141684" y="20241"/>
                      </a:lnTo>
                      <a:lnTo>
                        <a:pt x="222647" y="20241"/>
                      </a:lnTo>
                      <a:lnTo>
                        <a:pt x="222647" y="222647"/>
                      </a:lnTo>
                      <a:close/>
                      <a:moveTo>
                        <a:pt x="172045" y="80962"/>
                      </a:moveTo>
                      <a:cubicBezTo>
                        <a:pt x="177635" y="80962"/>
                        <a:pt x="182166" y="85494"/>
                        <a:pt x="182166" y="91083"/>
                      </a:cubicBezTo>
                      <a:cubicBezTo>
                        <a:pt x="182166" y="96672"/>
                        <a:pt x="177635" y="101203"/>
                        <a:pt x="172045" y="101203"/>
                      </a:cubicBezTo>
                      <a:cubicBezTo>
                        <a:pt x="166456" y="101203"/>
                        <a:pt x="161925" y="96672"/>
                        <a:pt x="161925" y="91083"/>
                      </a:cubicBezTo>
                      <a:cubicBezTo>
                        <a:pt x="161925" y="85494"/>
                        <a:pt x="166456" y="80962"/>
                        <a:pt x="172045" y="80962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166860" y="2385060"/>
                <a:ext cx="9125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TTIR 预检查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712519" y="2771299"/>
                <a:ext cx="1612582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define kernel 前先 make_ttir，非法 DSL 更早暴露。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9429750" y="3219450"/>
              <a:ext cx="1" cy="666750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562850" y="4000500"/>
              <a:ext cx="4468814" cy="876300"/>
              <a:chOff x="7562850" y="4000500"/>
              <a:chExt cx="4468814" cy="8763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562850" y="4000500"/>
                <a:ext cx="3714750" cy="876300"/>
              </a:xfrm>
              <a:prstGeom prst="roundRect">
                <a:avLst>
                  <a:gd name="adj" fmla="val 10870"/>
                </a:avLst>
              </a:prstGeom>
              <a:solidFill>
                <a:srgbClr val="E7F5F2"/>
              </a:solidFill>
              <a:ln w="9525">
                <a:solidFill>
                  <a:srgbClr val="2A9D8F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821811" y="4269581"/>
                <a:ext cx="263128" cy="232767"/>
                <a:chOff x="7821811" y="4269581"/>
                <a:chExt cx="263128" cy="23276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7983736" y="4279702"/>
                  <a:ext cx="70842" cy="212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42" h="212527">
                      <a:moveTo>
                        <a:pt x="70842" y="0"/>
                      </a:moveTo>
                      <a:lnTo>
                        <a:pt x="70842" y="212527"/>
                      </a:lnTo>
                      <a:lnTo>
                        <a:pt x="0" y="2125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821811" y="4269581"/>
                  <a:ext cx="263128" cy="23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128" h="232767">
                      <a:moveTo>
                        <a:pt x="253008" y="212527"/>
                      </a:moveTo>
                      <a:lnTo>
                        <a:pt x="242888" y="212527"/>
                      </a:lnTo>
                      <a:lnTo>
                        <a:pt x="242888" y="10120"/>
                      </a:lnTo>
                      <a:cubicBezTo>
                        <a:pt x="242888" y="4531"/>
                        <a:pt x="238356" y="0"/>
                        <a:pt x="232767" y="0"/>
                      </a:cubicBezTo>
                      <a:lnTo>
                        <a:pt x="161925" y="0"/>
                      </a:lnTo>
                      <a:cubicBezTo>
                        <a:pt x="156336" y="0"/>
                        <a:pt x="151805" y="4531"/>
                        <a:pt x="151805" y="10120"/>
                      </a:cubicBezTo>
                      <a:lnTo>
                        <a:pt x="151805" y="60722"/>
                      </a:lnTo>
                      <a:lnTo>
                        <a:pt x="91083" y="60722"/>
                      </a:lnTo>
                      <a:cubicBezTo>
                        <a:pt x="85494" y="60722"/>
                        <a:pt x="80962" y="65253"/>
                        <a:pt x="80962" y="70842"/>
                      </a:cubicBezTo>
                      <a:lnTo>
                        <a:pt x="80962" y="121444"/>
                      </a:lnTo>
                      <a:lnTo>
                        <a:pt x="30361" y="121444"/>
                      </a:lnTo>
                      <a:cubicBezTo>
                        <a:pt x="24772" y="121444"/>
                        <a:pt x="20241" y="125975"/>
                        <a:pt x="20241" y="131564"/>
                      </a:cubicBezTo>
                      <a:lnTo>
                        <a:pt x="20241" y="212527"/>
                      </a:lnTo>
                      <a:lnTo>
                        <a:pt x="10120" y="212527"/>
                      </a:lnTo>
                      <a:cubicBezTo>
                        <a:pt x="4531" y="212527"/>
                        <a:pt x="0" y="217058"/>
                        <a:pt x="0" y="222647"/>
                      </a:cubicBezTo>
                      <a:cubicBezTo>
                        <a:pt x="0" y="228236"/>
                        <a:pt x="4531" y="232767"/>
                        <a:pt x="10120" y="232767"/>
                      </a:cubicBezTo>
                      <a:lnTo>
                        <a:pt x="253008" y="232767"/>
                      </a:lnTo>
                      <a:cubicBezTo>
                        <a:pt x="258597" y="232767"/>
                        <a:pt x="263128" y="228236"/>
                        <a:pt x="263128" y="222647"/>
                      </a:cubicBezTo>
                      <a:cubicBezTo>
                        <a:pt x="263128" y="217058"/>
                        <a:pt x="258597" y="212527"/>
                        <a:pt x="253008" y="212527"/>
                      </a:cubicBezTo>
                      <a:close/>
                      <a:moveTo>
                        <a:pt x="172045" y="20241"/>
                      </a:moveTo>
                      <a:lnTo>
                        <a:pt x="222647" y="20241"/>
                      </a:lnTo>
                      <a:lnTo>
                        <a:pt x="222647" y="212527"/>
                      </a:lnTo>
                      <a:lnTo>
                        <a:pt x="172045" y="212527"/>
                      </a:lnTo>
                      <a:close/>
                      <a:moveTo>
                        <a:pt x="101203" y="80962"/>
                      </a:moveTo>
                      <a:lnTo>
                        <a:pt x="151805" y="80962"/>
                      </a:lnTo>
                      <a:lnTo>
                        <a:pt x="151805" y="212527"/>
                      </a:lnTo>
                      <a:lnTo>
                        <a:pt x="101203" y="212527"/>
                      </a:lnTo>
                      <a:close/>
                      <a:moveTo>
                        <a:pt x="40481" y="141684"/>
                      </a:moveTo>
                      <a:lnTo>
                        <a:pt x="80962" y="141684"/>
                      </a:lnTo>
                      <a:lnTo>
                        <a:pt x="80962" y="212527"/>
                      </a:lnTo>
                      <a:lnTo>
                        <a:pt x="40481" y="212527"/>
                      </a:ln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232458" y="4272439"/>
                <a:ext cx="379920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fusion benchmark 扩展到模板 / CATLASS 场景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35315" y="4572952"/>
                <a:ext cx="34430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这说明调度已经与后端候选和 runtime 风险控制绑定。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14400" y="3905250"/>
              <a:ext cx="5891022" cy="971550"/>
              <a:chOff x="914400" y="3905250"/>
              <a:chExt cx="5891022" cy="9715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14400" y="3905250"/>
                <a:ext cx="5143500" cy="971550"/>
              </a:xfrm>
              <a:prstGeom prst="roundRect">
                <a:avLst>
                  <a:gd name="adj" fmla="val 9804"/>
                </a:avLst>
              </a:prstGeom>
              <a:solidFill>
                <a:srgbClr val="FFF6E5"/>
              </a:solidFill>
              <a:ln w="9525">
                <a:solidFill>
                  <a:srgbClr val="E9A23B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1183144" y="4205882"/>
                <a:ext cx="319754" cy="282904"/>
                <a:chOff x="1183144" y="4205882"/>
                <a:chExt cx="319754" cy="282904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190327" y="4213263"/>
                  <a:ext cx="305395" cy="264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395" h="264082">
                      <a:moveTo>
                        <a:pt x="276354" y="264082"/>
                      </a:moveTo>
                      <a:lnTo>
                        <a:pt x="29041" y="264082"/>
                      </a:lnTo>
                      <a:cubicBezTo>
                        <a:pt x="11198" y="264082"/>
                        <a:pt x="0" y="245405"/>
                        <a:pt x="8667" y="230277"/>
                      </a:cubicBezTo>
                      <a:lnTo>
                        <a:pt x="132324" y="15553"/>
                      </a:lnTo>
                      <a:cubicBezTo>
                        <a:pt x="141231" y="0"/>
                        <a:pt x="164164" y="0"/>
                        <a:pt x="173071" y="15553"/>
                      </a:cubicBezTo>
                      <a:lnTo>
                        <a:pt x="296728" y="230277"/>
                      </a:lnTo>
                      <a:cubicBezTo>
                        <a:pt x="305395" y="245405"/>
                        <a:pt x="294197" y="264082"/>
                        <a:pt x="276354" y="264082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183144" y="4205882"/>
                  <a:ext cx="319754" cy="282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54" h="282904">
                      <a:moveTo>
                        <a:pt x="313710" y="232002"/>
                      </a:moveTo>
                      <a:lnTo>
                        <a:pt x="190068" y="17278"/>
                      </a:lnTo>
                      <a:lnTo>
                        <a:pt x="190068" y="17278"/>
                      </a:lnTo>
                      <a:cubicBezTo>
                        <a:pt x="183781" y="6574"/>
                        <a:pt x="172295" y="0"/>
                        <a:pt x="159881" y="0"/>
                      </a:cubicBezTo>
                      <a:cubicBezTo>
                        <a:pt x="147468" y="0"/>
                        <a:pt x="135982" y="6574"/>
                        <a:pt x="129695" y="17278"/>
                      </a:cubicBezTo>
                      <a:lnTo>
                        <a:pt x="6053" y="232002"/>
                      </a:lnTo>
                      <a:cubicBezTo>
                        <a:pt x="0" y="242362"/>
                        <a:pt x="0" y="255180"/>
                        <a:pt x="6053" y="265539"/>
                      </a:cubicBezTo>
                      <a:cubicBezTo>
                        <a:pt x="12263" y="276315"/>
                        <a:pt x="23802" y="282904"/>
                        <a:pt x="36239" y="282774"/>
                      </a:cubicBezTo>
                      <a:lnTo>
                        <a:pt x="283524" y="282774"/>
                      </a:lnTo>
                      <a:cubicBezTo>
                        <a:pt x="295951" y="282893"/>
                        <a:pt x="307477" y="276306"/>
                        <a:pt x="313682" y="265539"/>
                      </a:cubicBezTo>
                      <a:cubicBezTo>
                        <a:pt x="319743" y="255185"/>
                        <a:pt x="319754" y="242367"/>
                        <a:pt x="313710" y="232002"/>
                      </a:cubicBezTo>
                      <a:close/>
                      <a:moveTo>
                        <a:pt x="294100" y="254214"/>
                      </a:moveTo>
                      <a:cubicBezTo>
                        <a:pt x="291905" y="257958"/>
                        <a:pt x="287863" y="260228"/>
                        <a:pt x="283524" y="260152"/>
                      </a:cubicBezTo>
                      <a:lnTo>
                        <a:pt x="36239" y="260152"/>
                      </a:lnTo>
                      <a:cubicBezTo>
                        <a:pt x="31900" y="260228"/>
                        <a:pt x="27858" y="257958"/>
                        <a:pt x="25663" y="254214"/>
                      </a:cubicBezTo>
                      <a:cubicBezTo>
                        <a:pt x="23675" y="250848"/>
                        <a:pt x="23675" y="246666"/>
                        <a:pt x="25663" y="243299"/>
                      </a:cubicBezTo>
                      <a:lnTo>
                        <a:pt x="149306" y="28575"/>
                      </a:lnTo>
                      <a:cubicBezTo>
                        <a:pt x="151543" y="24853"/>
                        <a:pt x="155567" y="22576"/>
                        <a:pt x="159910" y="22576"/>
                      </a:cubicBezTo>
                      <a:cubicBezTo>
                        <a:pt x="164252" y="22576"/>
                        <a:pt x="168277" y="24853"/>
                        <a:pt x="170514" y="28575"/>
                      </a:cubicBezTo>
                      <a:lnTo>
                        <a:pt x="294156" y="243299"/>
                      </a:lnTo>
                      <a:cubicBezTo>
                        <a:pt x="296128" y="246676"/>
                        <a:pt x="296106" y="250858"/>
                        <a:pt x="294100" y="254214"/>
                      </a:cubicBezTo>
                      <a:close/>
                      <a:moveTo>
                        <a:pt x="148571" y="169665"/>
                      </a:moveTo>
                      <a:lnTo>
                        <a:pt x="148571" y="113110"/>
                      </a:lnTo>
                      <a:cubicBezTo>
                        <a:pt x="148571" y="106863"/>
                        <a:pt x="153635" y="101799"/>
                        <a:pt x="159881" y="101799"/>
                      </a:cubicBezTo>
                      <a:cubicBezTo>
                        <a:pt x="166128" y="101799"/>
                        <a:pt x="171192" y="106863"/>
                        <a:pt x="171192" y="113110"/>
                      </a:cubicBezTo>
                      <a:lnTo>
                        <a:pt x="171192" y="169665"/>
                      </a:lnTo>
                      <a:cubicBezTo>
                        <a:pt x="171192" y="175912"/>
                        <a:pt x="166128" y="180976"/>
                        <a:pt x="159881" y="180976"/>
                      </a:cubicBezTo>
                      <a:cubicBezTo>
                        <a:pt x="153635" y="180976"/>
                        <a:pt x="148571" y="175912"/>
                        <a:pt x="148571" y="169665"/>
                      </a:cubicBezTo>
                      <a:close/>
                      <a:moveTo>
                        <a:pt x="176848" y="220564"/>
                      </a:moveTo>
                      <a:cubicBezTo>
                        <a:pt x="176848" y="229934"/>
                        <a:pt x="169252" y="237531"/>
                        <a:pt x="159881" y="237531"/>
                      </a:cubicBezTo>
                      <a:cubicBezTo>
                        <a:pt x="150511" y="237531"/>
                        <a:pt x="142915" y="229934"/>
                        <a:pt x="142915" y="220564"/>
                      </a:cubicBezTo>
                      <a:cubicBezTo>
                        <a:pt x="142915" y="211194"/>
                        <a:pt x="150511" y="203598"/>
                        <a:pt x="159881" y="203598"/>
                      </a:cubicBezTo>
                      <a:cubicBezTo>
                        <a:pt x="169252" y="203598"/>
                        <a:pt x="176848" y="211194"/>
                        <a:pt x="176848" y="220564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1679258" y="411051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升级风险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682115" y="4439602"/>
                <a:ext cx="51233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`can_fuse()` 93% 相似但 whole-method fork，最容易在上游升级时静默漂移。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682115" y="4658678"/>
                <a:ext cx="36391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建议收口成 reduction 兼容性和 tiling 判定两个 helper。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33400" y="5905500"/>
            <a:ext cx="11125200" cy="361950"/>
            <a:chOff x="533400" y="5905500"/>
            <a:chExt cx="11125200" cy="361950"/>
          </a:xfrm>
        </p:grpSpPr>
        <p:sp>
          <p:nvSpPr>
            <p:cNvPr id="56" name="Rectangle 56"/>
            <p:cNvSpPr/>
            <p:nvPr/>
          </p:nvSpPr>
          <p:spPr>
            <a:xfrm>
              <a:off x="533400" y="5905500"/>
              <a:ext cx="11125200" cy="361950"/>
            </a:xfrm>
            <a:prstGeom prst="roundRect">
              <a:avLst>
                <a:gd name="adj" fmla="val 21053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6762" y="6012656"/>
              <a:ext cx="69988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判断：`group_fn()` 保轴是必要 override；`can_fuse()` 整函数复制是升级友好性最差的形态。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3875" y="6396038"/>
            <a:ext cx="11144250" cy="152400"/>
            <a:chOff x="523875" y="6396038"/>
            <a:chExt cx="11144250" cy="152400"/>
          </a:xfrm>
        </p:grpSpPr>
        <p:sp>
          <p:nvSpPr>
            <p:cNvPr id="59" name="TextBox 59"/>
            <p:cNvSpPr txBox="1"/>
            <p:nvPr/>
          </p:nvSpPr>
          <p:spPr>
            <a:xfrm>
              <a:off x="523875" y="6396038"/>
              <a:ext cx="14092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 2 Scheduling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39061" y="639603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7689113" cy="663892"/>
            <a:chOff x="502920" y="331470"/>
            <a:chExt cx="7689113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768911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Codegen 最大分叉点集中在 NPUIndexTritonKernel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66284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它已经不是一个单纯 emitter，而是“codegen frontend + axis planner + metadata builder”的组合体。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1295400"/>
            <a:ext cx="11125200" cy="4514850"/>
            <a:chOff x="533400" y="1295400"/>
            <a:chExt cx="11125200" cy="4514850"/>
          </a:xfrm>
        </p:grpSpPr>
        <p:sp>
          <p:nvSpPr>
            <p:cNvPr id="8" name="Rectangle 8"/>
            <p:cNvSpPr/>
            <p:nvPr/>
          </p:nvSpPr>
          <p:spPr>
            <a:xfrm>
              <a:off x="533400" y="1295400"/>
              <a:ext cx="11125200" cy="4514850"/>
            </a:xfrm>
            <a:prstGeom prst="roundRect">
              <a:avLst>
                <a:gd name="adj" fmla="val 2954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38200" y="1619250"/>
              <a:ext cx="10515600" cy="685800"/>
            </a:xfrm>
            <a:prstGeom prst="roundRect">
              <a:avLst>
                <a:gd name="adj" fmla="val 16667"/>
              </a:avLst>
            </a:prstGeom>
            <a:solidFill>
              <a:srgbClr val="153A5B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157883" y="1837730"/>
              <a:ext cx="294084" cy="248841"/>
              <a:chOff x="1157883" y="1837730"/>
              <a:chExt cx="294084" cy="24884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69194" y="1849041"/>
                <a:ext cx="271462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26219">
                    <a:moveTo>
                      <a:pt x="271462" y="11311"/>
                    </a:moveTo>
                    <a:lnTo>
                      <a:pt x="271462" y="214908"/>
                    </a:lnTo>
                    <a:cubicBezTo>
                      <a:pt x="271462" y="221155"/>
                      <a:pt x="266398" y="226219"/>
                      <a:pt x="260152" y="226219"/>
                    </a:cubicBezTo>
                    <a:lnTo>
                      <a:pt x="11311" y="226219"/>
                    </a:lnTo>
                    <a:cubicBezTo>
                      <a:pt x="5064" y="226219"/>
                      <a:pt x="0" y="221155"/>
                      <a:pt x="0" y="214908"/>
                    </a:cubicBezTo>
                    <a:lnTo>
                      <a:pt x="0" y="11311"/>
                    </a:lnTo>
                    <a:cubicBezTo>
                      <a:pt x="0" y="5064"/>
                      <a:pt x="5064" y="0"/>
                      <a:pt x="11311" y="0"/>
                    </a:cubicBezTo>
                    <a:lnTo>
                      <a:pt x="260152" y="0"/>
                    </a:lnTo>
                    <a:cubicBezTo>
                      <a:pt x="266398" y="0"/>
                      <a:pt x="271462" y="5064"/>
                      <a:pt x="271462" y="1131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57883" y="1837730"/>
                <a:ext cx="294084" cy="248841"/>
              </a:xfrm>
              <a:custGeom>
                <a:avLst/>
                <a:gdLst/>
                <a:ahLst/>
                <a:cxnLst/>
                <a:rect l="l" t="t" r="r" b="b"/>
                <a:pathLst>
                  <a:path w="294084" h="248841">
                    <a:moveTo>
                      <a:pt x="147042" y="124420"/>
                    </a:moveTo>
                    <a:cubicBezTo>
                      <a:pt x="147044" y="127857"/>
                      <a:pt x="145484" y="131109"/>
                      <a:pt x="142801" y="133257"/>
                    </a:cubicBezTo>
                    <a:lnTo>
                      <a:pt x="86246" y="178501"/>
                    </a:lnTo>
                    <a:cubicBezTo>
                      <a:pt x="81366" y="182405"/>
                      <a:pt x="74244" y="181614"/>
                      <a:pt x="70340" y="176733"/>
                    </a:cubicBezTo>
                    <a:cubicBezTo>
                      <a:pt x="66436" y="171853"/>
                      <a:pt x="67227" y="164732"/>
                      <a:pt x="72107" y="160827"/>
                    </a:cubicBezTo>
                    <a:lnTo>
                      <a:pt x="117620" y="124420"/>
                    </a:lnTo>
                    <a:lnTo>
                      <a:pt x="72107" y="88013"/>
                    </a:lnTo>
                    <a:cubicBezTo>
                      <a:pt x="67227" y="84109"/>
                      <a:pt x="66436" y="76988"/>
                      <a:pt x="70340" y="72107"/>
                    </a:cubicBezTo>
                    <a:cubicBezTo>
                      <a:pt x="74244" y="67227"/>
                      <a:pt x="81366" y="66436"/>
                      <a:pt x="86246" y="70340"/>
                    </a:cubicBezTo>
                    <a:lnTo>
                      <a:pt x="142801" y="115584"/>
                    </a:lnTo>
                    <a:cubicBezTo>
                      <a:pt x="145484" y="117732"/>
                      <a:pt x="147044" y="120983"/>
                      <a:pt x="147042" y="124420"/>
                    </a:cubicBezTo>
                    <a:close/>
                    <a:moveTo>
                      <a:pt x="214908" y="158353"/>
                    </a:moveTo>
                    <a:lnTo>
                      <a:pt x="158353" y="158353"/>
                    </a:lnTo>
                    <a:cubicBezTo>
                      <a:pt x="152106" y="158353"/>
                      <a:pt x="147042" y="163417"/>
                      <a:pt x="147042" y="169664"/>
                    </a:cubicBezTo>
                    <a:cubicBezTo>
                      <a:pt x="147042" y="175911"/>
                      <a:pt x="152106" y="180975"/>
                      <a:pt x="158353" y="180975"/>
                    </a:cubicBezTo>
                    <a:lnTo>
                      <a:pt x="214908" y="180975"/>
                    </a:lnTo>
                    <a:cubicBezTo>
                      <a:pt x="221155" y="180975"/>
                      <a:pt x="226219" y="175911"/>
                      <a:pt x="226219" y="169664"/>
                    </a:cubicBezTo>
                    <a:cubicBezTo>
                      <a:pt x="226219" y="163417"/>
                      <a:pt x="221155" y="158353"/>
                      <a:pt x="214908" y="158353"/>
                    </a:cubicBezTo>
                    <a:close/>
                    <a:moveTo>
                      <a:pt x="294084" y="22622"/>
                    </a:moveTo>
                    <a:lnTo>
                      <a:pt x="294084" y="226219"/>
                    </a:lnTo>
                    <a:cubicBezTo>
                      <a:pt x="294084" y="238712"/>
                      <a:pt x="283956" y="248841"/>
                      <a:pt x="271462" y="248841"/>
                    </a:cubicBezTo>
                    <a:lnTo>
                      <a:pt x="22622" y="248841"/>
                    </a:lnTo>
                    <a:cubicBezTo>
                      <a:pt x="10128" y="248841"/>
                      <a:pt x="0" y="238712"/>
                      <a:pt x="0" y="226219"/>
                    </a:cubicBezTo>
                    <a:lnTo>
                      <a:pt x="0" y="22622"/>
                    </a:lnTo>
                    <a:cubicBezTo>
                      <a:pt x="0" y="10128"/>
                      <a:pt x="10128" y="0"/>
                      <a:pt x="22622" y="0"/>
                    </a:cubicBezTo>
                    <a:lnTo>
                      <a:pt x="271462" y="0"/>
                    </a:lnTo>
                    <a:cubicBezTo>
                      <a:pt x="283956" y="0"/>
                      <a:pt x="294084" y="10128"/>
                      <a:pt x="294084" y="22622"/>
                    </a:cubicBezTo>
                    <a:close/>
                    <a:moveTo>
                      <a:pt x="271462" y="226219"/>
                    </a:moveTo>
                    <a:lnTo>
                      <a:pt x="271462" y="22622"/>
                    </a:lnTo>
                    <a:lnTo>
                      <a:pt x="22622" y="22622"/>
                    </a:lnTo>
                    <a:lnTo>
                      <a:pt x="22622" y="226219"/>
                    </a:lnTo>
                    <a:lnTo>
                      <a:pt x="271462" y="2262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38300" y="1762125"/>
              <a:ext cx="2190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NPUIndexTritonKernel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44015" y="2058352"/>
              <a:ext cx="50322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7EFF8"/>
                  </a:solidFill>
                  <a:latin typeface="Segoe UI"/>
                  <a:ea typeface="Microsoft YaHei"/>
                  <a:cs typeface="Segoe UI"/>
                </a:rPr>
                <a:t>单点承担构造期轴规划、DSL emission、runtime metadata contract 三类职责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933450" y="2762250"/>
              <a:ext cx="3418380" cy="2266950"/>
              <a:chOff x="933450" y="2762250"/>
              <a:chExt cx="3418380" cy="22669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33450" y="2762250"/>
                <a:ext cx="3143250" cy="2266950"/>
              </a:xfrm>
              <a:prstGeom prst="roundRect">
                <a:avLst>
                  <a:gd name="adj" fmla="val 4202"/>
                </a:avLst>
              </a:prstGeom>
              <a:solidFill>
                <a:srgbClr val="E7EFF8"/>
              </a:solidFill>
              <a:ln w="9525">
                <a:solidFill>
                  <a:srgbClr val="1F4E79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217610" y="3053953"/>
                <a:ext cx="327020" cy="325050"/>
                <a:chOff x="1217610" y="3053953"/>
                <a:chExt cx="327020" cy="3250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1231106" y="3316486"/>
                  <a:ext cx="300038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50006">
                      <a:moveTo>
                        <a:pt x="0" y="0"/>
                      </a:moveTo>
                      <a:lnTo>
                        <a:pt x="100012" y="0"/>
                      </a:lnTo>
                      <a:lnTo>
                        <a:pt x="50006" y="50006"/>
                      </a:lnTo>
                      <a:close/>
                      <a:moveTo>
                        <a:pt x="200025" y="0"/>
                      </a:moveTo>
                      <a:lnTo>
                        <a:pt x="250031" y="50006"/>
                      </a:lnTo>
                      <a:lnTo>
                        <a:pt x="300038" y="0"/>
                      </a:ln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217610" y="3053953"/>
                  <a:ext cx="327020" cy="32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020" h="325050">
                      <a:moveTo>
                        <a:pt x="325082" y="257751"/>
                      </a:moveTo>
                      <a:cubicBezTo>
                        <a:pt x="323148" y="253079"/>
                        <a:pt x="318590" y="250032"/>
                        <a:pt x="313533" y="250031"/>
                      </a:cubicBezTo>
                      <a:lnTo>
                        <a:pt x="276029" y="250031"/>
                      </a:lnTo>
                      <a:lnTo>
                        <a:pt x="276029" y="187523"/>
                      </a:lnTo>
                      <a:cubicBezTo>
                        <a:pt x="276031" y="184207"/>
                        <a:pt x="274716" y="181025"/>
                        <a:pt x="272372" y="178679"/>
                      </a:cubicBezTo>
                      <a:lnTo>
                        <a:pt x="176016" y="82338"/>
                      </a:lnTo>
                      <a:lnTo>
                        <a:pt x="176016" y="12502"/>
                      </a:lnTo>
                      <a:cubicBezTo>
                        <a:pt x="176016" y="5597"/>
                        <a:pt x="170419" y="0"/>
                        <a:pt x="163515" y="0"/>
                      </a:cubicBezTo>
                      <a:cubicBezTo>
                        <a:pt x="156610" y="0"/>
                        <a:pt x="151013" y="5597"/>
                        <a:pt x="151013" y="12502"/>
                      </a:cubicBezTo>
                      <a:lnTo>
                        <a:pt x="151013" y="82338"/>
                      </a:lnTo>
                      <a:lnTo>
                        <a:pt x="54657" y="178679"/>
                      </a:lnTo>
                      <a:cubicBezTo>
                        <a:pt x="52313" y="181025"/>
                        <a:pt x="50998" y="184207"/>
                        <a:pt x="51001" y="187523"/>
                      </a:cubicBezTo>
                      <a:lnTo>
                        <a:pt x="51001" y="250031"/>
                      </a:lnTo>
                      <a:lnTo>
                        <a:pt x="13496" y="250031"/>
                      </a:lnTo>
                      <a:cubicBezTo>
                        <a:pt x="8436" y="250027"/>
                        <a:pt x="3873" y="253073"/>
                        <a:pt x="1937" y="257747"/>
                      </a:cubicBezTo>
                      <a:cubicBezTo>
                        <a:pt x="0" y="262421"/>
                        <a:pt x="1072" y="267802"/>
                        <a:pt x="4651" y="271378"/>
                      </a:cubicBezTo>
                      <a:lnTo>
                        <a:pt x="54657" y="321384"/>
                      </a:lnTo>
                      <a:cubicBezTo>
                        <a:pt x="57002" y="323731"/>
                        <a:pt x="60184" y="325050"/>
                        <a:pt x="63502" y="325050"/>
                      </a:cubicBezTo>
                      <a:cubicBezTo>
                        <a:pt x="66820" y="325050"/>
                        <a:pt x="70002" y="323731"/>
                        <a:pt x="72347" y="321384"/>
                      </a:cubicBezTo>
                      <a:lnTo>
                        <a:pt x="122353" y="271378"/>
                      </a:lnTo>
                      <a:cubicBezTo>
                        <a:pt x="125933" y="267802"/>
                        <a:pt x="127004" y="262421"/>
                        <a:pt x="125068" y="257747"/>
                      </a:cubicBezTo>
                      <a:cubicBezTo>
                        <a:pt x="123131" y="253073"/>
                        <a:pt x="118568" y="250027"/>
                        <a:pt x="113508" y="250031"/>
                      </a:cubicBezTo>
                      <a:lnTo>
                        <a:pt x="76004" y="250031"/>
                      </a:lnTo>
                      <a:lnTo>
                        <a:pt x="76004" y="192696"/>
                      </a:lnTo>
                      <a:lnTo>
                        <a:pt x="163515" y="105185"/>
                      </a:lnTo>
                      <a:lnTo>
                        <a:pt x="251026" y="192696"/>
                      </a:lnTo>
                      <a:lnTo>
                        <a:pt x="251026" y="250031"/>
                      </a:lnTo>
                      <a:lnTo>
                        <a:pt x="213521" y="250031"/>
                      </a:lnTo>
                      <a:cubicBezTo>
                        <a:pt x="208461" y="250027"/>
                        <a:pt x="203898" y="253073"/>
                        <a:pt x="201962" y="257747"/>
                      </a:cubicBezTo>
                      <a:cubicBezTo>
                        <a:pt x="200025" y="262421"/>
                        <a:pt x="201097" y="267802"/>
                        <a:pt x="204676" y="271378"/>
                      </a:cubicBezTo>
                      <a:lnTo>
                        <a:pt x="254682" y="321384"/>
                      </a:lnTo>
                      <a:cubicBezTo>
                        <a:pt x="257027" y="323731"/>
                        <a:pt x="260209" y="325050"/>
                        <a:pt x="263527" y="325050"/>
                      </a:cubicBezTo>
                      <a:cubicBezTo>
                        <a:pt x="266845" y="325050"/>
                        <a:pt x="270027" y="323731"/>
                        <a:pt x="272372" y="321384"/>
                      </a:cubicBezTo>
                      <a:lnTo>
                        <a:pt x="322378" y="271378"/>
                      </a:lnTo>
                      <a:cubicBezTo>
                        <a:pt x="325953" y="267800"/>
                        <a:pt x="327020" y="262422"/>
                        <a:pt x="325082" y="257751"/>
                      </a:cubicBezTo>
                      <a:close/>
                      <a:moveTo>
                        <a:pt x="63502" y="294865"/>
                      </a:moveTo>
                      <a:lnTo>
                        <a:pt x="43672" y="275034"/>
                      </a:lnTo>
                      <a:lnTo>
                        <a:pt x="83333" y="275034"/>
                      </a:lnTo>
                      <a:close/>
                      <a:moveTo>
                        <a:pt x="263527" y="294865"/>
                      </a:moveTo>
                      <a:lnTo>
                        <a:pt x="243697" y="275034"/>
                      </a:lnTo>
                      <a:lnTo>
                        <a:pt x="283358" y="275034"/>
                      </a:ln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714500" y="3038475"/>
                <a:ext cx="132976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Axis Planning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66812" y="35933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构造期完成关键选择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68718" y="3914299"/>
                <a:ext cx="1448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split_axis / tiling_axis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68718" y="4161949"/>
                <a:ext cx="17214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no_loop_axis / sorted_axis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68718" y="4409599"/>
                <a:ext cx="9998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golden_var_list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67765" y="4706302"/>
                <a:ext cx="31840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风险：读取点并不一致地确保 lazy 状态已初始化。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4114800" y="3905250"/>
              <a:ext cx="438150" cy="1"/>
            </a:xfrm>
            <a:prstGeom prst="line">
              <a:avLst/>
            </a:prstGeom>
            <a:noFill/>
            <a:ln w="23812">
              <a:solidFill>
                <a:srgbClr val="6B7280"/>
              </a:solidFill>
              <a:tailEnd type="triangle" w="lg" len="lg"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4629150" y="2762250"/>
              <a:ext cx="3143250" cy="2266950"/>
              <a:chOff x="4629150" y="2762250"/>
              <a:chExt cx="3143250" cy="22669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629150" y="2762250"/>
                <a:ext cx="3143250" cy="2266950"/>
              </a:xfrm>
              <a:prstGeom prst="roundRect">
                <a:avLst>
                  <a:gd name="adj" fmla="val 4202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4914295" y="3065227"/>
                <a:ext cx="300047" cy="301266"/>
                <a:chOff x="4914295" y="3065227"/>
                <a:chExt cx="300047" cy="301266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4951809" y="3103959"/>
                  <a:ext cx="250031" cy="25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1" h="250031">
                      <a:moveTo>
                        <a:pt x="250031" y="12502"/>
                      </a:moveTo>
                      <a:lnTo>
                        <a:pt x="250031" y="237530"/>
                      </a:lnTo>
                      <a:cubicBezTo>
                        <a:pt x="250031" y="244434"/>
                        <a:pt x="244434" y="250031"/>
                        <a:pt x="237530" y="250031"/>
                      </a:cubicBezTo>
                      <a:lnTo>
                        <a:pt x="12502" y="250031"/>
                      </a:lnTo>
                      <a:cubicBezTo>
                        <a:pt x="5597" y="250031"/>
                        <a:pt x="0" y="244434"/>
                        <a:pt x="0" y="237530"/>
                      </a:cubicBezTo>
                      <a:lnTo>
                        <a:pt x="0" y="12502"/>
                      </a:lnTo>
                      <a:cubicBezTo>
                        <a:pt x="0" y="5597"/>
                        <a:pt x="5597" y="0"/>
                        <a:pt x="12502" y="0"/>
                      </a:cubicBezTo>
                      <a:lnTo>
                        <a:pt x="237530" y="0"/>
                      </a:lnTo>
                      <a:cubicBezTo>
                        <a:pt x="244434" y="0"/>
                        <a:pt x="250031" y="5597"/>
                        <a:pt x="250031" y="12502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914295" y="3065227"/>
                  <a:ext cx="300047" cy="301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47" h="301266">
                      <a:moveTo>
                        <a:pt x="53673" y="122587"/>
                      </a:moveTo>
                      <a:lnTo>
                        <a:pt x="3667" y="72581"/>
                      </a:lnTo>
                      <a:cubicBezTo>
                        <a:pt x="1319" y="70236"/>
                        <a:pt x="0" y="67054"/>
                        <a:pt x="0" y="63736"/>
                      </a:cubicBezTo>
                      <a:cubicBezTo>
                        <a:pt x="0" y="60418"/>
                        <a:pt x="1319" y="57236"/>
                        <a:pt x="3667" y="54891"/>
                      </a:cubicBezTo>
                      <a:lnTo>
                        <a:pt x="53673" y="4885"/>
                      </a:lnTo>
                      <a:cubicBezTo>
                        <a:pt x="58558" y="0"/>
                        <a:pt x="66478" y="0"/>
                        <a:pt x="71363" y="4885"/>
                      </a:cubicBezTo>
                      <a:cubicBezTo>
                        <a:pt x="76247" y="9770"/>
                        <a:pt x="76247" y="17690"/>
                        <a:pt x="71363" y="22575"/>
                      </a:cubicBezTo>
                      <a:lnTo>
                        <a:pt x="30185" y="63736"/>
                      </a:lnTo>
                      <a:lnTo>
                        <a:pt x="71363" y="104897"/>
                      </a:lnTo>
                      <a:cubicBezTo>
                        <a:pt x="76247" y="109782"/>
                        <a:pt x="76247" y="117702"/>
                        <a:pt x="71363" y="122587"/>
                      </a:cubicBezTo>
                      <a:cubicBezTo>
                        <a:pt x="66478" y="127472"/>
                        <a:pt x="58558" y="127472"/>
                        <a:pt x="53673" y="122587"/>
                      </a:cubicBezTo>
                      <a:close/>
                      <a:moveTo>
                        <a:pt x="116181" y="122587"/>
                      </a:moveTo>
                      <a:cubicBezTo>
                        <a:pt x="118526" y="124935"/>
                        <a:pt x="121707" y="126254"/>
                        <a:pt x="125025" y="126254"/>
                      </a:cubicBezTo>
                      <a:cubicBezTo>
                        <a:pt x="128343" y="126254"/>
                        <a:pt x="131525" y="124935"/>
                        <a:pt x="133870" y="122587"/>
                      </a:cubicBezTo>
                      <a:lnTo>
                        <a:pt x="183877" y="72581"/>
                      </a:lnTo>
                      <a:cubicBezTo>
                        <a:pt x="186224" y="70236"/>
                        <a:pt x="187543" y="67054"/>
                        <a:pt x="187543" y="63736"/>
                      </a:cubicBezTo>
                      <a:cubicBezTo>
                        <a:pt x="187543" y="60418"/>
                        <a:pt x="186224" y="57236"/>
                        <a:pt x="183877" y="54891"/>
                      </a:cubicBezTo>
                      <a:lnTo>
                        <a:pt x="133870" y="4885"/>
                      </a:lnTo>
                      <a:cubicBezTo>
                        <a:pt x="128985" y="0"/>
                        <a:pt x="121065" y="0"/>
                        <a:pt x="116181" y="4885"/>
                      </a:cubicBezTo>
                      <a:cubicBezTo>
                        <a:pt x="111296" y="9770"/>
                        <a:pt x="111296" y="17690"/>
                        <a:pt x="116181" y="22575"/>
                      </a:cubicBezTo>
                      <a:lnTo>
                        <a:pt x="157358" y="63736"/>
                      </a:lnTo>
                      <a:lnTo>
                        <a:pt x="116181" y="104897"/>
                      </a:lnTo>
                      <a:cubicBezTo>
                        <a:pt x="113833" y="107242"/>
                        <a:pt x="112514" y="110424"/>
                        <a:pt x="112514" y="113742"/>
                      </a:cubicBezTo>
                      <a:cubicBezTo>
                        <a:pt x="112514" y="117060"/>
                        <a:pt x="113833" y="120242"/>
                        <a:pt x="116181" y="122587"/>
                      </a:cubicBezTo>
                      <a:close/>
                      <a:moveTo>
                        <a:pt x="275044" y="26231"/>
                      </a:moveTo>
                      <a:lnTo>
                        <a:pt x="237540" y="26231"/>
                      </a:lnTo>
                      <a:cubicBezTo>
                        <a:pt x="230635" y="26231"/>
                        <a:pt x="225038" y="31828"/>
                        <a:pt x="225038" y="38733"/>
                      </a:cubicBezTo>
                      <a:cubicBezTo>
                        <a:pt x="225038" y="45637"/>
                        <a:pt x="230635" y="51234"/>
                        <a:pt x="237540" y="51234"/>
                      </a:cubicBezTo>
                      <a:lnTo>
                        <a:pt x="275044" y="51234"/>
                      </a:lnTo>
                      <a:lnTo>
                        <a:pt x="275044" y="276263"/>
                      </a:lnTo>
                      <a:lnTo>
                        <a:pt x="50016" y="276263"/>
                      </a:lnTo>
                      <a:lnTo>
                        <a:pt x="50016" y="176250"/>
                      </a:lnTo>
                      <a:cubicBezTo>
                        <a:pt x="50016" y="169346"/>
                        <a:pt x="44419" y="163748"/>
                        <a:pt x="37515" y="163748"/>
                      </a:cubicBezTo>
                      <a:cubicBezTo>
                        <a:pt x="30610" y="163748"/>
                        <a:pt x="25013" y="169346"/>
                        <a:pt x="25013" y="176250"/>
                      </a:cubicBezTo>
                      <a:lnTo>
                        <a:pt x="25013" y="276263"/>
                      </a:lnTo>
                      <a:cubicBezTo>
                        <a:pt x="25013" y="290071"/>
                        <a:pt x="36207" y="301266"/>
                        <a:pt x="50016" y="301266"/>
                      </a:cubicBezTo>
                      <a:lnTo>
                        <a:pt x="275044" y="301266"/>
                      </a:lnTo>
                      <a:cubicBezTo>
                        <a:pt x="288853" y="301266"/>
                        <a:pt x="300047" y="290071"/>
                        <a:pt x="300047" y="276263"/>
                      </a:cubicBezTo>
                      <a:lnTo>
                        <a:pt x="300047" y="51234"/>
                      </a:lnTo>
                      <a:cubicBezTo>
                        <a:pt x="300047" y="37426"/>
                        <a:pt x="288853" y="26231"/>
                        <a:pt x="275044" y="26231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5410200" y="3038475"/>
                <a:ext cx="160279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Kernel Emission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862512" y="3593306"/>
                <a:ext cx="12808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把轴结构落成 DSL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863465" y="3906202"/>
                <a:ext cx="16018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coordinate transforms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863465" y="4153852"/>
                <a:ext cx="16648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load / store / reduction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863465" y="4401502"/>
                <a:ext cx="1636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scan 维推断与 mask 过滤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863465" y="4706302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风险：删错 mask 可能编译通过但结果错误。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7810500" y="3905250"/>
              <a:ext cx="438150" cy="1"/>
            </a:xfrm>
            <a:prstGeom prst="line">
              <a:avLst/>
            </a:prstGeom>
            <a:noFill/>
            <a:ln w="23812">
              <a:solidFill>
                <a:srgbClr val="6B7280"/>
              </a:solidFill>
              <a:tailEnd type="triangle" w="lg" len="lg"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324850" y="2762250"/>
              <a:ext cx="3143250" cy="2266950"/>
              <a:chOff x="8324850" y="2762250"/>
              <a:chExt cx="3143250" cy="22669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324850" y="2762250"/>
                <a:ext cx="3143250" cy="2266950"/>
              </a:xfrm>
              <a:prstGeom prst="roundRect">
                <a:avLst>
                  <a:gd name="adj" fmla="val 4202"/>
                </a:avLst>
              </a:prstGeom>
              <a:solidFill>
                <a:srgbClr val="FFF6E5"/>
              </a:solidFill>
              <a:ln w="9525">
                <a:solidFill>
                  <a:srgbClr val="E9A23B"/>
                </a:solidFill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8622506" y="3066455"/>
                <a:ext cx="300038" cy="325041"/>
                <a:chOff x="8622506" y="3066455"/>
                <a:chExt cx="300038" cy="325041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8635008" y="3078956"/>
                  <a:ext cx="275034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034" h="150019">
                      <a:moveTo>
                        <a:pt x="275034" y="75009"/>
                      </a:moveTo>
                      <a:cubicBezTo>
                        <a:pt x="275034" y="116436"/>
                        <a:pt x="213464" y="150019"/>
                        <a:pt x="137517" y="150019"/>
                      </a:cubicBezTo>
                      <a:cubicBezTo>
                        <a:pt x="61570" y="150019"/>
                        <a:pt x="0" y="116436"/>
                        <a:pt x="0" y="75009"/>
                      </a:cubicBezTo>
                      <a:cubicBezTo>
                        <a:pt x="0" y="33582"/>
                        <a:pt x="61570" y="0"/>
                        <a:pt x="137517" y="0"/>
                      </a:cubicBezTo>
                      <a:cubicBezTo>
                        <a:pt x="213464" y="0"/>
                        <a:pt x="275034" y="33582"/>
                        <a:pt x="275034" y="75009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622506" y="3066455"/>
                  <a:ext cx="300038" cy="325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25041">
                      <a:moveTo>
                        <a:pt x="150019" y="0"/>
                      </a:moveTo>
                      <a:cubicBezTo>
                        <a:pt x="65899" y="0"/>
                        <a:pt x="0" y="38442"/>
                        <a:pt x="0" y="87511"/>
                      </a:cubicBezTo>
                      <a:lnTo>
                        <a:pt x="0" y="237530"/>
                      </a:lnTo>
                      <a:cubicBezTo>
                        <a:pt x="0" y="286598"/>
                        <a:pt x="65899" y="325041"/>
                        <a:pt x="150019" y="325041"/>
                      </a:cubicBezTo>
                      <a:cubicBezTo>
                        <a:pt x="234139" y="325041"/>
                        <a:pt x="300038" y="286598"/>
                        <a:pt x="300038" y="237530"/>
                      </a:cubicBezTo>
                      <a:lnTo>
                        <a:pt x="300038" y="87511"/>
                      </a:lnTo>
                      <a:cubicBezTo>
                        <a:pt x="300038" y="38442"/>
                        <a:pt x="234139" y="0"/>
                        <a:pt x="150019" y="0"/>
                      </a:cubicBezTo>
                      <a:close/>
                      <a:moveTo>
                        <a:pt x="275034" y="162520"/>
                      </a:moveTo>
                      <a:cubicBezTo>
                        <a:pt x="275034" y="177553"/>
                        <a:pt x="262720" y="192883"/>
                        <a:pt x="241265" y="204588"/>
                      </a:cubicBezTo>
                      <a:cubicBezTo>
                        <a:pt x="217105" y="217762"/>
                        <a:pt x="184695" y="225028"/>
                        <a:pt x="150019" y="225028"/>
                      </a:cubicBezTo>
                      <a:cubicBezTo>
                        <a:pt x="115343" y="225028"/>
                        <a:pt x="82932" y="217762"/>
                        <a:pt x="58773" y="204588"/>
                      </a:cubicBezTo>
                      <a:cubicBezTo>
                        <a:pt x="37317" y="192883"/>
                        <a:pt x="25003" y="177553"/>
                        <a:pt x="25003" y="162520"/>
                      </a:cubicBezTo>
                      <a:lnTo>
                        <a:pt x="25003" y="136517"/>
                      </a:lnTo>
                      <a:cubicBezTo>
                        <a:pt x="51663" y="159957"/>
                        <a:pt x="97247" y="175022"/>
                        <a:pt x="150019" y="175022"/>
                      </a:cubicBezTo>
                      <a:cubicBezTo>
                        <a:pt x="202791" y="175022"/>
                        <a:pt x="248375" y="159895"/>
                        <a:pt x="275034" y="136517"/>
                      </a:cubicBezTo>
                      <a:close/>
                      <a:moveTo>
                        <a:pt x="58773" y="45443"/>
                      </a:moveTo>
                      <a:cubicBezTo>
                        <a:pt x="82932" y="32270"/>
                        <a:pt x="115343" y="25003"/>
                        <a:pt x="150019" y="25003"/>
                      </a:cubicBezTo>
                      <a:cubicBezTo>
                        <a:pt x="184695" y="25003"/>
                        <a:pt x="217105" y="32270"/>
                        <a:pt x="241265" y="45443"/>
                      </a:cubicBezTo>
                      <a:cubicBezTo>
                        <a:pt x="262720" y="57148"/>
                        <a:pt x="275034" y="72478"/>
                        <a:pt x="275034" y="87511"/>
                      </a:cubicBezTo>
                      <a:cubicBezTo>
                        <a:pt x="275034" y="102544"/>
                        <a:pt x="262720" y="117874"/>
                        <a:pt x="241265" y="129579"/>
                      </a:cubicBezTo>
                      <a:cubicBezTo>
                        <a:pt x="217105" y="142752"/>
                        <a:pt x="184695" y="150019"/>
                        <a:pt x="150019" y="150019"/>
                      </a:cubicBezTo>
                      <a:cubicBezTo>
                        <a:pt x="115343" y="150019"/>
                        <a:pt x="82932" y="142752"/>
                        <a:pt x="58773" y="129579"/>
                      </a:cubicBezTo>
                      <a:cubicBezTo>
                        <a:pt x="37317" y="117874"/>
                        <a:pt x="25003" y="102544"/>
                        <a:pt x="25003" y="87511"/>
                      </a:cubicBezTo>
                      <a:cubicBezTo>
                        <a:pt x="25003" y="72478"/>
                        <a:pt x="37317" y="57148"/>
                        <a:pt x="58773" y="45443"/>
                      </a:cubicBezTo>
                      <a:close/>
                      <a:moveTo>
                        <a:pt x="241265" y="279597"/>
                      </a:moveTo>
                      <a:cubicBezTo>
                        <a:pt x="217105" y="292771"/>
                        <a:pt x="184695" y="300038"/>
                        <a:pt x="150019" y="300038"/>
                      </a:cubicBezTo>
                      <a:cubicBezTo>
                        <a:pt x="115343" y="300038"/>
                        <a:pt x="82932" y="292771"/>
                        <a:pt x="58773" y="279597"/>
                      </a:cubicBezTo>
                      <a:cubicBezTo>
                        <a:pt x="37317" y="267893"/>
                        <a:pt x="25003" y="252563"/>
                        <a:pt x="25003" y="237530"/>
                      </a:cubicBezTo>
                      <a:lnTo>
                        <a:pt x="25003" y="211526"/>
                      </a:lnTo>
                      <a:cubicBezTo>
                        <a:pt x="51663" y="234967"/>
                        <a:pt x="97247" y="250031"/>
                        <a:pt x="150019" y="250031"/>
                      </a:cubicBezTo>
                      <a:cubicBezTo>
                        <a:pt x="202791" y="250031"/>
                        <a:pt x="248375" y="234904"/>
                        <a:pt x="275034" y="211526"/>
                      </a:cubicBezTo>
                      <a:lnTo>
                        <a:pt x="275034" y="237530"/>
                      </a:lnTo>
                      <a:cubicBezTo>
                        <a:pt x="275034" y="252563"/>
                        <a:pt x="262720" y="267893"/>
                        <a:pt x="241265" y="279597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9105900" y="3038475"/>
                <a:ext cx="19913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Metadata Contract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558212" y="3593306"/>
                <a:ext cx="161952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生成 runtime 私有 ABI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560118" y="3914299"/>
                <a:ext cx="9478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inductor_meta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560118" y="4161949"/>
                <a:ext cx="20725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axis_names / axis_static_values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560118" y="44095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npu_kernel_type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559165" y="4706302"/>
                <a:ext cx="27360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风险：dict 字段漂移会静默影响 runtime。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838200" y="6019800"/>
            <a:ext cx="10515600" cy="361950"/>
            <a:chOff x="838200" y="6019800"/>
            <a:chExt cx="10515600" cy="361950"/>
          </a:xfrm>
        </p:grpSpPr>
        <p:sp>
          <p:nvSpPr>
            <p:cNvPr id="51" name="Rectangle 51"/>
            <p:cNvSpPr/>
            <p:nvPr/>
          </p:nvSpPr>
          <p:spPr>
            <a:xfrm>
              <a:off x="838200" y="6019800"/>
              <a:ext cx="10515600" cy="361950"/>
            </a:xfrm>
            <a:prstGeom prst="roundRect">
              <a:avLst>
                <a:gd name="adj" fmla="val 21053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71562" y="6126956"/>
              <a:ext cx="70303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长期建议：把 axis planning、kernel emission、metadata/autotune contract 拆成可测试边界。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3875" y="6529388"/>
            <a:ext cx="11144250" cy="152400"/>
            <a:chOff x="523875" y="6529388"/>
            <a:chExt cx="11144250" cy="152400"/>
          </a:xfrm>
        </p:grpSpPr>
        <p:sp>
          <p:nvSpPr>
            <p:cNvPr id="54" name="TextBox 54"/>
            <p:cNvSpPr txBox="1"/>
            <p:nvPr/>
          </p:nvSpPr>
          <p:spPr>
            <a:xfrm>
              <a:off x="523875" y="6529388"/>
              <a:ext cx="282940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 3.3 NPUIndexTritonKernel responsibilities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39061" y="6529388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9671761" cy="663892"/>
            <a:chOff x="502920" y="331470"/>
            <a:chExt cx="9671761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96717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最关键的耦合是 codegen 和 autotune 共用一套 axis metadata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5669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这条私有协议只对 NPUTritonScheduling 主线成立，是后续升级时最需要显式管理的边界。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3400" y="1352550"/>
            <a:ext cx="11125200" cy="4362450"/>
            <a:chOff x="533400" y="1352550"/>
            <a:chExt cx="11125200" cy="4362450"/>
          </a:xfrm>
        </p:grpSpPr>
        <p:sp>
          <p:nvSpPr>
            <p:cNvPr id="8" name="Rectangle 8"/>
            <p:cNvSpPr/>
            <p:nvPr/>
          </p:nvSpPr>
          <p:spPr>
            <a:xfrm>
              <a:off x="533400" y="1352550"/>
              <a:ext cx="11125200" cy="4362450"/>
            </a:xfrm>
            <a:prstGeom prst="roundRect">
              <a:avLst>
                <a:gd name="adj" fmla="val 3057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95944" y="1552099"/>
              <a:ext cx="640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PRIVATE AXIS PROTOCOL: group_fn → SplitTiling → inductor_meta → TileGenerator → runtime launch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76300" y="2095500"/>
              <a:ext cx="1866900" cy="2381250"/>
              <a:chOff x="876300" y="2095500"/>
              <a:chExt cx="1866900" cy="23812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76300" y="2095500"/>
                <a:ext cx="1866900" cy="2381250"/>
              </a:xfrm>
              <a:prstGeom prst="roundRect">
                <a:avLst>
                  <a:gd name="adj" fmla="val 5102"/>
                </a:avLst>
              </a:prstGeom>
              <a:solidFill>
                <a:srgbClr val="E7EFF8"/>
              </a:solidFill>
              <a:ln w="9525">
                <a:solidFill>
                  <a:srgbClr val="1F4E79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15913" y="2417643"/>
                <a:ext cx="339635" cy="252412"/>
                <a:chOff x="1115913" y="2417643"/>
                <a:chExt cx="339635" cy="252412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127522" y="2565797"/>
                  <a:ext cx="90488" cy="90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8" h="90488">
                      <a:moveTo>
                        <a:pt x="90488" y="45244"/>
                      </a:moveTo>
                      <a:cubicBezTo>
                        <a:pt x="90488" y="70231"/>
                        <a:pt x="70231" y="90488"/>
                        <a:pt x="45244" y="90488"/>
                      </a:cubicBezTo>
                      <a:cubicBezTo>
                        <a:pt x="20256" y="90488"/>
                        <a:pt x="0" y="70231"/>
                        <a:pt x="0" y="45244"/>
                      </a:cubicBezTo>
                      <a:cubicBezTo>
                        <a:pt x="0" y="20256"/>
                        <a:pt x="20256" y="0"/>
                        <a:pt x="45244" y="0"/>
                      </a:cubicBezTo>
                      <a:cubicBezTo>
                        <a:pt x="70231" y="0"/>
                        <a:pt x="90488" y="20256"/>
                        <a:pt x="90488" y="45244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15913" y="2417643"/>
                  <a:ext cx="339635" cy="252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35" h="252412">
                      <a:moveTo>
                        <a:pt x="336318" y="49663"/>
                      </a:moveTo>
                      <a:lnTo>
                        <a:pt x="291074" y="4420"/>
                      </a:lnTo>
                      <a:cubicBezTo>
                        <a:pt x="286654" y="0"/>
                        <a:pt x="279488" y="0"/>
                        <a:pt x="275069" y="4420"/>
                      </a:cubicBezTo>
                      <a:cubicBezTo>
                        <a:pt x="270649" y="8839"/>
                        <a:pt x="270649" y="16005"/>
                        <a:pt x="275069" y="20425"/>
                      </a:cubicBezTo>
                      <a:lnTo>
                        <a:pt x="301013" y="46355"/>
                      </a:lnTo>
                      <a:lnTo>
                        <a:pt x="260449" y="46355"/>
                      </a:lnTo>
                      <a:cubicBezTo>
                        <a:pt x="246592" y="46857"/>
                        <a:pt x="232971" y="50091"/>
                        <a:pt x="220366" y="55870"/>
                      </a:cubicBezTo>
                      <a:cubicBezTo>
                        <a:pt x="201109" y="64764"/>
                        <a:pt x="176777" y="83738"/>
                        <a:pt x="170117" y="123736"/>
                      </a:cubicBezTo>
                      <a:cubicBezTo>
                        <a:pt x="162596" y="168881"/>
                        <a:pt x="128974" y="179188"/>
                        <a:pt x="112149" y="181507"/>
                      </a:cubicBezTo>
                      <a:cubicBezTo>
                        <a:pt x="106004" y="153140"/>
                        <a:pt x="79382" y="134030"/>
                        <a:pt x="50540" y="137282"/>
                      </a:cubicBezTo>
                      <a:cubicBezTo>
                        <a:pt x="21698" y="140534"/>
                        <a:pt x="0" y="165092"/>
                        <a:pt x="325" y="194115"/>
                      </a:cubicBezTo>
                      <a:cubicBezTo>
                        <a:pt x="651" y="223138"/>
                        <a:pt x="22894" y="247203"/>
                        <a:pt x="51801" y="249807"/>
                      </a:cubicBezTo>
                      <a:cubicBezTo>
                        <a:pt x="80709" y="252412"/>
                        <a:pt x="106895" y="232711"/>
                        <a:pt x="112403" y="204213"/>
                      </a:cubicBezTo>
                      <a:cubicBezTo>
                        <a:pt x="122572" y="203054"/>
                        <a:pt x="132507" y="200361"/>
                        <a:pt x="141868" y="196225"/>
                      </a:cubicBezTo>
                      <a:cubicBezTo>
                        <a:pt x="161125" y="187742"/>
                        <a:pt x="185514" y="168796"/>
                        <a:pt x="192428" y="127384"/>
                      </a:cubicBezTo>
                      <a:cubicBezTo>
                        <a:pt x="201986" y="70066"/>
                        <a:pt x="258102" y="68977"/>
                        <a:pt x="260449" y="68977"/>
                      </a:cubicBezTo>
                      <a:lnTo>
                        <a:pt x="301013" y="68977"/>
                      </a:lnTo>
                      <a:lnTo>
                        <a:pt x="275069" y="94907"/>
                      </a:lnTo>
                      <a:cubicBezTo>
                        <a:pt x="270649" y="99327"/>
                        <a:pt x="270649" y="106492"/>
                        <a:pt x="275069" y="110912"/>
                      </a:cubicBezTo>
                      <a:cubicBezTo>
                        <a:pt x="279488" y="115332"/>
                        <a:pt x="286654" y="115332"/>
                        <a:pt x="291074" y="110912"/>
                      </a:cubicBezTo>
                      <a:lnTo>
                        <a:pt x="336318" y="65668"/>
                      </a:lnTo>
                      <a:cubicBezTo>
                        <a:pt x="338442" y="63547"/>
                        <a:pt x="339635" y="60668"/>
                        <a:pt x="339635" y="57666"/>
                      </a:cubicBezTo>
                      <a:cubicBezTo>
                        <a:pt x="339635" y="54664"/>
                        <a:pt x="338442" y="51785"/>
                        <a:pt x="336318" y="49663"/>
                      </a:cubicBezTo>
                      <a:close/>
                      <a:moveTo>
                        <a:pt x="56853" y="227330"/>
                      </a:moveTo>
                      <a:cubicBezTo>
                        <a:pt x="38112" y="227330"/>
                        <a:pt x="22920" y="212138"/>
                        <a:pt x="22920" y="193397"/>
                      </a:cubicBezTo>
                      <a:cubicBezTo>
                        <a:pt x="22920" y="174657"/>
                        <a:pt x="38112" y="159464"/>
                        <a:pt x="56853" y="159464"/>
                      </a:cubicBezTo>
                      <a:cubicBezTo>
                        <a:pt x="75593" y="159464"/>
                        <a:pt x="90785" y="174657"/>
                        <a:pt x="90785" y="193397"/>
                      </a:cubicBezTo>
                      <a:cubicBezTo>
                        <a:pt x="90785" y="212138"/>
                        <a:pt x="75593" y="227330"/>
                        <a:pt x="56853" y="227330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565910" y="244221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保留轴结构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1565" y="2972752"/>
                <a:ext cx="7967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4E79"/>
                    </a:solidFill>
                    <a:latin typeface="Consolas"/>
                    <a:ea typeface="Microsoft YaHei"/>
                    <a:cs typeface="Consolas"/>
                  </a:rPr>
                  <a:t>group_fn()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91566" y="3258502"/>
                <a:ext cx="1488138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不再简单压成总 numel，而是保留 ranges 结构。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104900" y="3981450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64231" y="4065270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调度侧产物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2800350" y="3295650"/>
              <a:ext cx="45720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333750" y="2095500"/>
              <a:ext cx="1866900" cy="2381250"/>
              <a:chOff x="3333750" y="2095500"/>
              <a:chExt cx="1866900" cy="23812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333750" y="2095500"/>
                <a:ext cx="1866900" cy="2381250"/>
              </a:xfrm>
              <a:prstGeom prst="roundRect">
                <a:avLst>
                  <a:gd name="adj" fmla="val 5102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3595383" y="2384822"/>
                <a:ext cx="295875" cy="294093"/>
                <a:chOff x="3595383" y="2384822"/>
                <a:chExt cx="295875" cy="294093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3607594" y="2622352"/>
                  <a:ext cx="271462" cy="4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45244">
                      <a:moveTo>
                        <a:pt x="0" y="0"/>
                      </a:moveTo>
                      <a:lnTo>
                        <a:pt x="90488" y="0"/>
                      </a:lnTo>
                      <a:lnTo>
                        <a:pt x="45244" y="45244"/>
                      </a:lnTo>
                      <a:close/>
                      <a:moveTo>
                        <a:pt x="180975" y="0"/>
                      </a:moveTo>
                      <a:lnTo>
                        <a:pt x="226219" y="45244"/>
                      </a:lnTo>
                      <a:lnTo>
                        <a:pt x="271462" y="0"/>
                      </a:ln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595383" y="2384822"/>
                  <a:ext cx="295875" cy="294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875" h="294093">
                      <a:moveTo>
                        <a:pt x="294122" y="233203"/>
                      </a:moveTo>
                      <a:cubicBezTo>
                        <a:pt x="292372" y="228976"/>
                        <a:pt x="288248" y="226220"/>
                        <a:pt x="283673" y="226219"/>
                      </a:cubicBezTo>
                      <a:lnTo>
                        <a:pt x="249740" y="226219"/>
                      </a:lnTo>
                      <a:lnTo>
                        <a:pt x="249740" y="169664"/>
                      </a:lnTo>
                      <a:cubicBezTo>
                        <a:pt x="249743" y="166663"/>
                        <a:pt x="248553" y="163785"/>
                        <a:pt x="246432" y="161662"/>
                      </a:cubicBezTo>
                      <a:lnTo>
                        <a:pt x="159253" y="74497"/>
                      </a:lnTo>
                      <a:lnTo>
                        <a:pt x="159253" y="11311"/>
                      </a:lnTo>
                      <a:cubicBezTo>
                        <a:pt x="159253" y="5064"/>
                        <a:pt x="154189" y="0"/>
                        <a:pt x="147942" y="0"/>
                      </a:cubicBezTo>
                      <a:cubicBezTo>
                        <a:pt x="141695" y="0"/>
                        <a:pt x="136631" y="5064"/>
                        <a:pt x="136631" y="11311"/>
                      </a:cubicBezTo>
                      <a:lnTo>
                        <a:pt x="136631" y="74497"/>
                      </a:lnTo>
                      <a:lnTo>
                        <a:pt x="49452" y="161662"/>
                      </a:lnTo>
                      <a:cubicBezTo>
                        <a:pt x="47331" y="163785"/>
                        <a:pt x="46141" y="166663"/>
                        <a:pt x="46143" y="169664"/>
                      </a:cubicBezTo>
                      <a:lnTo>
                        <a:pt x="46143" y="226219"/>
                      </a:lnTo>
                      <a:lnTo>
                        <a:pt x="12211" y="226219"/>
                      </a:lnTo>
                      <a:cubicBezTo>
                        <a:pt x="7633" y="226215"/>
                        <a:pt x="3505" y="228971"/>
                        <a:pt x="1752" y="233200"/>
                      </a:cubicBezTo>
                      <a:cubicBezTo>
                        <a:pt x="0" y="237429"/>
                        <a:pt x="969" y="242297"/>
                        <a:pt x="4208" y="245532"/>
                      </a:cubicBezTo>
                      <a:lnTo>
                        <a:pt x="49452" y="290776"/>
                      </a:lnTo>
                      <a:cubicBezTo>
                        <a:pt x="51573" y="292900"/>
                        <a:pt x="54452" y="294093"/>
                        <a:pt x="57454" y="294093"/>
                      </a:cubicBezTo>
                      <a:cubicBezTo>
                        <a:pt x="60456" y="294093"/>
                        <a:pt x="63335" y="292900"/>
                        <a:pt x="65457" y="290776"/>
                      </a:cubicBezTo>
                      <a:lnTo>
                        <a:pt x="110701" y="245532"/>
                      </a:lnTo>
                      <a:cubicBezTo>
                        <a:pt x="113939" y="242297"/>
                        <a:pt x="114909" y="237429"/>
                        <a:pt x="113156" y="233200"/>
                      </a:cubicBezTo>
                      <a:cubicBezTo>
                        <a:pt x="111404" y="228971"/>
                        <a:pt x="107276" y="226215"/>
                        <a:pt x="102698" y="226219"/>
                      </a:cubicBezTo>
                      <a:lnTo>
                        <a:pt x="68765" y="226219"/>
                      </a:lnTo>
                      <a:lnTo>
                        <a:pt x="68765" y="174344"/>
                      </a:lnTo>
                      <a:lnTo>
                        <a:pt x="147942" y="95167"/>
                      </a:lnTo>
                      <a:lnTo>
                        <a:pt x="227118" y="174344"/>
                      </a:lnTo>
                      <a:lnTo>
                        <a:pt x="227118" y="226219"/>
                      </a:lnTo>
                      <a:lnTo>
                        <a:pt x="193186" y="226219"/>
                      </a:lnTo>
                      <a:cubicBezTo>
                        <a:pt x="188608" y="226215"/>
                        <a:pt x="184480" y="228971"/>
                        <a:pt x="182727" y="233200"/>
                      </a:cubicBezTo>
                      <a:cubicBezTo>
                        <a:pt x="180975" y="237429"/>
                        <a:pt x="181944" y="242297"/>
                        <a:pt x="185183" y="245532"/>
                      </a:cubicBezTo>
                      <a:lnTo>
                        <a:pt x="230427" y="290776"/>
                      </a:lnTo>
                      <a:cubicBezTo>
                        <a:pt x="232548" y="292900"/>
                        <a:pt x="235427" y="294093"/>
                        <a:pt x="238429" y="294093"/>
                      </a:cubicBezTo>
                      <a:cubicBezTo>
                        <a:pt x="241431" y="294093"/>
                        <a:pt x="244310" y="292900"/>
                        <a:pt x="246432" y="290776"/>
                      </a:cubicBezTo>
                      <a:lnTo>
                        <a:pt x="291676" y="245532"/>
                      </a:lnTo>
                      <a:cubicBezTo>
                        <a:pt x="294909" y="242295"/>
                        <a:pt x="295875" y="237429"/>
                        <a:pt x="294122" y="233203"/>
                      </a:cubicBezTo>
                      <a:close/>
                      <a:moveTo>
                        <a:pt x="57454" y="266783"/>
                      </a:moveTo>
                      <a:lnTo>
                        <a:pt x="39512" y="248841"/>
                      </a:lnTo>
                      <a:lnTo>
                        <a:pt x="75396" y="248841"/>
                      </a:lnTo>
                      <a:close/>
                      <a:moveTo>
                        <a:pt x="238429" y="266783"/>
                      </a:moveTo>
                      <a:lnTo>
                        <a:pt x="220487" y="248841"/>
                      </a:lnTo>
                      <a:lnTo>
                        <a:pt x="256371" y="248841"/>
                      </a:ln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4023360" y="244221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选择轴策略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49015" y="2972752"/>
                <a:ext cx="6987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SplitTiling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49016" y="3258502"/>
                <a:ext cx="1488138" cy="484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select split / tiling / no-loop axis，决定 DSL 坐标形态。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562350" y="3981450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849222" y="4065270"/>
                <a:ext cx="79785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codegen 前置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5257800" y="3295650"/>
              <a:ext cx="45720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791200" y="2095500"/>
              <a:ext cx="1866900" cy="2381250"/>
              <a:chOff x="5791200" y="2095500"/>
              <a:chExt cx="1866900" cy="2381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91200" y="2095500"/>
                <a:ext cx="1866900" cy="2381250"/>
              </a:xfrm>
              <a:prstGeom prst="roundRect">
                <a:avLst>
                  <a:gd name="adj" fmla="val 5102"/>
                </a:avLst>
              </a:prstGeom>
              <a:solidFill>
                <a:srgbClr val="FFF6E5"/>
              </a:solidFill>
              <a:ln w="9525">
                <a:solidFill>
                  <a:srgbClr val="E9A23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6065044" y="2396133"/>
                <a:ext cx="271462" cy="294084"/>
                <a:chOff x="6065044" y="2396133"/>
                <a:chExt cx="271462" cy="294084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6076355" y="2407444"/>
                  <a:ext cx="248841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841" h="135731">
                      <a:moveTo>
                        <a:pt x="248841" y="67866"/>
                      </a:moveTo>
                      <a:cubicBezTo>
                        <a:pt x="248841" y="105347"/>
                        <a:pt x="193134" y="135731"/>
                        <a:pt x="124420" y="135731"/>
                      </a:cubicBezTo>
                      <a:cubicBezTo>
                        <a:pt x="55706" y="135731"/>
                        <a:pt x="0" y="105347"/>
                        <a:pt x="0" y="67866"/>
                      </a:cubicBezTo>
                      <a:cubicBezTo>
                        <a:pt x="0" y="30384"/>
                        <a:pt x="55706" y="0"/>
                        <a:pt x="124420" y="0"/>
                      </a:cubicBezTo>
                      <a:cubicBezTo>
                        <a:pt x="193134" y="0"/>
                        <a:pt x="248841" y="30384"/>
                        <a:pt x="248841" y="67866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065044" y="2396133"/>
                  <a:ext cx="271462" cy="294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94084">
                      <a:moveTo>
                        <a:pt x="135731" y="0"/>
                      </a:moveTo>
                      <a:cubicBezTo>
                        <a:pt x="59623" y="0"/>
                        <a:pt x="0" y="34781"/>
                        <a:pt x="0" y="79177"/>
                      </a:cubicBezTo>
                      <a:lnTo>
                        <a:pt x="0" y="214908"/>
                      </a:lnTo>
                      <a:cubicBezTo>
                        <a:pt x="0" y="259303"/>
                        <a:pt x="59623" y="294084"/>
                        <a:pt x="135731" y="294084"/>
                      </a:cubicBezTo>
                      <a:cubicBezTo>
                        <a:pt x="211840" y="294084"/>
                        <a:pt x="271462" y="259303"/>
                        <a:pt x="271462" y="214908"/>
                      </a:cubicBezTo>
                      <a:lnTo>
                        <a:pt x="271462" y="79177"/>
                      </a:lnTo>
                      <a:cubicBezTo>
                        <a:pt x="271462" y="34781"/>
                        <a:pt x="211840" y="0"/>
                        <a:pt x="135731" y="0"/>
                      </a:cubicBezTo>
                      <a:close/>
                      <a:moveTo>
                        <a:pt x="248841" y="147042"/>
                      </a:moveTo>
                      <a:cubicBezTo>
                        <a:pt x="248841" y="160644"/>
                        <a:pt x="237699" y="174514"/>
                        <a:pt x="218287" y="185103"/>
                      </a:cubicBezTo>
                      <a:cubicBezTo>
                        <a:pt x="196429" y="197022"/>
                        <a:pt x="167105" y="203597"/>
                        <a:pt x="135731" y="203597"/>
                      </a:cubicBezTo>
                      <a:cubicBezTo>
                        <a:pt x="104358" y="203597"/>
                        <a:pt x="75034" y="197022"/>
                        <a:pt x="53176" y="185103"/>
                      </a:cubicBezTo>
                      <a:cubicBezTo>
                        <a:pt x="33763" y="174514"/>
                        <a:pt x="22622" y="160644"/>
                        <a:pt x="22622" y="147042"/>
                      </a:cubicBezTo>
                      <a:lnTo>
                        <a:pt x="22622" y="123515"/>
                      </a:lnTo>
                      <a:cubicBezTo>
                        <a:pt x="46742" y="144723"/>
                        <a:pt x="87985" y="158353"/>
                        <a:pt x="135731" y="158353"/>
                      </a:cubicBezTo>
                      <a:cubicBezTo>
                        <a:pt x="183478" y="158353"/>
                        <a:pt x="224720" y="144667"/>
                        <a:pt x="248841" y="123515"/>
                      </a:cubicBezTo>
                      <a:close/>
                      <a:moveTo>
                        <a:pt x="53176" y="41115"/>
                      </a:moveTo>
                      <a:cubicBezTo>
                        <a:pt x="75034" y="29196"/>
                        <a:pt x="104358" y="22622"/>
                        <a:pt x="135731" y="22622"/>
                      </a:cubicBezTo>
                      <a:cubicBezTo>
                        <a:pt x="167105" y="22622"/>
                        <a:pt x="196429" y="29196"/>
                        <a:pt x="218287" y="41115"/>
                      </a:cubicBezTo>
                      <a:cubicBezTo>
                        <a:pt x="237699" y="51705"/>
                        <a:pt x="248841" y="65575"/>
                        <a:pt x="248841" y="79177"/>
                      </a:cubicBezTo>
                      <a:cubicBezTo>
                        <a:pt x="248841" y="92778"/>
                        <a:pt x="237699" y="106648"/>
                        <a:pt x="218287" y="117238"/>
                      </a:cubicBezTo>
                      <a:cubicBezTo>
                        <a:pt x="196429" y="129157"/>
                        <a:pt x="167105" y="135731"/>
                        <a:pt x="135731" y="135731"/>
                      </a:cubicBezTo>
                      <a:cubicBezTo>
                        <a:pt x="104358" y="135731"/>
                        <a:pt x="75034" y="129157"/>
                        <a:pt x="53176" y="117238"/>
                      </a:cubicBezTo>
                      <a:cubicBezTo>
                        <a:pt x="33763" y="106648"/>
                        <a:pt x="22622" y="92778"/>
                        <a:pt x="22622" y="79177"/>
                      </a:cubicBezTo>
                      <a:cubicBezTo>
                        <a:pt x="22622" y="65575"/>
                        <a:pt x="33763" y="51705"/>
                        <a:pt x="53176" y="41115"/>
                      </a:cubicBezTo>
                      <a:close/>
                      <a:moveTo>
                        <a:pt x="218287" y="252969"/>
                      </a:moveTo>
                      <a:cubicBezTo>
                        <a:pt x="196429" y="264888"/>
                        <a:pt x="167105" y="271462"/>
                        <a:pt x="135731" y="271462"/>
                      </a:cubicBezTo>
                      <a:cubicBezTo>
                        <a:pt x="104358" y="271462"/>
                        <a:pt x="75034" y="264888"/>
                        <a:pt x="53176" y="252969"/>
                      </a:cubicBezTo>
                      <a:cubicBezTo>
                        <a:pt x="33763" y="242379"/>
                        <a:pt x="22622" y="228509"/>
                        <a:pt x="22622" y="214908"/>
                      </a:cubicBezTo>
                      <a:lnTo>
                        <a:pt x="22622" y="191381"/>
                      </a:lnTo>
                      <a:cubicBezTo>
                        <a:pt x="46742" y="212589"/>
                        <a:pt x="87985" y="226219"/>
                        <a:pt x="135731" y="226219"/>
                      </a:cubicBezTo>
                      <a:cubicBezTo>
                        <a:pt x="183478" y="226219"/>
                        <a:pt x="224720" y="212533"/>
                        <a:pt x="248841" y="191381"/>
                      </a:cubicBezTo>
                      <a:lnTo>
                        <a:pt x="248841" y="214908"/>
                      </a:lnTo>
                      <a:cubicBezTo>
                        <a:pt x="248841" y="228509"/>
                        <a:pt x="237699" y="242379"/>
                        <a:pt x="218287" y="252969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6480810" y="2442210"/>
                <a:ext cx="8201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编码为 ABI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06465" y="2972752"/>
                <a:ext cx="10207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2410C"/>
                    </a:solidFill>
                    <a:latin typeface="Consolas"/>
                    <a:ea typeface="Microsoft YaHei"/>
                    <a:cs typeface="Consolas"/>
                  </a:rPr>
                  <a:t>inductor_meta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06465" y="3258502"/>
                <a:ext cx="1586532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字段承载 axis_names、static values、kernel type。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019800" y="3981450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442138" y="406527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2410C"/>
                    </a:solidFill>
                    <a:latin typeface="Segoe UI"/>
                    <a:ea typeface="Microsoft YaHei"/>
                    <a:cs typeface="Segoe UI"/>
                  </a:rPr>
                  <a:t>私有契约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715250" y="3295650"/>
              <a:ext cx="45720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248650" y="2095500"/>
              <a:ext cx="1866900" cy="2381250"/>
              <a:chOff x="8248650" y="2095500"/>
              <a:chExt cx="1866900" cy="23812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248650" y="2095500"/>
                <a:ext cx="1866900" cy="2381250"/>
              </a:xfrm>
              <a:prstGeom prst="roundRect">
                <a:avLst>
                  <a:gd name="adj" fmla="val 5102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8509542" y="2418703"/>
                <a:ext cx="297447" cy="272778"/>
                <a:chOff x="8509542" y="2418703"/>
                <a:chExt cx="297447" cy="272778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8521681" y="2430066"/>
                  <a:ext cx="273089" cy="24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89" h="249450">
                      <a:moveTo>
                        <a:pt x="269307" y="18918"/>
                      </a:moveTo>
                      <a:lnTo>
                        <a:pt x="173531" y="121154"/>
                      </a:lnTo>
                      <a:cubicBezTo>
                        <a:pt x="171568" y="123251"/>
                        <a:pt x="170476" y="126016"/>
                        <a:pt x="170477" y="128888"/>
                      </a:cubicBezTo>
                      <a:lnTo>
                        <a:pt x="170477" y="207344"/>
                      </a:lnTo>
                      <a:cubicBezTo>
                        <a:pt x="170480" y="211127"/>
                        <a:pt x="168591" y="214660"/>
                        <a:pt x="165444" y="216760"/>
                      </a:cubicBezTo>
                      <a:lnTo>
                        <a:pt x="120200" y="246918"/>
                      </a:lnTo>
                      <a:cubicBezTo>
                        <a:pt x="116733" y="249231"/>
                        <a:pt x="112274" y="249450"/>
                        <a:pt x="108596" y="247487"/>
                      </a:cubicBezTo>
                      <a:cubicBezTo>
                        <a:pt x="104919" y="245524"/>
                        <a:pt x="102619" y="241698"/>
                        <a:pt x="102612" y="237530"/>
                      </a:cubicBezTo>
                      <a:lnTo>
                        <a:pt x="102612" y="128888"/>
                      </a:lnTo>
                      <a:cubicBezTo>
                        <a:pt x="102612" y="126016"/>
                        <a:pt x="101521" y="123251"/>
                        <a:pt x="99558" y="121154"/>
                      </a:cubicBezTo>
                      <a:lnTo>
                        <a:pt x="3782" y="18918"/>
                      </a:lnTo>
                      <a:cubicBezTo>
                        <a:pt x="775" y="15608"/>
                        <a:pt x="0" y="10838"/>
                        <a:pt x="1804" y="6747"/>
                      </a:cubicBezTo>
                      <a:cubicBezTo>
                        <a:pt x="3608" y="2656"/>
                        <a:pt x="7653" y="12"/>
                        <a:pt x="12124" y="0"/>
                      </a:cubicBezTo>
                      <a:lnTo>
                        <a:pt x="260965" y="0"/>
                      </a:lnTo>
                      <a:cubicBezTo>
                        <a:pt x="265436" y="12"/>
                        <a:pt x="269481" y="2656"/>
                        <a:pt x="271285" y="6747"/>
                      </a:cubicBezTo>
                      <a:cubicBezTo>
                        <a:pt x="273089" y="10838"/>
                        <a:pt x="272314" y="15608"/>
                        <a:pt x="269307" y="18918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509542" y="2418703"/>
                  <a:ext cx="297447" cy="272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447" h="272778">
                      <a:moveTo>
                        <a:pt x="293746" y="13526"/>
                      </a:moveTo>
                      <a:cubicBezTo>
                        <a:pt x="290187" y="5303"/>
                        <a:pt x="282063" y="0"/>
                        <a:pt x="273104" y="51"/>
                      </a:cubicBezTo>
                      <a:lnTo>
                        <a:pt x="24263" y="51"/>
                      </a:lnTo>
                      <a:cubicBezTo>
                        <a:pt x="15318" y="69"/>
                        <a:pt x="7223" y="5356"/>
                        <a:pt x="3612" y="13539"/>
                      </a:cubicBezTo>
                      <a:cubicBezTo>
                        <a:pt x="0" y="21723"/>
                        <a:pt x="1550" y="31266"/>
                        <a:pt x="7565" y="37886"/>
                      </a:cubicBezTo>
                      <a:lnTo>
                        <a:pt x="7678" y="38014"/>
                      </a:lnTo>
                      <a:lnTo>
                        <a:pt x="103440" y="140265"/>
                      </a:lnTo>
                      <a:lnTo>
                        <a:pt x="103440" y="248892"/>
                      </a:lnTo>
                      <a:cubicBezTo>
                        <a:pt x="103438" y="257234"/>
                        <a:pt x="108027" y="264900"/>
                        <a:pt x="115381" y="268839"/>
                      </a:cubicBezTo>
                      <a:cubicBezTo>
                        <a:pt x="122735" y="272778"/>
                        <a:pt x="131660" y="272349"/>
                        <a:pt x="138603" y="267725"/>
                      </a:cubicBezTo>
                      <a:lnTo>
                        <a:pt x="183846" y="237553"/>
                      </a:lnTo>
                      <a:cubicBezTo>
                        <a:pt x="190145" y="233357"/>
                        <a:pt x="193929" y="226289"/>
                        <a:pt x="193927" y="218720"/>
                      </a:cubicBezTo>
                      <a:lnTo>
                        <a:pt x="193927" y="140265"/>
                      </a:lnTo>
                      <a:lnTo>
                        <a:pt x="289702" y="38014"/>
                      </a:lnTo>
                      <a:lnTo>
                        <a:pt x="289816" y="37886"/>
                      </a:lnTo>
                      <a:cubicBezTo>
                        <a:pt x="295899" y="31292"/>
                        <a:pt x="297447" y="21698"/>
                        <a:pt x="293746" y="13526"/>
                      </a:cubicBezTo>
                      <a:close/>
                      <a:moveTo>
                        <a:pt x="24263" y="22673"/>
                      </a:moveTo>
                      <a:lnTo>
                        <a:pt x="24263" y="22673"/>
                      </a:lnTo>
                      <a:close/>
                      <a:moveTo>
                        <a:pt x="177441" y="124868"/>
                      </a:moveTo>
                      <a:cubicBezTo>
                        <a:pt x="173512" y="129033"/>
                        <a:pt x="171318" y="134539"/>
                        <a:pt x="171305" y="140265"/>
                      </a:cubicBezTo>
                      <a:lnTo>
                        <a:pt x="171305" y="218720"/>
                      </a:lnTo>
                      <a:lnTo>
                        <a:pt x="126062" y="248892"/>
                      </a:lnTo>
                      <a:lnTo>
                        <a:pt x="126062" y="140265"/>
                      </a:lnTo>
                      <a:cubicBezTo>
                        <a:pt x="126075" y="134518"/>
                        <a:pt x="123889" y="128984"/>
                        <a:pt x="119954" y="124797"/>
                      </a:cubicBezTo>
                      <a:lnTo>
                        <a:pt x="24263" y="22673"/>
                      </a:lnTo>
                      <a:lnTo>
                        <a:pt x="273104" y="22673"/>
                      </a:ln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8938260" y="2442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生成候选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463915" y="2972752"/>
                <a:ext cx="957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TileGenerator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463914" y="3258502"/>
                <a:ext cx="136588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不再枚举标准 XBLOCK，而是枚举 NPU 轴策略。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477250" y="3981450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767272" y="4065270"/>
                <a:ext cx="7915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runtime 输入</a:t>
                </a:r>
              </a:p>
            </p:txBody>
          </p:sp>
        </p:grpSp>
        <p:sp>
          <p:nvSpPr>
            <p:cNvPr id="53" name="Line 53"/>
            <p:cNvSpPr/>
            <p:nvPr/>
          </p:nvSpPr>
          <p:spPr>
            <a:xfrm>
              <a:off x="10172700" y="3295650"/>
              <a:ext cx="45720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0706100" y="2095500"/>
              <a:ext cx="609600" cy="2381250"/>
              <a:chOff x="10706100" y="2095500"/>
              <a:chExt cx="609600" cy="23812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10706100" y="2095500"/>
                <a:ext cx="609600" cy="2381250"/>
              </a:xfrm>
              <a:prstGeom prst="roundRect">
                <a:avLst>
                  <a:gd name="adj" fmla="val 15625"/>
                </a:avLst>
              </a:prstGeom>
              <a:solidFill>
                <a:srgbClr val="153A5B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756395" y="2755106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launch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776085" y="3059906"/>
                <a:ext cx="4696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policy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771441" y="3541395"/>
                <a:ext cx="4789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7EFF8"/>
                    </a:solidFill>
                    <a:latin typeface="Segoe UI"/>
                    <a:ea typeface="Microsoft YaHei"/>
                    <a:cs typeface="Segoe UI"/>
                  </a:rPr>
                  <a:t>runtime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750439" y="3750945"/>
                <a:ext cx="520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7EFF8"/>
                    </a:solidFill>
                    <a:latin typeface="Segoe UI"/>
                    <a:ea typeface="Microsoft YaHei"/>
                    <a:cs typeface="Segoe UI"/>
                  </a:rPr>
                  <a:t>dispatch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800100" y="5905500"/>
            <a:ext cx="10591800" cy="381000"/>
            <a:chOff x="800100" y="5905500"/>
            <a:chExt cx="10591800" cy="381000"/>
          </a:xfrm>
        </p:grpSpPr>
        <p:sp>
          <p:nvSpPr>
            <p:cNvPr id="61" name="Rectangle 61"/>
            <p:cNvSpPr/>
            <p:nvPr/>
          </p:nvSpPr>
          <p:spPr>
            <a:xfrm>
              <a:off x="800100" y="5905500"/>
              <a:ext cx="10591800" cy="381000"/>
            </a:xfrm>
            <a:prstGeom prst="roundRect">
              <a:avLst>
                <a:gd name="adj" fmla="val 20000"/>
              </a:avLst>
            </a:prstGeom>
            <a:solidFill>
              <a:srgbClr val="FFF6E5"/>
            </a:solidFill>
            <a:ln w="9525">
              <a:solidFill>
                <a:srgbClr val="E9A23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33462" y="60317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改造方向：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852612" y="6031706"/>
              <a:ext cx="65693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将这组字段从松散 dict 升级为 typed metadata contract，并在 codegen → runtime 边界校验。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3875" y="6491288"/>
            <a:ext cx="11144250" cy="152400"/>
            <a:chOff x="523875" y="6491288"/>
            <a:chExt cx="11144250" cy="152400"/>
          </a:xfrm>
        </p:grpSpPr>
        <p:sp>
          <p:nvSpPr>
            <p:cNvPr id="65" name="TextBox 65"/>
            <p:cNvSpPr txBox="1"/>
            <p:nvPr/>
          </p:nvSpPr>
          <p:spPr>
            <a:xfrm>
              <a:off x="523875" y="6491288"/>
              <a:ext cx="23243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Sections 3.4-3.6 private axis protocol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64064" y="6491288"/>
              <a:ext cx="1040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8747646" cy="663892"/>
            <a:chOff x="502920" y="331470"/>
            <a:chExt cx="8747646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87476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Autotune 已经从 benchmark 工具变成 runtime 决策系统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58023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候选生成、编译资源准入、批量 profiling、grouped dispatch 都依赖 NPU 私有 metadata。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3400" y="1390650"/>
            <a:ext cx="11125200" cy="4371975"/>
            <a:chOff x="533400" y="1390650"/>
            <a:chExt cx="11125200" cy="4371975"/>
          </a:xfrm>
        </p:grpSpPr>
        <p:sp>
          <p:nvSpPr>
            <p:cNvPr id="8" name="Rectangle 8"/>
            <p:cNvSpPr/>
            <p:nvPr/>
          </p:nvSpPr>
          <p:spPr>
            <a:xfrm>
              <a:off x="533400" y="1390650"/>
              <a:ext cx="11125200" cy="4371975"/>
            </a:xfrm>
            <a:prstGeom prst="roundRect">
              <a:avLst>
                <a:gd name="adj" fmla="val 3050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33450" y="1885950"/>
              <a:ext cx="1695450" cy="838200"/>
              <a:chOff x="933450" y="1885950"/>
              <a:chExt cx="1695450" cy="8382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33450" y="1885950"/>
                <a:ext cx="169545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E7EFF8"/>
              </a:solidFill>
              <a:ln w="9525">
                <a:solidFill>
                  <a:srgbClr val="1F4E79"/>
                </a:solidFill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162355" y="2163551"/>
                <a:ext cx="285121" cy="263961"/>
                <a:chOff x="1162355" y="2163551"/>
                <a:chExt cx="285121" cy="26396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72576" y="2174081"/>
                  <a:ext cx="264680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680" h="242888">
                      <a:moveTo>
                        <a:pt x="261509" y="97104"/>
                      </a:moveTo>
                      <a:lnTo>
                        <a:pt x="221218" y="74157"/>
                      </a:lnTo>
                      <a:cubicBezTo>
                        <a:pt x="220408" y="72689"/>
                        <a:pt x="219561" y="71260"/>
                        <a:pt x="218688" y="69843"/>
                      </a:cubicBezTo>
                      <a:lnTo>
                        <a:pt x="218536" y="24301"/>
                      </a:lnTo>
                      <a:cubicBezTo>
                        <a:pt x="205802" y="13555"/>
                        <a:pt x="191154" y="5310"/>
                        <a:pt x="175360" y="0"/>
                      </a:cubicBezTo>
                      <a:lnTo>
                        <a:pt x="134879" y="22632"/>
                      </a:lnTo>
                      <a:cubicBezTo>
                        <a:pt x="133184" y="22632"/>
                        <a:pt x="131476" y="22632"/>
                        <a:pt x="129819" y="22632"/>
                      </a:cubicBezTo>
                      <a:lnTo>
                        <a:pt x="89337" y="0"/>
                      </a:lnTo>
                      <a:cubicBezTo>
                        <a:pt x="73549" y="5327"/>
                        <a:pt x="58908" y="13590"/>
                        <a:pt x="46187" y="24352"/>
                      </a:cubicBezTo>
                      <a:lnTo>
                        <a:pt x="45984" y="69893"/>
                      </a:lnTo>
                      <a:cubicBezTo>
                        <a:pt x="45099" y="71310"/>
                        <a:pt x="44251" y="72752"/>
                        <a:pt x="43454" y="74207"/>
                      </a:cubicBezTo>
                      <a:lnTo>
                        <a:pt x="3176" y="97104"/>
                      </a:lnTo>
                      <a:cubicBezTo>
                        <a:pt x="0" y="113167"/>
                        <a:pt x="0" y="129695"/>
                        <a:pt x="3176" y="145758"/>
                      </a:cubicBezTo>
                      <a:lnTo>
                        <a:pt x="43467" y="168706"/>
                      </a:lnTo>
                      <a:cubicBezTo>
                        <a:pt x="44277" y="170173"/>
                        <a:pt x="45124" y="171603"/>
                        <a:pt x="45997" y="173019"/>
                      </a:cubicBezTo>
                      <a:lnTo>
                        <a:pt x="46149" y="218561"/>
                      </a:lnTo>
                      <a:cubicBezTo>
                        <a:pt x="58884" y="229318"/>
                        <a:pt x="73538" y="237571"/>
                        <a:pt x="89337" y="242888"/>
                      </a:cubicBezTo>
                      <a:lnTo>
                        <a:pt x="129819" y="220281"/>
                      </a:lnTo>
                      <a:cubicBezTo>
                        <a:pt x="131514" y="220281"/>
                        <a:pt x="133222" y="220281"/>
                        <a:pt x="134879" y="220281"/>
                      </a:cubicBezTo>
                      <a:lnTo>
                        <a:pt x="175360" y="242888"/>
                      </a:lnTo>
                      <a:cubicBezTo>
                        <a:pt x="191135" y="237556"/>
                        <a:pt x="205762" y="229294"/>
                        <a:pt x="218473" y="218535"/>
                      </a:cubicBezTo>
                      <a:lnTo>
                        <a:pt x="218675" y="172994"/>
                      </a:lnTo>
                      <a:cubicBezTo>
                        <a:pt x="219561" y="171577"/>
                        <a:pt x="220408" y="170135"/>
                        <a:pt x="221205" y="168680"/>
                      </a:cubicBezTo>
                      <a:lnTo>
                        <a:pt x="261484" y="145783"/>
                      </a:lnTo>
                      <a:cubicBezTo>
                        <a:pt x="264671" y="129714"/>
                        <a:pt x="264680" y="113177"/>
                        <a:pt x="261509" y="97104"/>
                      </a:cubicBezTo>
                      <a:close/>
                      <a:moveTo>
                        <a:pt x="132349" y="172045"/>
                      </a:moveTo>
                      <a:cubicBezTo>
                        <a:pt x="104402" y="172045"/>
                        <a:pt x="81747" y="149390"/>
                        <a:pt x="81747" y="121444"/>
                      </a:cubicBezTo>
                      <a:cubicBezTo>
                        <a:pt x="81747" y="93497"/>
                        <a:pt x="104402" y="70842"/>
                        <a:pt x="132349" y="70842"/>
                      </a:cubicBezTo>
                      <a:cubicBezTo>
                        <a:pt x="160295" y="70842"/>
                        <a:pt x="182950" y="93497"/>
                        <a:pt x="182950" y="121444"/>
                      </a:cubicBezTo>
                      <a:cubicBezTo>
                        <a:pt x="182950" y="149390"/>
                        <a:pt x="160295" y="172045"/>
                        <a:pt x="132349" y="172045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62355" y="2163551"/>
                  <a:ext cx="285121" cy="263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121" h="263961">
                      <a:moveTo>
                        <a:pt x="142570" y="71252"/>
                      </a:moveTo>
                      <a:cubicBezTo>
                        <a:pt x="109034" y="71252"/>
                        <a:pt x="81848" y="98439"/>
                        <a:pt x="81848" y="131974"/>
                      </a:cubicBezTo>
                      <a:cubicBezTo>
                        <a:pt x="81848" y="165510"/>
                        <a:pt x="109034" y="192696"/>
                        <a:pt x="142570" y="192696"/>
                      </a:cubicBezTo>
                      <a:cubicBezTo>
                        <a:pt x="176106" y="192696"/>
                        <a:pt x="203292" y="165510"/>
                        <a:pt x="203292" y="131974"/>
                      </a:cubicBezTo>
                      <a:cubicBezTo>
                        <a:pt x="203257" y="98453"/>
                        <a:pt x="176091" y="71287"/>
                        <a:pt x="142570" y="71252"/>
                      </a:cubicBezTo>
                      <a:close/>
                      <a:moveTo>
                        <a:pt x="142570" y="172456"/>
                      </a:moveTo>
                      <a:cubicBezTo>
                        <a:pt x="120213" y="172456"/>
                        <a:pt x="102089" y="154331"/>
                        <a:pt x="102089" y="131974"/>
                      </a:cubicBezTo>
                      <a:cubicBezTo>
                        <a:pt x="102089" y="109617"/>
                        <a:pt x="120213" y="91493"/>
                        <a:pt x="142570" y="91493"/>
                      </a:cubicBezTo>
                      <a:cubicBezTo>
                        <a:pt x="164927" y="91493"/>
                        <a:pt x="183051" y="109617"/>
                        <a:pt x="183051" y="131974"/>
                      </a:cubicBezTo>
                      <a:cubicBezTo>
                        <a:pt x="183051" y="154331"/>
                        <a:pt x="164927" y="172456"/>
                        <a:pt x="142570" y="172456"/>
                      </a:cubicBezTo>
                      <a:close/>
                      <a:moveTo>
                        <a:pt x="281648" y="105674"/>
                      </a:moveTo>
                      <a:cubicBezTo>
                        <a:pt x="281078" y="102790"/>
                        <a:pt x="279282" y="100297"/>
                        <a:pt x="276727" y="98843"/>
                      </a:cubicBezTo>
                      <a:lnTo>
                        <a:pt x="238991" y="77337"/>
                      </a:lnTo>
                      <a:lnTo>
                        <a:pt x="238839" y="34807"/>
                      </a:lnTo>
                      <a:cubicBezTo>
                        <a:pt x="238830" y="31842"/>
                        <a:pt x="237522" y="29031"/>
                        <a:pt x="235259" y="27115"/>
                      </a:cubicBezTo>
                      <a:cubicBezTo>
                        <a:pt x="221571" y="15536"/>
                        <a:pt x="205807" y="6663"/>
                        <a:pt x="188807" y="967"/>
                      </a:cubicBezTo>
                      <a:cubicBezTo>
                        <a:pt x="186100" y="51"/>
                        <a:pt x="183131" y="322"/>
                        <a:pt x="180635" y="1713"/>
                      </a:cubicBezTo>
                      <a:lnTo>
                        <a:pt x="142570" y="22991"/>
                      </a:lnTo>
                      <a:lnTo>
                        <a:pt x="104467" y="1675"/>
                      </a:lnTo>
                      <a:cubicBezTo>
                        <a:pt x="101969" y="276"/>
                        <a:pt x="98995" y="0"/>
                        <a:pt x="96282" y="916"/>
                      </a:cubicBezTo>
                      <a:cubicBezTo>
                        <a:pt x="79292" y="6649"/>
                        <a:pt x="63546" y="15557"/>
                        <a:pt x="49881" y="27166"/>
                      </a:cubicBezTo>
                      <a:cubicBezTo>
                        <a:pt x="47622" y="29079"/>
                        <a:pt x="46313" y="31885"/>
                        <a:pt x="46300" y="34845"/>
                      </a:cubicBezTo>
                      <a:lnTo>
                        <a:pt x="46111" y="77413"/>
                      </a:lnTo>
                      <a:lnTo>
                        <a:pt x="8375" y="98919"/>
                      </a:lnTo>
                      <a:cubicBezTo>
                        <a:pt x="5820" y="100373"/>
                        <a:pt x="4024" y="102866"/>
                        <a:pt x="3454" y="105750"/>
                      </a:cubicBezTo>
                      <a:cubicBezTo>
                        <a:pt x="0" y="123105"/>
                        <a:pt x="0" y="140970"/>
                        <a:pt x="3454" y="158325"/>
                      </a:cubicBezTo>
                      <a:cubicBezTo>
                        <a:pt x="4024" y="161209"/>
                        <a:pt x="5820" y="163702"/>
                        <a:pt x="8375" y="165156"/>
                      </a:cubicBezTo>
                      <a:lnTo>
                        <a:pt x="46111" y="186662"/>
                      </a:lnTo>
                      <a:lnTo>
                        <a:pt x="46263" y="229205"/>
                      </a:lnTo>
                      <a:cubicBezTo>
                        <a:pt x="46272" y="232170"/>
                        <a:pt x="47580" y="234981"/>
                        <a:pt x="49843" y="236897"/>
                      </a:cubicBezTo>
                      <a:cubicBezTo>
                        <a:pt x="63531" y="248476"/>
                        <a:pt x="79295" y="257349"/>
                        <a:pt x="96295" y="263045"/>
                      </a:cubicBezTo>
                      <a:cubicBezTo>
                        <a:pt x="99002" y="263961"/>
                        <a:pt x="101971" y="263690"/>
                        <a:pt x="104467" y="262299"/>
                      </a:cubicBezTo>
                      <a:lnTo>
                        <a:pt x="142570" y="240957"/>
                      </a:lnTo>
                      <a:lnTo>
                        <a:pt x="180673" y="262273"/>
                      </a:lnTo>
                      <a:cubicBezTo>
                        <a:pt x="182181" y="263113"/>
                        <a:pt x="183880" y="263549"/>
                        <a:pt x="185607" y="263538"/>
                      </a:cubicBezTo>
                      <a:cubicBezTo>
                        <a:pt x="186712" y="263538"/>
                        <a:pt x="187810" y="263359"/>
                        <a:pt x="188858" y="263007"/>
                      </a:cubicBezTo>
                      <a:cubicBezTo>
                        <a:pt x="205843" y="257277"/>
                        <a:pt x="221589" y="248378"/>
                        <a:pt x="235259" y="236783"/>
                      </a:cubicBezTo>
                      <a:cubicBezTo>
                        <a:pt x="237518" y="234870"/>
                        <a:pt x="238826" y="232064"/>
                        <a:pt x="238839" y="229104"/>
                      </a:cubicBezTo>
                      <a:lnTo>
                        <a:pt x="239029" y="186535"/>
                      </a:lnTo>
                      <a:lnTo>
                        <a:pt x="276765" y="165030"/>
                      </a:lnTo>
                      <a:cubicBezTo>
                        <a:pt x="279320" y="163575"/>
                        <a:pt x="281116" y="161082"/>
                        <a:pt x="281686" y="158199"/>
                      </a:cubicBezTo>
                      <a:cubicBezTo>
                        <a:pt x="285121" y="140858"/>
                        <a:pt x="285108" y="123010"/>
                        <a:pt x="281648" y="105674"/>
                      </a:cubicBezTo>
                      <a:close/>
                      <a:moveTo>
                        <a:pt x="262673" y="149837"/>
                      </a:moveTo>
                      <a:lnTo>
                        <a:pt x="226531" y="170394"/>
                      </a:lnTo>
                      <a:cubicBezTo>
                        <a:pt x="224947" y="171294"/>
                        <a:pt x="223636" y="172605"/>
                        <a:pt x="222735" y="174189"/>
                      </a:cubicBezTo>
                      <a:cubicBezTo>
                        <a:pt x="222002" y="175454"/>
                        <a:pt x="221230" y="176795"/>
                        <a:pt x="220446" y="178060"/>
                      </a:cubicBezTo>
                      <a:cubicBezTo>
                        <a:pt x="219442" y="179655"/>
                        <a:pt x="218907" y="181501"/>
                        <a:pt x="218902" y="183385"/>
                      </a:cubicBezTo>
                      <a:lnTo>
                        <a:pt x="218713" y="224183"/>
                      </a:lnTo>
                      <a:cubicBezTo>
                        <a:pt x="208998" y="231812"/>
                        <a:pt x="198175" y="237912"/>
                        <a:pt x="186619" y="242273"/>
                      </a:cubicBezTo>
                      <a:lnTo>
                        <a:pt x="150160" y="221957"/>
                      </a:lnTo>
                      <a:cubicBezTo>
                        <a:pt x="148647" y="221119"/>
                        <a:pt x="146944" y="220684"/>
                        <a:pt x="145214" y="220691"/>
                      </a:cubicBezTo>
                      <a:lnTo>
                        <a:pt x="144974" y="220691"/>
                      </a:lnTo>
                      <a:cubicBezTo>
                        <a:pt x="143443" y="220691"/>
                        <a:pt x="141899" y="220691"/>
                        <a:pt x="140369" y="220691"/>
                      </a:cubicBezTo>
                      <a:cubicBezTo>
                        <a:pt x="138558" y="220647"/>
                        <a:pt x="136769" y="221084"/>
                        <a:pt x="135182" y="221957"/>
                      </a:cubicBezTo>
                      <a:lnTo>
                        <a:pt x="98698" y="242324"/>
                      </a:lnTo>
                      <a:cubicBezTo>
                        <a:pt x="87117" y="237996"/>
                        <a:pt x="76264" y="231926"/>
                        <a:pt x="66516" y="224322"/>
                      </a:cubicBezTo>
                      <a:lnTo>
                        <a:pt x="66377" y="183588"/>
                      </a:lnTo>
                      <a:cubicBezTo>
                        <a:pt x="66370" y="181699"/>
                        <a:pt x="65836" y="179850"/>
                        <a:pt x="64833" y="178249"/>
                      </a:cubicBezTo>
                      <a:cubicBezTo>
                        <a:pt x="64049" y="176984"/>
                        <a:pt x="63277" y="175719"/>
                        <a:pt x="62556" y="174378"/>
                      </a:cubicBezTo>
                      <a:cubicBezTo>
                        <a:pt x="61662" y="172770"/>
                        <a:pt x="60351" y="171433"/>
                        <a:pt x="58761" y="170507"/>
                      </a:cubicBezTo>
                      <a:lnTo>
                        <a:pt x="22581" y="149900"/>
                      </a:lnTo>
                      <a:cubicBezTo>
                        <a:pt x="20709" y="138057"/>
                        <a:pt x="20709" y="125993"/>
                        <a:pt x="22581" y="114150"/>
                      </a:cubicBezTo>
                      <a:lnTo>
                        <a:pt x="58660" y="93555"/>
                      </a:lnTo>
                      <a:cubicBezTo>
                        <a:pt x="60243" y="92655"/>
                        <a:pt x="61555" y="91343"/>
                        <a:pt x="62455" y="89760"/>
                      </a:cubicBezTo>
                      <a:cubicBezTo>
                        <a:pt x="63189" y="88495"/>
                        <a:pt x="63960" y="87154"/>
                        <a:pt x="64745" y="85889"/>
                      </a:cubicBezTo>
                      <a:cubicBezTo>
                        <a:pt x="65749" y="84294"/>
                        <a:pt x="66284" y="82448"/>
                        <a:pt x="66288" y="80563"/>
                      </a:cubicBezTo>
                      <a:lnTo>
                        <a:pt x="66478" y="39766"/>
                      </a:lnTo>
                      <a:cubicBezTo>
                        <a:pt x="76192" y="32137"/>
                        <a:pt x="87015" y="26036"/>
                        <a:pt x="98572" y="21676"/>
                      </a:cubicBezTo>
                      <a:lnTo>
                        <a:pt x="134980" y="41992"/>
                      </a:lnTo>
                      <a:cubicBezTo>
                        <a:pt x="136564" y="42870"/>
                        <a:pt x="138355" y="43307"/>
                        <a:pt x="140166" y="43257"/>
                      </a:cubicBezTo>
                      <a:cubicBezTo>
                        <a:pt x="141697" y="43257"/>
                        <a:pt x="143240" y="43257"/>
                        <a:pt x="144771" y="43257"/>
                      </a:cubicBezTo>
                      <a:cubicBezTo>
                        <a:pt x="146582" y="43307"/>
                        <a:pt x="148373" y="42870"/>
                        <a:pt x="149958" y="41992"/>
                      </a:cubicBezTo>
                      <a:lnTo>
                        <a:pt x="186442" y="21625"/>
                      </a:lnTo>
                      <a:cubicBezTo>
                        <a:pt x="198023" y="25952"/>
                        <a:pt x="208875" y="32023"/>
                        <a:pt x="218624" y="39626"/>
                      </a:cubicBezTo>
                      <a:lnTo>
                        <a:pt x="218763" y="80361"/>
                      </a:lnTo>
                      <a:cubicBezTo>
                        <a:pt x="218769" y="82249"/>
                        <a:pt x="219304" y="84099"/>
                        <a:pt x="220307" y="85699"/>
                      </a:cubicBezTo>
                      <a:cubicBezTo>
                        <a:pt x="221091" y="86964"/>
                        <a:pt x="221863" y="88229"/>
                        <a:pt x="222584" y="89570"/>
                      </a:cubicBezTo>
                      <a:cubicBezTo>
                        <a:pt x="223478" y="91178"/>
                        <a:pt x="224789" y="92515"/>
                        <a:pt x="226379" y="93441"/>
                      </a:cubicBezTo>
                      <a:lnTo>
                        <a:pt x="262559" y="114049"/>
                      </a:lnTo>
                      <a:cubicBezTo>
                        <a:pt x="264456" y="125901"/>
                        <a:pt x="264477" y="137978"/>
                        <a:pt x="262622" y="149837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66862" y="21455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入口替换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1570" y="2436495"/>
                <a:ext cx="1145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4E79"/>
                    </a:solidFill>
                    <a:latin typeface="Consolas"/>
                    <a:ea typeface="Microsoft YaHei"/>
                    <a:cs typeface="Consolas"/>
                  </a:rPr>
                  <a:t>cached_autotune()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2686050" y="2305050"/>
              <a:ext cx="5143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276600" y="1885950"/>
              <a:ext cx="1695450" cy="838200"/>
              <a:chOff x="3276600" y="1885950"/>
              <a:chExt cx="1695450" cy="8382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276600" y="1885950"/>
                <a:ext cx="169545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515043" y="2184156"/>
                <a:ext cx="266136" cy="244064"/>
                <a:chOff x="3515043" y="2184156"/>
                <a:chExt cx="266136" cy="244064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3525904" y="2194322"/>
                  <a:ext cx="244343" cy="223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343" h="223192">
                      <a:moveTo>
                        <a:pt x="240958" y="16926"/>
                      </a:moveTo>
                      <a:lnTo>
                        <a:pt x="155265" y="108401"/>
                      </a:lnTo>
                      <a:cubicBezTo>
                        <a:pt x="153508" y="110277"/>
                        <a:pt x="152531" y="112751"/>
                        <a:pt x="152532" y="115321"/>
                      </a:cubicBezTo>
                      <a:lnTo>
                        <a:pt x="152532" y="185518"/>
                      </a:lnTo>
                      <a:cubicBezTo>
                        <a:pt x="152534" y="188903"/>
                        <a:pt x="150844" y="192065"/>
                        <a:pt x="148029" y="193943"/>
                      </a:cubicBezTo>
                      <a:lnTo>
                        <a:pt x="107547" y="220926"/>
                      </a:lnTo>
                      <a:cubicBezTo>
                        <a:pt x="104445" y="222996"/>
                        <a:pt x="100455" y="223192"/>
                        <a:pt x="97165" y="221436"/>
                      </a:cubicBezTo>
                      <a:cubicBezTo>
                        <a:pt x="93875" y="219680"/>
                        <a:pt x="91817" y="216256"/>
                        <a:pt x="91810" y="212527"/>
                      </a:cubicBezTo>
                      <a:lnTo>
                        <a:pt x="91810" y="115321"/>
                      </a:lnTo>
                      <a:cubicBezTo>
                        <a:pt x="91811" y="112751"/>
                        <a:pt x="90834" y="110277"/>
                        <a:pt x="89078" y="108401"/>
                      </a:cubicBezTo>
                      <a:lnTo>
                        <a:pt x="3384" y="16926"/>
                      </a:lnTo>
                      <a:cubicBezTo>
                        <a:pt x="694" y="13965"/>
                        <a:pt x="0" y="9698"/>
                        <a:pt x="1614" y="6037"/>
                      </a:cubicBezTo>
                      <a:cubicBezTo>
                        <a:pt x="3228" y="2376"/>
                        <a:pt x="6847" y="10"/>
                        <a:pt x="10848" y="0"/>
                      </a:cubicBezTo>
                      <a:lnTo>
                        <a:pt x="233495" y="0"/>
                      </a:lnTo>
                      <a:cubicBezTo>
                        <a:pt x="237495" y="10"/>
                        <a:pt x="241114" y="2376"/>
                        <a:pt x="242729" y="6037"/>
                      </a:cubicBezTo>
                      <a:cubicBezTo>
                        <a:pt x="244343" y="9698"/>
                        <a:pt x="243649" y="13965"/>
                        <a:pt x="240958" y="16926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515043" y="2184156"/>
                  <a:ext cx="266136" cy="244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136" h="244064">
                      <a:moveTo>
                        <a:pt x="262826" y="12102"/>
                      </a:moveTo>
                      <a:cubicBezTo>
                        <a:pt x="259641" y="4745"/>
                        <a:pt x="252372" y="0"/>
                        <a:pt x="244356" y="46"/>
                      </a:cubicBezTo>
                      <a:lnTo>
                        <a:pt x="21709" y="46"/>
                      </a:lnTo>
                      <a:cubicBezTo>
                        <a:pt x="13706" y="62"/>
                        <a:pt x="6463" y="4792"/>
                        <a:pt x="3231" y="12114"/>
                      </a:cubicBezTo>
                      <a:cubicBezTo>
                        <a:pt x="0" y="19436"/>
                        <a:pt x="1387" y="27975"/>
                        <a:pt x="6769" y="33898"/>
                      </a:cubicBezTo>
                      <a:lnTo>
                        <a:pt x="6870" y="34012"/>
                      </a:lnTo>
                      <a:lnTo>
                        <a:pt x="92551" y="125500"/>
                      </a:lnTo>
                      <a:lnTo>
                        <a:pt x="92551" y="222693"/>
                      </a:lnTo>
                      <a:cubicBezTo>
                        <a:pt x="92550" y="230157"/>
                        <a:pt x="96656" y="237016"/>
                        <a:pt x="103236" y="240540"/>
                      </a:cubicBezTo>
                      <a:cubicBezTo>
                        <a:pt x="109815" y="244064"/>
                        <a:pt x="117801" y="243681"/>
                        <a:pt x="124013" y="239543"/>
                      </a:cubicBezTo>
                      <a:lnTo>
                        <a:pt x="164494" y="212547"/>
                      </a:lnTo>
                      <a:cubicBezTo>
                        <a:pt x="170130" y="208793"/>
                        <a:pt x="173515" y="202469"/>
                        <a:pt x="173514" y="195697"/>
                      </a:cubicBezTo>
                      <a:lnTo>
                        <a:pt x="173514" y="125500"/>
                      </a:lnTo>
                      <a:lnTo>
                        <a:pt x="259207" y="34012"/>
                      </a:lnTo>
                      <a:lnTo>
                        <a:pt x="259309" y="33898"/>
                      </a:lnTo>
                      <a:cubicBezTo>
                        <a:pt x="264751" y="27998"/>
                        <a:pt x="266136" y="19414"/>
                        <a:pt x="262826" y="12102"/>
                      </a:cubicBezTo>
                      <a:close/>
                      <a:moveTo>
                        <a:pt x="21709" y="20287"/>
                      </a:moveTo>
                      <a:lnTo>
                        <a:pt x="21709" y="20287"/>
                      </a:lnTo>
                      <a:close/>
                      <a:moveTo>
                        <a:pt x="158763" y="111724"/>
                      </a:moveTo>
                      <a:cubicBezTo>
                        <a:pt x="155248" y="115450"/>
                        <a:pt x="153284" y="120377"/>
                        <a:pt x="153273" y="125500"/>
                      </a:cubicBezTo>
                      <a:lnTo>
                        <a:pt x="153273" y="195697"/>
                      </a:lnTo>
                      <a:lnTo>
                        <a:pt x="112792" y="222693"/>
                      </a:lnTo>
                      <a:lnTo>
                        <a:pt x="112792" y="125500"/>
                      </a:lnTo>
                      <a:cubicBezTo>
                        <a:pt x="112804" y="120358"/>
                        <a:pt x="110848" y="115407"/>
                        <a:pt x="107327" y="111660"/>
                      </a:cubicBezTo>
                      <a:lnTo>
                        <a:pt x="21709" y="20287"/>
                      </a:lnTo>
                      <a:lnTo>
                        <a:pt x="244356" y="20287"/>
                      </a:ln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910012" y="21455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候选生成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74720" y="2436495"/>
                <a:ext cx="14510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triton_config_npu_index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5029200" y="2305050"/>
              <a:ext cx="5143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619750" y="1885950"/>
              <a:ext cx="1695450" cy="838200"/>
              <a:chOff x="5619750" y="1885950"/>
              <a:chExt cx="1695450" cy="8382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619750" y="1885950"/>
                <a:ext cx="169545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FFF6E5"/>
              </a:solidFill>
              <a:ln w="9525">
                <a:solidFill>
                  <a:srgbClr val="E9A23B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5869781" y="2174081"/>
                <a:ext cx="242888" cy="242888"/>
                <a:chOff x="5869781" y="2174081"/>
                <a:chExt cx="242888" cy="242888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5879902" y="2184202"/>
                  <a:ext cx="222647" cy="222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7" h="222647">
                      <a:moveTo>
                        <a:pt x="212527" y="0"/>
                      </a:moveTo>
                      <a:lnTo>
                        <a:pt x="10120" y="0"/>
                      </a:lnTo>
                      <a:cubicBezTo>
                        <a:pt x="4531" y="0"/>
                        <a:pt x="0" y="4531"/>
                        <a:pt x="0" y="10120"/>
                      </a:cubicBezTo>
                      <a:lnTo>
                        <a:pt x="0" y="212527"/>
                      </a:lnTo>
                      <a:cubicBezTo>
                        <a:pt x="0" y="218116"/>
                        <a:pt x="4531" y="222647"/>
                        <a:pt x="10120" y="222647"/>
                      </a:cubicBezTo>
                      <a:lnTo>
                        <a:pt x="212527" y="222647"/>
                      </a:lnTo>
                      <a:cubicBezTo>
                        <a:pt x="218116" y="222647"/>
                        <a:pt x="222647" y="218116"/>
                        <a:pt x="222647" y="212527"/>
                      </a:cubicBezTo>
                      <a:lnTo>
                        <a:pt x="222647" y="10120"/>
                      </a:lnTo>
                      <a:cubicBezTo>
                        <a:pt x="222647" y="4531"/>
                        <a:pt x="218116" y="0"/>
                        <a:pt x="212527" y="0"/>
                      </a:cubicBezTo>
                      <a:close/>
                      <a:moveTo>
                        <a:pt x="60722" y="182166"/>
                      </a:moveTo>
                      <a:cubicBezTo>
                        <a:pt x="49543" y="182166"/>
                        <a:pt x="40481" y="173104"/>
                        <a:pt x="40481" y="161925"/>
                      </a:cubicBezTo>
                      <a:cubicBezTo>
                        <a:pt x="40481" y="150746"/>
                        <a:pt x="49543" y="141684"/>
                        <a:pt x="60722" y="141684"/>
                      </a:cubicBezTo>
                      <a:cubicBezTo>
                        <a:pt x="71900" y="141684"/>
                        <a:pt x="80962" y="150746"/>
                        <a:pt x="80962" y="161925"/>
                      </a:cubicBezTo>
                      <a:cubicBezTo>
                        <a:pt x="80962" y="173104"/>
                        <a:pt x="71900" y="182166"/>
                        <a:pt x="60722" y="182166"/>
                      </a:cubicBezTo>
                      <a:close/>
                      <a:moveTo>
                        <a:pt x="161925" y="101203"/>
                      </a:moveTo>
                      <a:cubicBezTo>
                        <a:pt x="150746" y="101203"/>
                        <a:pt x="141684" y="92141"/>
                        <a:pt x="141684" y="80962"/>
                      </a:cubicBezTo>
                      <a:cubicBezTo>
                        <a:pt x="141684" y="69784"/>
                        <a:pt x="150746" y="60722"/>
                        <a:pt x="161925" y="60722"/>
                      </a:cubicBezTo>
                      <a:cubicBezTo>
                        <a:pt x="173104" y="60722"/>
                        <a:pt x="182166" y="69784"/>
                        <a:pt x="182166" y="80962"/>
                      </a:cubicBezTo>
                      <a:cubicBezTo>
                        <a:pt x="182166" y="92141"/>
                        <a:pt x="173104" y="101203"/>
                        <a:pt x="161925" y="101203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869781" y="217408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222647" y="0"/>
                      </a:moveTo>
                      <a:lnTo>
                        <a:pt x="20241" y="0"/>
                      </a:lnTo>
                      <a:cubicBezTo>
                        <a:pt x="9062" y="0"/>
                        <a:pt x="0" y="9062"/>
                        <a:pt x="0" y="20241"/>
                      </a:cubicBezTo>
                      <a:lnTo>
                        <a:pt x="0" y="222647"/>
                      </a:lnTo>
                      <a:cubicBezTo>
                        <a:pt x="0" y="233825"/>
                        <a:pt x="9062" y="242888"/>
                        <a:pt x="20241" y="242888"/>
                      </a:cubicBezTo>
                      <a:lnTo>
                        <a:pt x="222647" y="242888"/>
                      </a:lnTo>
                      <a:cubicBezTo>
                        <a:pt x="233825" y="242888"/>
                        <a:pt x="242888" y="233825"/>
                        <a:pt x="242888" y="222647"/>
                      </a:cubicBezTo>
                      <a:lnTo>
                        <a:pt x="242888" y="20241"/>
                      </a:lnTo>
                      <a:cubicBezTo>
                        <a:pt x="242888" y="9062"/>
                        <a:pt x="233825" y="0"/>
                        <a:pt x="222647" y="0"/>
                      </a:cubicBezTo>
                      <a:close/>
                      <a:moveTo>
                        <a:pt x="70842" y="161925"/>
                      </a:moveTo>
                      <a:cubicBezTo>
                        <a:pt x="76431" y="161925"/>
                        <a:pt x="80962" y="166456"/>
                        <a:pt x="80962" y="172045"/>
                      </a:cubicBezTo>
                      <a:cubicBezTo>
                        <a:pt x="80962" y="177635"/>
                        <a:pt x="76431" y="182166"/>
                        <a:pt x="70842" y="182166"/>
                      </a:cubicBezTo>
                      <a:cubicBezTo>
                        <a:pt x="65253" y="182166"/>
                        <a:pt x="60722" y="177635"/>
                        <a:pt x="60722" y="172045"/>
                      </a:cubicBezTo>
                      <a:cubicBezTo>
                        <a:pt x="60722" y="166456"/>
                        <a:pt x="65253" y="161925"/>
                        <a:pt x="70842" y="161925"/>
                      </a:cubicBezTo>
                      <a:close/>
                      <a:moveTo>
                        <a:pt x="20241" y="20241"/>
                      </a:moveTo>
                      <a:lnTo>
                        <a:pt x="60722" y="20241"/>
                      </a:lnTo>
                      <a:lnTo>
                        <a:pt x="60722" y="143430"/>
                      </a:lnTo>
                      <a:cubicBezTo>
                        <a:pt x="46781" y="148359"/>
                        <a:pt x="38418" y="162615"/>
                        <a:pt x="40918" y="177189"/>
                      </a:cubicBezTo>
                      <a:cubicBezTo>
                        <a:pt x="43419" y="191763"/>
                        <a:pt x="56055" y="202416"/>
                        <a:pt x="70842" y="202416"/>
                      </a:cubicBezTo>
                      <a:cubicBezTo>
                        <a:pt x="85629" y="202416"/>
                        <a:pt x="98265" y="191763"/>
                        <a:pt x="100766" y="177189"/>
                      </a:cubicBezTo>
                      <a:cubicBezTo>
                        <a:pt x="103266" y="162615"/>
                        <a:pt x="94904" y="148359"/>
                        <a:pt x="80962" y="143430"/>
                      </a:cubicBezTo>
                      <a:lnTo>
                        <a:pt x="80962" y="105390"/>
                      </a:lnTo>
                      <a:lnTo>
                        <a:pt x="141684" y="166112"/>
                      </a:lnTo>
                      <a:lnTo>
                        <a:pt x="141684" y="222647"/>
                      </a:lnTo>
                      <a:lnTo>
                        <a:pt x="20241" y="222647"/>
                      </a:lnTo>
                      <a:close/>
                      <a:moveTo>
                        <a:pt x="222647" y="222647"/>
                      </a:moveTo>
                      <a:lnTo>
                        <a:pt x="161925" y="222647"/>
                      </a:lnTo>
                      <a:lnTo>
                        <a:pt x="161925" y="161925"/>
                      </a:lnTo>
                      <a:cubicBezTo>
                        <a:pt x="161927" y="159240"/>
                        <a:pt x="160862" y="156664"/>
                        <a:pt x="158965" y="154765"/>
                      </a:cubicBezTo>
                      <a:lnTo>
                        <a:pt x="80962" y="76775"/>
                      </a:lnTo>
                      <a:lnTo>
                        <a:pt x="80962" y="20241"/>
                      </a:lnTo>
                      <a:lnTo>
                        <a:pt x="121444" y="20241"/>
                      </a:lnTo>
                      <a:lnTo>
                        <a:pt x="121444" y="50602"/>
                      </a:lnTo>
                      <a:cubicBezTo>
                        <a:pt x="121442" y="53286"/>
                        <a:pt x="122506" y="55862"/>
                        <a:pt x="124404" y="57762"/>
                      </a:cubicBezTo>
                      <a:lnTo>
                        <a:pt x="144645" y="78002"/>
                      </a:lnTo>
                      <a:cubicBezTo>
                        <a:pt x="142684" y="82084"/>
                        <a:pt x="141672" y="86555"/>
                        <a:pt x="141684" y="91083"/>
                      </a:cubicBezTo>
                      <a:cubicBezTo>
                        <a:pt x="141684" y="107851"/>
                        <a:pt x="155277" y="121444"/>
                        <a:pt x="172045" y="121444"/>
                      </a:cubicBezTo>
                      <a:cubicBezTo>
                        <a:pt x="188813" y="121444"/>
                        <a:pt x="202406" y="107851"/>
                        <a:pt x="202406" y="91083"/>
                      </a:cubicBezTo>
                      <a:cubicBezTo>
                        <a:pt x="202406" y="74315"/>
                        <a:pt x="188813" y="60722"/>
                        <a:pt x="172045" y="60722"/>
                      </a:cubicBezTo>
                      <a:cubicBezTo>
                        <a:pt x="167517" y="60714"/>
                        <a:pt x="163045" y="61730"/>
                        <a:pt x="158965" y="63695"/>
                      </a:cubicBezTo>
                      <a:lnTo>
                        <a:pt x="141684" y="46414"/>
                      </a:lnTo>
                      <a:lnTo>
                        <a:pt x="141684" y="20241"/>
                      </a:lnTo>
                      <a:lnTo>
                        <a:pt x="222647" y="20241"/>
                      </a:lnTo>
                      <a:lnTo>
                        <a:pt x="222647" y="222647"/>
                      </a:lnTo>
                      <a:close/>
                      <a:moveTo>
                        <a:pt x="172045" y="80962"/>
                      </a:moveTo>
                      <a:cubicBezTo>
                        <a:pt x="177635" y="80962"/>
                        <a:pt x="182166" y="85494"/>
                        <a:pt x="182166" y="91083"/>
                      </a:cubicBezTo>
                      <a:cubicBezTo>
                        <a:pt x="182166" y="96672"/>
                        <a:pt x="177635" y="101203"/>
                        <a:pt x="172045" y="101203"/>
                      </a:cubicBezTo>
                      <a:cubicBezTo>
                        <a:pt x="166456" y="101203"/>
                        <a:pt x="161925" y="96672"/>
                        <a:pt x="161925" y="91083"/>
                      </a:cubicBezTo>
                      <a:cubicBezTo>
                        <a:pt x="161925" y="85494"/>
                        <a:pt x="166456" y="80962"/>
                        <a:pt x="172045" y="80962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6253162" y="21455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编译准入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17870" y="2436495"/>
                <a:ext cx="13250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UB / stack / mode 过滤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7372350" y="2305050"/>
              <a:ext cx="5143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962900" y="1885950"/>
              <a:ext cx="1695450" cy="838200"/>
              <a:chOff x="7962900" y="1885950"/>
              <a:chExt cx="1695450" cy="8382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962900" y="1885950"/>
                <a:ext cx="169545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8202811" y="2184202"/>
                <a:ext cx="264085" cy="222647"/>
                <a:chOff x="8202811" y="2184202"/>
                <a:chExt cx="264085" cy="222647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212931" y="2194322"/>
                  <a:ext cx="242888" cy="202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02406">
                      <a:moveTo>
                        <a:pt x="242888" y="10120"/>
                      </a:moveTo>
                      <a:lnTo>
                        <a:pt x="242888" y="202406"/>
                      </a:lnTo>
                      <a:lnTo>
                        <a:pt x="0" y="202406"/>
                      </a:lnTo>
                      <a:lnTo>
                        <a:pt x="0" y="0"/>
                      </a:lnTo>
                      <a:lnTo>
                        <a:pt x="232767" y="0"/>
                      </a:lnTo>
                      <a:cubicBezTo>
                        <a:pt x="238356" y="0"/>
                        <a:pt x="242888" y="4531"/>
                        <a:pt x="242888" y="10120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202811" y="2184202"/>
                  <a:ext cx="264085" cy="222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85" h="222647">
                      <a:moveTo>
                        <a:pt x="263128" y="212527"/>
                      </a:moveTo>
                      <a:cubicBezTo>
                        <a:pt x="263128" y="218116"/>
                        <a:pt x="258597" y="222647"/>
                        <a:pt x="253008" y="222647"/>
                      </a:cubicBezTo>
                      <a:lnTo>
                        <a:pt x="10120" y="222647"/>
                      </a:lnTo>
                      <a:cubicBezTo>
                        <a:pt x="4531" y="222647"/>
                        <a:pt x="0" y="218116"/>
                        <a:pt x="0" y="212527"/>
                      </a:cubicBezTo>
                      <a:lnTo>
                        <a:pt x="0" y="10120"/>
                      </a:lnTo>
                      <a:cubicBezTo>
                        <a:pt x="0" y="4531"/>
                        <a:pt x="4531" y="0"/>
                        <a:pt x="10120" y="0"/>
                      </a:cubicBezTo>
                      <a:cubicBezTo>
                        <a:pt x="15710" y="0"/>
                        <a:pt x="20241" y="4531"/>
                        <a:pt x="20241" y="10120"/>
                      </a:cubicBezTo>
                      <a:lnTo>
                        <a:pt x="20241" y="129502"/>
                      </a:lnTo>
                      <a:lnTo>
                        <a:pt x="84416" y="73372"/>
                      </a:lnTo>
                      <a:cubicBezTo>
                        <a:pt x="88015" y="70222"/>
                        <a:pt x="93329" y="70021"/>
                        <a:pt x="97155" y="72892"/>
                      </a:cubicBezTo>
                      <a:lnTo>
                        <a:pt x="171552" y="128692"/>
                      </a:lnTo>
                      <a:lnTo>
                        <a:pt x="246341" y="63252"/>
                      </a:lnTo>
                      <a:cubicBezTo>
                        <a:pt x="249013" y="60607"/>
                        <a:pt x="252931" y="59661"/>
                        <a:pt x="256515" y="60796"/>
                      </a:cubicBezTo>
                      <a:cubicBezTo>
                        <a:pt x="260100" y="61931"/>
                        <a:pt x="262760" y="64959"/>
                        <a:pt x="263423" y="68660"/>
                      </a:cubicBezTo>
                      <a:cubicBezTo>
                        <a:pt x="264085" y="72361"/>
                        <a:pt x="262642" y="76124"/>
                        <a:pt x="259675" y="78432"/>
                      </a:cubicBezTo>
                      <a:lnTo>
                        <a:pt x="178712" y="149275"/>
                      </a:lnTo>
                      <a:cubicBezTo>
                        <a:pt x="175113" y="152425"/>
                        <a:pt x="169799" y="152626"/>
                        <a:pt x="165973" y="149755"/>
                      </a:cubicBezTo>
                      <a:lnTo>
                        <a:pt x="91576" y="93980"/>
                      </a:lnTo>
                      <a:lnTo>
                        <a:pt x="20241" y="156397"/>
                      </a:lnTo>
                      <a:lnTo>
                        <a:pt x="20241" y="202406"/>
                      </a:lnTo>
                      <a:lnTo>
                        <a:pt x="253008" y="202406"/>
                      </a:lnTo>
                      <a:cubicBezTo>
                        <a:pt x="258597" y="202406"/>
                        <a:pt x="263128" y="206937"/>
                        <a:pt x="263128" y="212527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8596312" y="2145506"/>
                <a:ext cx="10524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批量 profiling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61020" y="24364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mspti / profiler / bench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9715500" y="2305050"/>
              <a:ext cx="514350" cy="1"/>
            </a:xfrm>
            <a:prstGeom prst="line">
              <a:avLst/>
            </a:prstGeom>
            <a:noFill/>
            <a:ln w="23812">
              <a:solidFill>
                <a:srgbClr val="1F4E79"/>
              </a:solidFill>
              <a:tailEnd type="triangle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306050" y="1885950"/>
              <a:ext cx="1028700" cy="838200"/>
              <a:chOff x="10306050" y="1885950"/>
              <a:chExt cx="1028700" cy="8382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10306050" y="1885950"/>
                <a:ext cx="102870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153A5B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506825" y="2107406"/>
                <a:ext cx="6271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runtime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479259" y="2355056"/>
                <a:ext cx="6822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dispatch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33450" y="3257550"/>
              <a:ext cx="4914900" cy="1619250"/>
              <a:chOff x="933450" y="3257550"/>
              <a:chExt cx="4914900" cy="16192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33450" y="3257550"/>
                <a:ext cx="4914900" cy="1619250"/>
              </a:xfrm>
              <a:prstGeom prst="roundRect">
                <a:avLst>
                  <a:gd name="adj" fmla="val 7059"/>
                </a:avLst>
              </a:prstGeom>
              <a:solidFill>
                <a:srgbClr val="F7F8FA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163955" y="3416618"/>
                <a:ext cx="234982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返回类型已经是 NPU 派发器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167765" y="379190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NPUCachingAutotuner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167765" y="4058602"/>
                <a:ext cx="12588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NPUFastAutotuner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67765" y="4325302"/>
                <a:ext cx="2063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NPUSymbolicGroupedAutotuner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67765" y="4592002"/>
                <a:ext cx="13358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NPUDebugAutotuner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343650" y="3257550"/>
              <a:ext cx="4991100" cy="1619250"/>
              <a:chOff x="6343650" y="3257550"/>
              <a:chExt cx="4991100" cy="16192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343650" y="3257550"/>
                <a:ext cx="4991100" cy="1619250"/>
              </a:xfrm>
              <a:prstGeom prst="roundRect">
                <a:avLst>
                  <a:gd name="adj" fmla="val 7059"/>
                </a:avLst>
              </a:prstGeom>
              <a:solidFill>
                <a:srgbClr val="E7F5F2"/>
              </a:solidFill>
              <a:ln w="9525">
                <a:solidFill>
                  <a:srgbClr val="2A9D8F"/>
                </a:solidFill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6636544" y="3539133"/>
                <a:ext cx="271462" cy="294084"/>
                <a:chOff x="6636544" y="3539133"/>
                <a:chExt cx="271462" cy="294084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6647855" y="3550444"/>
                  <a:ext cx="248841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841" h="135731">
                      <a:moveTo>
                        <a:pt x="248841" y="67866"/>
                      </a:moveTo>
                      <a:cubicBezTo>
                        <a:pt x="248841" y="105347"/>
                        <a:pt x="193134" y="135731"/>
                        <a:pt x="124420" y="135731"/>
                      </a:cubicBezTo>
                      <a:cubicBezTo>
                        <a:pt x="55706" y="135731"/>
                        <a:pt x="0" y="105347"/>
                        <a:pt x="0" y="67866"/>
                      </a:cubicBezTo>
                      <a:cubicBezTo>
                        <a:pt x="0" y="30384"/>
                        <a:pt x="55706" y="0"/>
                        <a:pt x="124420" y="0"/>
                      </a:cubicBezTo>
                      <a:cubicBezTo>
                        <a:pt x="193134" y="0"/>
                        <a:pt x="248841" y="30384"/>
                        <a:pt x="248841" y="67866"/>
                      </a:cubicBez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636544" y="3539133"/>
                  <a:ext cx="271462" cy="294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94084">
                      <a:moveTo>
                        <a:pt x="135731" y="0"/>
                      </a:moveTo>
                      <a:cubicBezTo>
                        <a:pt x="59623" y="0"/>
                        <a:pt x="0" y="34781"/>
                        <a:pt x="0" y="79177"/>
                      </a:cubicBezTo>
                      <a:lnTo>
                        <a:pt x="0" y="214908"/>
                      </a:lnTo>
                      <a:cubicBezTo>
                        <a:pt x="0" y="259303"/>
                        <a:pt x="59623" y="294084"/>
                        <a:pt x="135731" y="294084"/>
                      </a:cubicBezTo>
                      <a:cubicBezTo>
                        <a:pt x="211840" y="294084"/>
                        <a:pt x="271462" y="259303"/>
                        <a:pt x="271462" y="214908"/>
                      </a:cubicBezTo>
                      <a:lnTo>
                        <a:pt x="271462" y="79177"/>
                      </a:lnTo>
                      <a:cubicBezTo>
                        <a:pt x="271462" y="34781"/>
                        <a:pt x="211840" y="0"/>
                        <a:pt x="135731" y="0"/>
                      </a:cubicBezTo>
                      <a:close/>
                      <a:moveTo>
                        <a:pt x="248841" y="147042"/>
                      </a:moveTo>
                      <a:cubicBezTo>
                        <a:pt x="248841" y="160644"/>
                        <a:pt x="237699" y="174514"/>
                        <a:pt x="218287" y="185103"/>
                      </a:cubicBezTo>
                      <a:cubicBezTo>
                        <a:pt x="196429" y="197022"/>
                        <a:pt x="167105" y="203597"/>
                        <a:pt x="135731" y="203597"/>
                      </a:cubicBezTo>
                      <a:cubicBezTo>
                        <a:pt x="104358" y="203597"/>
                        <a:pt x="75034" y="197022"/>
                        <a:pt x="53176" y="185103"/>
                      </a:cubicBezTo>
                      <a:cubicBezTo>
                        <a:pt x="33763" y="174514"/>
                        <a:pt x="22622" y="160644"/>
                        <a:pt x="22622" y="147042"/>
                      </a:cubicBezTo>
                      <a:lnTo>
                        <a:pt x="22622" y="123515"/>
                      </a:lnTo>
                      <a:cubicBezTo>
                        <a:pt x="46742" y="144723"/>
                        <a:pt x="87985" y="158353"/>
                        <a:pt x="135731" y="158353"/>
                      </a:cubicBezTo>
                      <a:cubicBezTo>
                        <a:pt x="183478" y="158353"/>
                        <a:pt x="224720" y="144667"/>
                        <a:pt x="248841" y="123515"/>
                      </a:cubicBezTo>
                      <a:close/>
                      <a:moveTo>
                        <a:pt x="53176" y="41115"/>
                      </a:moveTo>
                      <a:cubicBezTo>
                        <a:pt x="75034" y="29196"/>
                        <a:pt x="104358" y="22622"/>
                        <a:pt x="135731" y="22622"/>
                      </a:cubicBezTo>
                      <a:cubicBezTo>
                        <a:pt x="167105" y="22622"/>
                        <a:pt x="196429" y="29196"/>
                        <a:pt x="218287" y="41115"/>
                      </a:cubicBezTo>
                      <a:cubicBezTo>
                        <a:pt x="237699" y="51705"/>
                        <a:pt x="248841" y="65575"/>
                        <a:pt x="248841" y="79177"/>
                      </a:cubicBezTo>
                      <a:cubicBezTo>
                        <a:pt x="248841" y="92778"/>
                        <a:pt x="237699" y="106648"/>
                        <a:pt x="218287" y="117238"/>
                      </a:cubicBezTo>
                      <a:cubicBezTo>
                        <a:pt x="196429" y="129157"/>
                        <a:pt x="167105" y="135731"/>
                        <a:pt x="135731" y="135731"/>
                      </a:cubicBezTo>
                      <a:cubicBezTo>
                        <a:pt x="104358" y="135731"/>
                        <a:pt x="75034" y="129157"/>
                        <a:pt x="53176" y="117238"/>
                      </a:cubicBezTo>
                      <a:cubicBezTo>
                        <a:pt x="33763" y="106648"/>
                        <a:pt x="22622" y="92778"/>
                        <a:pt x="22622" y="79177"/>
                      </a:cubicBezTo>
                      <a:cubicBezTo>
                        <a:pt x="22622" y="65575"/>
                        <a:pt x="33763" y="51705"/>
                        <a:pt x="53176" y="41115"/>
                      </a:cubicBezTo>
                      <a:close/>
                      <a:moveTo>
                        <a:pt x="218287" y="252969"/>
                      </a:moveTo>
                      <a:cubicBezTo>
                        <a:pt x="196429" y="264888"/>
                        <a:pt x="167105" y="271462"/>
                        <a:pt x="135731" y="271462"/>
                      </a:cubicBezTo>
                      <a:cubicBezTo>
                        <a:pt x="104358" y="271462"/>
                        <a:pt x="75034" y="264888"/>
                        <a:pt x="53176" y="252969"/>
                      </a:cubicBezTo>
                      <a:cubicBezTo>
                        <a:pt x="33763" y="242379"/>
                        <a:pt x="22622" y="228509"/>
                        <a:pt x="22622" y="214908"/>
                      </a:cubicBezTo>
                      <a:lnTo>
                        <a:pt x="22622" y="191381"/>
                      </a:lnTo>
                      <a:cubicBezTo>
                        <a:pt x="46742" y="212589"/>
                        <a:pt x="87985" y="226219"/>
                        <a:pt x="135731" y="226219"/>
                      </a:cubicBezTo>
                      <a:cubicBezTo>
                        <a:pt x="183478" y="226219"/>
                        <a:pt x="224720" y="212533"/>
                        <a:pt x="248841" y="191381"/>
                      </a:cubicBezTo>
                      <a:lnTo>
                        <a:pt x="248841" y="214908"/>
                      </a:lnTo>
                      <a:cubicBezTo>
                        <a:pt x="248841" y="228509"/>
                        <a:pt x="237699" y="242379"/>
                        <a:pt x="218287" y="252969"/>
                      </a:cubicBez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088505" y="3511868"/>
                <a:ext cx="36729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Grouped symbolic autotune 已触达协议层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092315" y="3906202"/>
                <a:ext cx="41081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compile-time 生成 variants / policies / group_to_candidates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092315" y="4172902"/>
                <a:ext cx="39471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runtime 按真实输入特征解析 group_id，再选择 launch policy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092315" y="4439602"/>
                <a:ext cx="38701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当前仍是 V1 窄语义，默认未全开，但方向已经改变协议形态。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533400" y="5962650"/>
            <a:ext cx="11125200" cy="381000"/>
            <a:chOff x="533400" y="5962650"/>
            <a:chExt cx="11125200" cy="381000"/>
          </a:xfrm>
        </p:grpSpPr>
        <p:sp>
          <p:nvSpPr>
            <p:cNvPr id="62" name="Rectangle 62"/>
            <p:cNvSpPr/>
            <p:nvPr/>
          </p:nvSpPr>
          <p:spPr>
            <a:xfrm>
              <a:off x="533400" y="5962650"/>
              <a:ext cx="11125200" cy="381000"/>
            </a:xfrm>
            <a:prstGeom prst="roundRect">
              <a:avLst>
                <a:gd name="adj" fmla="val 20000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6762" y="6079331"/>
              <a:ext cx="7195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判断：Autotune 的合理性强，但对 profiling 环境、cache key 和 metadata schema 的依赖也最强。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3875" y="6491288"/>
            <a:ext cx="11144251" cy="152400"/>
            <a:chOff x="523875" y="6491288"/>
            <a:chExt cx="11144251" cy="152400"/>
          </a:xfrm>
        </p:grpSpPr>
        <p:sp>
          <p:nvSpPr>
            <p:cNvPr id="65" name="TextBox 65"/>
            <p:cNvSpPr txBox="1"/>
            <p:nvPr/>
          </p:nvSpPr>
          <p:spPr>
            <a:xfrm>
              <a:off x="523875" y="6491288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 4 Autotune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9068" y="6491288"/>
              <a:ext cx="790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7453884" cy="663892"/>
            <a:chOff x="502920" y="331470"/>
            <a:chExt cx="7453884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74538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方向大多合理，但实现形态已经进入高维护成本区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6488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不要把“合理性”和“长期可维护性”混为一谈：前者回答能不能支撑 NPU，后者回答能不能顺利跟随上游。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81100" y="1295400"/>
            <a:ext cx="10172700" cy="4419600"/>
            <a:chOff x="1181100" y="1295400"/>
            <a:chExt cx="10172700" cy="4419600"/>
          </a:xfrm>
        </p:grpSpPr>
        <p:sp>
          <p:nvSpPr>
            <p:cNvPr id="8" name="Line 8"/>
            <p:cNvSpPr/>
            <p:nvPr/>
          </p:nvSpPr>
          <p:spPr>
            <a:xfrm>
              <a:off x="1428750" y="1447800"/>
              <a:ext cx="9525" cy="4267200"/>
            </a:xfrm>
            <a:custGeom>
              <a:avLst/>
              <a:gdLst/>
              <a:ahLst/>
              <a:cxnLst/>
              <a:rect l="l" t="t" r="r" b="b"/>
              <a:pathLst>
                <a:path w="9525" h="4267200">
                  <a:moveTo>
                    <a:pt x="0" y="0"/>
                  </a:moveTo>
                  <a:lnTo>
                    <a:pt x="0" y="426720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1F4E79"/>
                  </a:gs>
                  <a:gs pos="100000">
                    <a:srgbClr val="2A9D8F"/>
                  </a:gs>
                </a:gsLst>
                <a:lin ang="5400000" scaled="1"/>
              </a:gra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81100" y="1295400"/>
              <a:ext cx="10172700" cy="819150"/>
              <a:chOff x="1181100" y="1295400"/>
              <a:chExt cx="10172700" cy="8191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181100" y="1428750"/>
                <a:ext cx="495300" cy="4953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47517" y="1621631"/>
                <a:ext cx="16246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924050" y="1295400"/>
                <a:ext cx="942975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924050" y="1295400"/>
                <a:ext cx="57150" cy="819150"/>
              </a:xfrm>
              <a:prstGeom prst="roundRect">
                <a:avLst>
                  <a:gd name="adj" fmla="val 50000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191702" y="1427321"/>
                <a:ext cx="539344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Lowering：功能覆盖优先合理，但 fallback 面扩大性能波动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196465" y="1744028"/>
                <a:ext cx="59424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适合 bring-up 阶段；下一阶段需要把 fallback 边界、模板路径和数值稳定性做成可审计清单。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181100" y="2438400"/>
              <a:ext cx="10172700" cy="819150"/>
              <a:chOff x="1181100" y="2438400"/>
              <a:chExt cx="10172700" cy="81915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181100" y="2571750"/>
                <a:ext cx="495300" cy="4953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27827" y="27646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924050" y="2438400"/>
                <a:ext cx="942975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924050" y="2438400"/>
                <a:ext cx="57150" cy="819150"/>
              </a:xfrm>
              <a:prstGeom prst="roundRect">
                <a:avLst>
                  <a:gd name="adj" fmla="val 50000"/>
                </a:avLst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191702" y="2570321"/>
                <a:ext cx="6191539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Scheduling：保轴 group_fn 必要，但 whole-method fork 需要收口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196465" y="2887028"/>
                <a:ext cx="44932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`can_fuse()` 的差异存在，但复制整段上游实现会放大升级漂移风险。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181100" y="3581400"/>
              <a:ext cx="10172700" cy="819150"/>
              <a:chOff x="1181100" y="3581400"/>
              <a:chExt cx="10172700" cy="81915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1181100" y="3714750"/>
                <a:ext cx="495300" cy="4953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327827" y="39076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1924050" y="3581400"/>
                <a:ext cx="942975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924050" y="3581400"/>
                <a:ext cx="57150" cy="819150"/>
              </a:xfrm>
              <a:prstGeom prst="roundRect">
                <a:avLst>
                  <a:gd name="adj" fmla="val 50000"/>
                </a:avLst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191702" y="3713321"/>
                <a:ext cx="512408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Codegen：轴线性化必要，但 correctness 长尾风险最高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196465" y="4030028"/>
                <a:ext cx="56203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unified-axis、mask 删除、scan 维推断和 int32 index 前提都需要显式约束和回归覆盖。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181100" y="4724400"/>
              <a:ext cx="10172700" cy="819150"/>
              <a:chOff x="1181100" y="4724400"/>
              <a:chExt cx="10172700" cy="81915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1181100" y="4857750"/>
                <a:ext cx="495300" cy="4953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327827" y="50506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1924050" y="4724400"/>
                <a:ext cx="942975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1924050" y="4724400"/>
                <a:ext cx="57150" cy="819150"/>
              </a:xfrm>
              <a:prstGeom prst="roundRect">
                <a:avLst>
                  <a:gd name="adj" fmla="val 50000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2191702" y="4856321"/>
                <a:ext cx="5652822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Autotune：NPU 候选与资源过滤合理，但 profiling 环境依赖强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196465" y="5173028"/>
                <a:ext cx="62994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候选空间已经脱离上游标准 block 参数，cache key 和 grouped dispatch 协议需要更稳的 schema。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781050" y="5962650"/>
            <a:ext cx="10629900" cy="361950"/>
            <a:chOff x="781050" y="5962650"/>
            <a:chExt cx="10629900" cy="361950"/>
          </a:xfrm>
        </p:grpSpPr>
        <p:sp>
          <p:nvSpPr>
            <p:cNvPr id="38" name="Rectangle 38"/>
            <p:cNvSpPr/>
            <p:nvPr/>
          </p:nvSpPr>
          <p:spPr>
            <a:xfrm>
              <a:off x="781050" y="5962650"/>
              <a:ext cx="10629900" cy="361950"/>
            </a:xfrm>
            <a:prstGeom prst="roundRect">
              <a:avLst>
                <a:gd name="adj" fmla="val 21053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4412" y="6069806"/>
              <a:ext cx="52582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汇报口径：不是否定当前实现，而是把“能跑”升级为“可持续跟上游升级”。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3875" y="6491288"/>
            <a:ext cx="11144250" cy="152400"/>
            <a:chOff x="523875" y="6491288"/>
            <a:chExt cx="11144250" cy="152400"/>
          </a:xfrm>
        </p:grpSpPr>
        <p:sp>
          <p:nvSpPr>
            <p:cNvPr id="41" name="TextBox 41"/>
            <p:cNvSpPr txBox="1"/>
            <p:nvPr/>
          </p:nvSpPr>
          <p:spPr>
            <a:xfrm>
              <a:off x="523875" y="6491288"/>
              <a:ext cx="27193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 5 stage-level reasonability conclusions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64064" y="6491288"/>
              <a:ext cx="1040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9671761" cy="663892"/>
            <a:chOff x="502920" y="331470"/>
            <a:chExt cx="9671761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96717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优先级不是“去掉所有 patch”，而是缩小高 blast-radius patch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79096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有些 patch 是 Ascend 代码生成成立的前提；真正要先处理的是作用域过大、位置不透明、与上游高频演进区域重叠的 patch。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33400" y="1257300"/>
            <a:ext cx="11125200" cy="3733800"/>
            <a:chOff x="533400" y="1257300"/>
            <a:chExt cx="11125200" cy="373380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5257800" cy="609600"/>
            </a:xfrm>
            <a:prstGeom prst="roundRect">
              <a:avLst>
                <a:gd name="adj" fmla="val 15625"/>
              </a:avLst>
            </a:prstGeom>
            <a:solidFill>
              <a:srgbClr val="E7F5F2"/>
            </a:solidFill>
            <a:ln w="9525">
              <a:solidFill>
                <a:srgbClr val="2A9D8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98132" y="14763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A9D8F"/>
                  </a:solidFill>
                  <a:latin typeface="Segoe UI"/>
                  <a:ea typeface="Microsoft YaHei"/>
                  <a:cs typeface="Segoe UI"/>
                </a:rPr>
                <a:t>暂时保留：重但必要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00800" y="1257300"/>
              <a:ext cx="5257800" cy="609600"/>
            </a:xfrm>
            <a:prstGeom prst="roundRect">
              <a:avLst>
                <a:gd name="adj" fmla="val 15625"/>
              </a:avLst>
            </a:prstGeom>
            <a:solidFill>
              <a:srgbClr val="FFF6E5"/>
            </a:solidFill>
            <a:ln w="9525">
              <a:solidFill>
                <a:srgbClr val="E9A23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60519" y="1476375"/>
              <a:ext cx="2138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优先收缩：高维护成本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33400" y="2095500"/>
              <a:ext cx="5257800" cy="838200"/>
              <a:chOff x="533400" y="2095500"/>
              <a:chExt cx="5257800" cy="8382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2095500"/>
                <a:ext cx="52578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01291" y="2363391"/>
                <a:ext cx="283369" cy="283369"/>
                <a:chOff x="801291" y="2363391"/>
                <a:chExt cx="283369" cy="283369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811411" y="2373511"/>
                  <a:ext cx="263128" cy="263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128" h="263128">
                      <a:moveTo>
                        <a:pt x="263128" y="131564"/>
                      </a:moveTo>
                      <a:cubicBezTo>
                        <a:pt x="263128" y="147390"/>
                        <a:pt x="240585" y="159332"/>
                        <a:pt x="234437" y="174183"/>
                      </a:cubicBezTo>
                      <a:cubicBezTo>
                        <a:pt x="228517" y="188503"/>
                        <a:pt x="236233" y="212957"/>
                        <a:pt x="224595" y="224595"/>
                      </a:cubicBezTo>
                      <a:cubicBezTo>
                        <a:pt x="212957" y="236233"/>
                        <a:pt x="188503" y="228517"/>
                        <a:pt x="174183" y="234437"/>
                      </a:cubicBezTo>
                      <a:cubicBezTo>
                        <a:pt x="159395" y="240585"/>
                        <a:pt x="147377" y="263128"/>
                        <a:pt x="131564" y="263128"/>
                      </a:cubicBezTo>
                      <a:cubicBezTo>
                        <a:pt x="115751" y="263128"/>
                        <a:pt x="103733" y="240585"/>
                        <a:pt x="88945" y="234437"/>
                      </a:cubicBezTo>
                      <a:cubicBezTo>
                        <a:pt x="74625" y="228517"/>
                        <a:pt x="50171" y="236233"/>
                        <a:pt x="38533" y="224595"/>
                      </a:cubicBezTo>
                      <a:cubicBezTo>
                        <a:pt x="26895" y="212957"/>
                        <a:pt x="34611" y="188503"/>
                        <a:pt x="28691" y="174183"/>
                      </a:cubicBezTo>
                      <a:cubicBezTo>
                        <a:pt x="22543" y="159395"/>
                        <a:pt x="0" y="147377"/>
                        <a:pt x="0" y="131564"/>
                      </a:cubicBezTo>
                      <a:cubicBezTo>
                        <a:pt x="0" y="115751"/>
                        <a:pt x="22543" y="103733"/>
                        <a:pt x="28691" y="88945"/>
                      </a:cubicBezTo>
                      <a:cubicBezTo>
                        <a:pt x="34611" y="74637"/>
                        <a:pt x="26895" y="50171"/>
                        <a:pt x="38533" y="38533"/>
                      </a:cubicBezTo>
                      <a:cubicBezTo>
                        <a:pt x="50171" y="26895"/>
                        <a:pt x="74637" y="34611"/>
                        <a:pt x="88945" y="28691"/>
                      </a:cubicBezTo>
                      <a:cubicBezTo>
                        <a:pt x="103796" y="22543"/>
                        <a:pt x="115751" y="0"/>
                        <a:pt x="131564" y="0"/>
                      </a:cubicBezTo>
                      <a:cubicBezTo>
                        <a:pt x="147377" y="0"/>
                        <a:pt x="159395" y="22543"/>
                        <a:pt x="174183" y="28691"/>
                      </a:cubicBezTo>
                      <a:cubicBezTo>
                        <a:pt x="188503" y="34611"/>
                        <a:pt x="212957" y="26895"/>
                        <a:pt x="224595" y="38533"/>
                      </a:cubicBezTo>
                      <a:cubicBezTo>
                        <a:pt x="236233" y="50171"/>
                        <a:pt x="228517" y="74625"/>
                        <a:pt x="234437" y="88945"/>
                      </a:cubicBezTo>
                      <a:cubicBezTo>
                        <a:pt x="240585" y="103796"/>
                        <a:pt x="263128" y="115751"/>
                        <a:pt x="263128" y="131564"/>
                      </a:cubicBez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801291" y="2363391"/>
                  <a:ext cx="283369" cy="283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369" h="283369">
                      <a:moveTo>
                        <a:pt x="265481" y="109831"/>
                      </a:moveTo>
                      <a:cubicBezTo>
                        <a:pt x="260712" y="104846"/>
                        <a:pt x="255778" y="99710"/>
                        <a:pt x="253919" y="95194"/>
                      </a:cubicBezTo>
                      <a:cubicBezTo>
                        <a:pt x="252198" y="91058"/>
                        <a:pt x="252097" y="84201"/>
                        <a:pt x="251996" y="77560"/>
                      </a:cubicBezTo>
                      <a:cubicBezTo>
                        <a:pt x="251806" y="65213"/>
                        <a:pt x="251604" y="51221"/>
                        <a:pt x="241875" y="41493"/>
                      </a:cubicBezTo>
                      <a:cubicBezTo>
                        <a:pt x="232147" y="31765"/>
                        <a:pt x="218156" y="31563"/>
                        <a:pt x="205809" y="31373"/>
                      </a:cubicBezTo>
                      <a:cubicBezTo>
                        <a:pt x="199168" y="31272"/>
                        <a:pt x="192311" y="31171"/>
                        <a:pt x="188175" y="29450"/>
                      </a:cubicBezTo>
                      <a:cubicBezTo>
                        <a:pt x="183671" y="27591"/>
                        <a:pt x="178522" y="22657"/>
                        <a:pt x="173538" y="17888"/>
                      </a:cubicBezTo>
                      <a:cubicBezTo>
                        <a:pt x="164809" y="9500"/>
                        <a:pt x="154891" y="0"/>
                        <a:pt x="141684" y="0"/>
                      </a:cubicBezTo>
                      <a:cubicBezTo>
                        <a:pt x="128477" y="0"/>
                        <a:pt x="118572" y="9500"/>
                        <a:pt x="109831" y="17888"/>
                      </a:cubicBezTo>
                      <a:cubicBezTo>
                        <a:pt x="104846" y="22657"/>
                        <a:pt x="99710" y="27591"/>
                        <a:pt x="95194" y="29450"/>
                      </a:cubicBezTo>
                      <a:cubicBezTo>
                        <a:pt x="91083" y="31171"/>
                        <a:pt x="84201" y="31272"/>
                        <a:pt x="77560" y="31373"/>
                      </a:cubicBezTo>
                      <a:cubicBezTo>
                        <a:pt x="65213" y="31563"/>
                        <a:pt x="51221" y="31765"/>
                        <a:pt x="41493" y="41493"/>
                      </a:cubicBezTo>
                      <a:cubicBezTo>
                        <a:pt x="31765" y="51221"/>
                        <a:pt x="31626" y="65213"/>
                        <a:pt x="31373" y="77560"/>
                      </a:cubicBezTo>
                      <a:cubicBezTo>
                        <a:pt x="31272" y="84201"/>
                        <a:pt x="31171" y="91058"/>
                        <a:pt x="29450" y="95194"/>
                      </a:cubicBezTo>
                      <a:cubicBezTo>
                        <a:pt x="27591" y="99698"/>
                        <a:pt x="22657" y="104846"/>
                        <a:pt x="17888" y="109831"/>
                      </a:cubicBezTo>
                      <a:cubicBezTo>
                        <a:pt x="9500" y="118559"/>
                        <a:pt x="0" y="128477"/>
                        <a:pt x="0" y="141684"/>
                      </a:cubicBezTo>
                      <a:cubicBezTo>
                        <a:pt x="0" y="154891"/>
                        <a:pt x="9500" y="164797"/>
                        <a:pt x="17888" y="173538"/>
                      </a:cubicBezTo>
                      <a:cubicBezTo>
                        <a:pt x="22657" y="178522"/>
                        <a:pt x="27591" y="183658"/>
                        <a:pt x="29450" y="188175"/>
                      </a:cubicBezTo>
                      <a:cubicBezTo>
                        <a:pt x="31171" y="192311"/>
                        <a:pt x="31272" y="199168"/>
                        <a:pt x="31373" y="205809"/>
                      </a:cubicBezTo>
                      <a:cubicBezTo>
                        <a:pt x="31563" y="218156"/>
                        <a:pt x="31765" y="232147"/>
                        <a:pt x="41493" y="241875"/>
                      </a:cubicBezTo>
                      <a:cubicBezTo>
                        <a:pt x="51221" y="251604"/>
                        <a:pt x="65213" y="251806"/>
                        <a:pt x="77560" y="251996"/>
                      </a:cubicBezTo>
                      <a:cubicBezTo>
                        <a:pt x="84201" y="252097"/>
                        <a:pt x="91058" y="252198"/>
                        <a:pt x="95194" y="253919"/>
                      </a:cubicBezTo>
                      <a:cubicBezTo>
                        <a:pt x="99698" y="255778"/>
                        <a:pt x="104846" y="260712"/>
                        <a:pt x="109831" y="265481"/>
                      </a:cubicBezTo>
                      <a:cubicBezTo>
                        <a:pt x="118559" y="273868"/>
                        <a:pt x="128477" y="283369"/>
                        <a:pt x="141684" y="283369"/>
                      </a:cubicBezTo>
                      <a:cubicBezTo>
                        <a:pt x="154891" y="283369"/>
                        <a:pt x="164797" y="273868"/>
                        <a:pt x="173538" y="265481"/>
                      </a:cubicBezTo>
                      <a:cubicBezTo>
                        <a:pt x="178522" y="260712"/>
                        <a:pt x="183658" y="255778"/>
                        <a:pt x="188175" y="253919"/>
                      </a:cubicBezTo>
                      <a:cubicBezTo>
                        <a:pt x="192311" y="252198"/>
                        <a:pt x="199168" y="252097"/>
                        <a:pt x="205809" y="251996"/>
                      </a:cubicBezTo>
                      <a:cubicBezTo>
                        <a:pt x="218156" y="251806"/>
                        <a:pt x="232147" y="251604"/>
                        <a:pt x="241875" y="241875"/>
                      </a:cubicBezTo>
                      <a:cubicBezTo>
                        <a:pt x="251604" y="232147"/>
                        <a:pt x="251806" y="218156"/>
                        <a:pt x="251996" y="205809"/>
                      </a:cubicBezTo>
                      <a:cubicBezTo>
                        <a:pt x="252097" y="199168"/>
                        <a:pt x="252198" y="192311"/>
                        <a:pt x="253919" y="188175"/>
                      </a:cubicBezTo>
                      <a:cubicBezTo>
                        <a:pt x="255778" y="183671"/>
                        <a:pt x="260712" y="178522"/>
                        <a:pt x="265481" y="173538"/>
                      </a:cubicBezTo>
                      <a:cubicBezTo>
                        <a:pt x="273868" y="164809"/>
                        <a:pt x="283369" y="154891"/>
                        <a:pt x="283369" y="141684"/>
                      </a:cubicBezTo>
                      <a:cubicBezTo>
                        <a:pt x="283369" y="128477"/>
                        <a:pt x="273868" y="118572"/>
                        <a:pt x="265481" y="109831"/>
                      </a:cubicBezTo>
                      <a:close/>
                      <a:moveTo>
                        <a:pt x="250870" y="159534"/>
                      </a:moveTo>
                      <a:cubicBezTo>
                        <a:pt x="244810" y="165859"/>
                        <a:pt x="238536" y="172400"/>
                        <a:pt x="235209" y="180433"/>
                      </a:cubicBezTo>
                      <a:cubicBezTo>
                        <a:pt x="232021" y="188149"/>
                        <a:pt x="231882" y="196967"/>
                        <a:pt x="231755" y="205506"/>
                      </a:cubicBezTo>
                      <a:cubicBezTo>
                        <a:pt x="231629" y="214361"/>
                        <a:pt x="231489" y="223634"/>
                        <a:pt x="227555" y="227555"/>
                      </a:cubicBezTo>
                      <a:cubicBezTo>
                        <a:pt x="223621" y="231477"/>
                        <a:pt x="214411" y="231629"/>
                        <a:pt x="205506" y="231755"/>
                      </a:cubicBezTo>
                      <a:cubicBezTo>
                        <a:pt x="196967" y="231882"/>
                        <a:pt x="188149" y="232021"/>
                        <a:pt x="180433" y="235209"/>
                      </a:cubicBezTo>
                      <a:cubicBezTo>
                        <a:pt x="172400" y="238536"/>
                        <a:pt x="165859" y="244810"/>
                        <a:pt x="159534" y="250870"/>
                      </a:cubicBezTo>
                      <a:cubicBezTo>
                        <a:pt x="153209" y="256929"/>
                        <a:pt x="146745" y="263128"/>
                        <a:pt x="141684" y="263128"/>
                      </a:cubicBezTo>
                      <a:cubicBezTo>
                        <a:pt x="136624" y="263128"/>
                        <a:pt x="130109" y="256904"/>
                        <a:pt x="123835" y="250870"/>
                      </a:cubicBezTo>
                      <a:cubicBezTo>
                        <a:pt x="117560" y="244836"/>
                        <a:pt x="110969" y="238536"/>
                        <a:pt x="102936" y="235209"/>
                      </a:cubicBezTo>
                      <a:cubicBezTo>
                        <a:pt x="95219" y="232021"/>
                        <a:pt x="86402" y="231882"/>
                        <a:pt x="77863" y="231755"/>
                      </a:cubicBezTo>
                      <a:cubicBezTo>
                        <a:pt x="69008" y="231629"/>
                        <a:pt x="59735" y="231489"/>
                        <a:pt x="55814" y="227555"/>
                      </a:cubicBezTo>
                      <a:cubicBezTo>
                        <a:pt x="51892" y="223621"/>
                        <a:pt x="51740" y="214411"/>
                        <a:pt x="51614" y="205506"/>
                      </a:cubicBezTo>
                      <a:cubicBezTo>
                        <a:pt x="51487" y="196967"/>
                        <a:pt x="51348" y="188149"/>
                        <a:pt x="48160" y="180433"/>
                      </a:cubicBezTo>
                      <a:cubicBezTo>
                        <a:pt x="44833" y="172400"/>
                        <a:pt x="38558" y="165859"/>
                        <a:pt x="32499" y="159534"/>
                      </a:cubicBezTo>
                      <a:cubicBezTo>
                        <a:pt x="26439" y="153209"/>
                        <a:pt x="20241" y="146745"/>
                        <a:pt x="20241" y="141684"/>
                      </a:cubicBezTo>
                      <a:cubicBezTo>
                        <a:pt x="20241" y="136624"/>
                        <a:pt x="26465" y="130109"/>
                        <a:pt x="32499" y="123835"/>
                      </a:cubicBezTo>
                      <a:cubicBezTo>
                        <a:pt x="38533" y="117560"/>
                        <a:pt x="44833" y="110969"/>
                        <a:pt x="48160" y="102936"/>
                      </a:cubicBezTo>
                      <a:cubicBezTo>
                        <a:pt x="51348" y="95219"/>
                        <a:pt x="51487" y="86402"/>
                        <a:pt x="51614" y="77863"/>
                      </a:cubicBezTo>
                      <a:cubicBezTo>
                        <a:pt x="51740" y="69008"/>
                        <a:pt x="51879" y="59735"/>
                        <a:pt x="55814" y="55814"/>
                      </a:cubicBezTo>
                      <a:cubicBezTo>
                        <a:pt x="59748" y="51892"/>
                        <a:pt x="68957" y="51740"/>
                        <a:pt x="77863" y="51614"/>
                      </a:cubicBezTo>
                      <a:cubicBezTo>
                        <a:pt x="86402" y="51487"/>
                        <a:pt x="95219" y="51348"/>
                        <a:pt x="102936" y="48160"/>
                      </a:cubicBezTo>
                      <a:cubicBezTo>
                        <a:pt x="110969" y="44833"/>
                        <a:pt x="117509" y="38558"/>
                        <a:pt x="123835" y="32499"/>
                      </a:cubicBezTo>
                      <a:cubicBezTo>
                        <a:pt x="130160" y="26439"/>
                        <a:pt x="136624" y="20241"/>
                        <a:pt x="141684" y="20241"/>
                      </a:cubicBezTo>
                      <a:cubicBezTo>
                        <a:pt x="146745" y="20241"/>
                        <a:pt x="153259" y="26465"/>
                        <a:pt x="159534" y="32499"/>
                      </a:cubicBezTo>
                      <a:cubicBezTo>
                        <a:pt x="165809" y="38533"/>
                        <a:pt x="172400" y="44833"/>
                        <a:pt x="180433" y="48160"/>
                      </a:cubicBezTo>
                      <a:cubicBezTo>
                        <a:pt x="188149" y="51348"/>
                        <a:pt x="196967" y="51487"/>
                        <a:pt x="205506" y="51614"/>
                      </a:cubicBezTo>
                      <a:cubicBezTo>
                        <a:pt x="214361" y="51740"/>
                        <a:pt x="223634" y="51879"/>
                        <a:pt x="227555" y="55814"/>
                      </a:cubicBezTo>
                      <a:cubicBezTo>
                        <a:pt x="231477" y="59748"/>
                        <a:pt x="231629" y="68957"/>
                        <a:pt x="231755" y="77863"/>
                      </a:cubicBezTo>
                      <a:cubicBezTo>
                        <a:pt x="231882" y="86402"/>
                        <a:pt x="232021" y="95219"/>
                        <a:pt x="235209" y="102936"/>
                      </a:cubicBezTo>
                      <a:cubicBezTo>
                        <a:pt x="238536" y="110969"/>
                        <a:pt x="244810" y="117509"/>
                        <a:pt x="250870" y="123835"/>
                      </a:cubicBezTo>
                      <a:cubicBezTo>
                        <a:pt x="256929" y="130160"/>
                        <a:pt x="263128" y="136624"/>
                        <a:pt x="263128" y="141684"/>
                      </a:cubicBezTo>
                      <a:cubicBezTo>
                        <a:pt x="263128" y="146745"/>
                        <a:pt x="256904" y="153259"/>
                        <a:pt x="250870" y="159534"/>
                      </a:cubicBezTo>
                      <a:close/>
                      <a:moveTo>
                        <a:pt x="199446" y="104163"/>
                      </a:moveTo>
                      <a:cubicBezTo>
                        <a:pt x="201346" y="106062"/>
                        <a:pt x="202414" y="108637"/>
                        <a:pt x="202414" y="111323"/>
                      </a:cubicBezTo>
                      <a:cubicBezTo>
                        <a:pt x="202414" y="114009"/>
                        <a:pt x="201346" y="116585"/>
                        <a:pt x="199446" y="118484"/>
                      </a:cubicBezTo>
                      <a:lnTo>
                        <a:pt x="128604" y="189326"/>
                      </a:lnTo>
                      <a:cubicBezTo>
                        <a:pt x="126706" y="191226"/>
                        <a:pt x="124130" y="192294"/>
                        <a:pt x="121444" y="192294"/>
                      </a:cubicBezTo>
                      <a:cubicBezTo>
                        <a:pt x="118758" y="192294"/>
                        <a:pt x="116182" y="191226"/>
                        <a:pt x="114284" y="189326"/>
                      </a:cubicBezTo>
                      <a:lnTo>
                        <a:pt x="83923" y="158965"/>
                      </a:lnTo>
                      <a:cubicBezTo>
                        <a:pt x="79968" y="155010"/>
                        <a:pt x="79968" y="148599"/>
                        <a:pt x="83923" y="144645"/>
                      </a:cubicBezTo>
                      <a:cubicBezTo>
                        <a:pt x="87877" y="140690"/>
                        <a:pt x="94289" y="140690"/>
                        <a:pt x="98243" y="144645"/>
                      </a:cubicBezTo>
                      <a:lnTo>
                        <a:pt x="121444" y="167858"/>
                      </a:lnTo>
                      <a:lnTo>
                        <a:pt x="185126" y="104163"/>
                      </a:lnTo>
                      <a:cubicBezTo>
                        <a:pt x="187024" y="102263"/>
                        <a:pt x="189600" y="101195"/>
                        <a:pt x="192286" y="101195"/>
                      </a:cubicBezTo>
                      <a:cubicBezTo>
                        <a:pt x="194972" y="101195"/>
                        <a:pt x="197548" y="102263"/>
                        <a:pt x="199446" y="104163"/>
                      </a:cubicBez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22058" y="2262664"/>
                <a:ext cx="24156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`group_fn()` 保轴 override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4915" y="2572702"/>
                <a:ext cx="41571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后续 split/tiling/no-loop/unified-axis 的前提，不能简单删掉。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33400" y="3124200"/>
              <a:ext cx="5257800" cy="838200"/>
              <a:chOff x="533400" y="3124200"/>
              <a:chExt cx="5257800" cy="8382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3124200"/>
                <a:ext cx="52578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01291" y="3392091"/>
                <a:ext cx="283369" cy="283369"/>
                <a:chOff x="801291" y="3392091"/>
                <a:chExt cx="283369" cy="283369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11411" y="3402211"/>
                  <a:ext cx="263128" cy="263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128" h="263128">
                      <a:moveTo>
                        <a:pt x="263128" y="131564"/>
                      </a:moveTo>
                      <a:cubicBezTo>
                        <a:pt x="263128" y="147390"/>
                        <a:pt x="240585" y="159332"/>
                        <a:pt x="234437" y="174183"/>
                      </a:cubicBezTo>
                      <a:cubicBezTo>
                        <a:pt x="228517" y="188503"/>
                        <a:pt x="236233" y="212957"/>
                        <a:pt x="224595" y="224595"/>
                      </a:cubicBezTo>
                      <a:cubicBezTo>
                        <a:pt x="212957" y="236233"/>
                        <a:pt x="188503" y="228517"/>
                        <a:pt x="174183" y="234437"/>
                      </a:cubicBezTo>
                      <a:cubicBezTo>
                        <a:pt x="159395" y="240585"/>
                        <a:pt x="147377" y="263128"/>
                        <a:pt x="131564" y="263128"/>
                      </a:cubicBezTo>
                      <a:cubicBezTo>
                        <a:pt x="115751" y="263128"/>
                        <a:pt x="103733" y="240585"/>
                        <a:pt x="88945" y="234437"/>
                      </a:cubicBezTo>
                      <a:cubicBezTo>
                        <a:pt x="74625" y="228517"/>
                        <a:pt x="50171" y="236233"/>
                        <a:pt x="38533" y="224595"/>
                      </a:cubicBezTo>
                      <a:cubicBezTo>
                        <a:pt x="26895" y="212957"/>
                        <a:pt x="34611" y="188503"/>
                        <a:pt x="28691" y="174183"/>
                      </a:cubicBezTo>
                      <a:cubicBezTo>
                        <a:pt x="22543" y="159395"/>
                        <a:pt x="0" y="147377"/>
                        <a:pt x="0" y="131564"/>
                      </a:cubicBezTo>
                      <a:cubicBezTo>
                        <a:pt x="0" y="115751"/>
                        <a:pt x="22543" y="103733"/>
                        <a:pt x="28691" y="88945"/>
                      </a:cubicBezTo>
                      <a:cubicBezTo>
                        <a:pt x="34611" y="74637"/>
                        <a:pt x="26895" y="50171"/>
                        <a:pt x="38533" y="38533"/>
                      </a:cubicBezTo>
                      <a:cubicBezTo>
                        <a:pt x="50171" y="26895"/>
                        <a:pt x="74637" y="34611"/>
                        <a:pt x="88945" y="28691"/>
                      </a:cubicBezTo>
                      <a:cubicBezTo>
                        <a:pt x="103796" y="22543"/>
                        <a:pt x="115751" y="0"/>
                        <a:pt x="131564" y="0"/>
                      </a:cubicBezTo>
                      <a:cubicBezTo>
                        <a:pt x="147377" y="0"/>
                        <a:pt x="159395" y="22543"/>
                        <a:pt x="174183" y="28691"/>
                      </a:cubicBezTo>
                      <a:cubicBezTo>
                        <a:pt x="188503" y="34611"/>
                        <a:pt x="212957" y="26895"/>
                        <a:pt x="224595" y="38533"/>
                      </a:cubicBezTo>
                      <a:cubicBezTo>
                        <a:pt x="236233" y="50171"/>
                        <a:pt x="228517" y="74625"/>
                        <a:pt x="234437" y="88945"/>
                      </a:cubicBezTo>
                      <a:cubicBezTo>
                        <a:pt x="240585" y="103796"/>
                        <a:pt x="263128" y="115751"/>
                        <a:pt x="263128" y="131564"/>
                      </a:cubicBez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01291" y="3392091"/>
                  <a:ext cx="283369" cy="283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369" h="283369">
                      <a:moveTo>
                        <a:pt x="265481" y="109831"/>
                      </a:moveTo>
                      <a:cubicBezTo>
                        <a:pt x="260712" y="104846"/>
                        <a:pt x="255778" y="99710"/>
                        <a:pt x="253919" y="95194"/>
                      </a:cubicBezTo>
                      <a:cubicBezTo>
                        <a:pt x="252198" y="91058"/>
                        <a:pt x="252097" y="84201"/>
                        <a:pt x="251996" y="77560"/>
                      </a:cubicBezTo>
                      <a:cubicBezTo>
                        <a:pt x="251806" y="65213"/>
                        <a:pt x="251604" y="51221"/>
                        <a:pt x="241875" y="41493"/>
                      </a:cubicBezTo>
                      <a:cubicBezTo>
                        <a:pt x="232147" y="31765"/>
                        <a:pt x="218156" y="31563"/>
                        <a:pt x="205809" y="31373"/>
                      </a:cubicBezTo>
                      <a:cubicBezTo>
                        <a:pt x="199168" y="31272"/>
                        <a:pt x="192311" y="31171"/>
                        <a:pt x="188175" y="29450"/>
                      </a:cubicBezTo>
                      <a:cubicBezTo>
                        <a:pt x="183671" y="27591"/>
                        <a:pt x="178522" y="22657"/>
                        <a:pt x="173538" y="17888"/>
                      </a:cubicBezTo>
                      <a:cubicBezTo>
                        <a:pt x="164809" y="9500"/>
                        <a:pt x="154891" y="0"/>
                        <a:pt x="141684" y="0"/>
                      </a:cubicBezTo>
                      <a:cubicBezTo>
                        <a:pt x="128477" y="0"/>
                        <a:pt x="118572" y="9500"/>
                        <a:pt x="109831" y="17888"/>
                      </a:cubicBezTo>
                      <a:cubicBezTo>
                        <a:pt x="104846" y="22657"/>
                        <a:pt x="99710" y="27591"/>
                        <a:pt x="95194" y="29450"/>
                      </a:cubicBezTo>
                      <a:cubicBezTo>
                        <a:pt x="91083" y="31171"/>
                        <a:pt x="84201" y="31272"/>
                        <a:pt x="77560" y="31373"/>
                      </a:cubicBezTo>
                      <a:cubicBezTo>
                        <a:pt x="65213" y="31563"/>
                        <a:pt x="51221" y="31765"/>
                        <a:pt x="41493" y="41493"/>
                      </a:cubicBezTo>
                      <a:cubicBezTo>
                        <a:pt x="31765" y="51221"/>
                        <a:pt x="31626" y="65213"/>
                        <a:pt x="31373" y="77560"/>
                      </a:cubicBezTo>
                      <a:cubicBezTo>
                        <a:pt x="31272" y="84201"/>
                        <a:pt x="31171" y="91058"/>
                        <a:pt x="29450" y="95194"/>
                      </a:cubicBezTo>
                      <a:cubicBezTo>
                        <a:pt x="27591" y="99698"/>
                        <a:pt x="22657" y="104846"/>
                        <a:pt x="17888" y="109831"/>
                      </a:cubicBezTo>
                      <a:cubicBezTo>
                        <a:pt x="9500" y="118559"/>
                        <a:pt x="0" y="128477"/>
                        <a:pt x="0" y="141684"/>
                      </a:cubicBezTo>
                      <a:cubicBezTo>
                        <a:pt x="0" y="154891"/>
                        <a:pt x="9500" y="164797"/>
                        <a:pt x="17888" y="173538"/>
                      </a:cubicBezTo>
                      <a:cubicBezTo>
                        <a:pt x="22657" y="178522"/>
                        <a:pt x="27591" y="183658"/>
                        <a:pt x="29450" y="188175"/>
                      </a:cubicBezTo>
                      <a:cubicBezTo>
                        <a:pt x="31171" y="192311"/>
                        <a:pt x="31272" y="199168"/>
                        <a:pt x="31373" y="205809"/>
                      </a:cubicBezTo>
                      <a:cubicBezTo>
                        <a:pt x="31563" y="218156"/>
                        <a:pt x="31765" y="232147"/>
                        <a:pt x="41493" y="241875"/>
                      </a:cubicBezTo>
                      <a:cubicBezTo>
                        <a:pt x="51221" y="251604"/>
                        <a:pt x="65213" y="251806"/>
                        <a:pt x="77560" y="251996"/>
                      </a:cubicBezTo>
                      <a:cubicBezTo>
                        <a:pt x="84201" y="252097"/>
                        <a:pt x="91058" y="252198"/>
                        <a:pt x="95194" y="253919"/>
                      </a:cubicBezTo>
                      <a:cubicBezTo>
                        <a:pt x="99698" y="255778"/>
                        <a:pt x="104846" y="260712"/>
                        <a:pt x="109831" y="265481"/>
                      </a:cubicBezTo>
                      <a:cubicBezTo>
                        <a:pt x="118559" y="273868"/>
                        <a:pt x="128477" y="283369"/>
                        <a:pt x="141684" y="283369"/>
                      </a:cubicBezTo>
                      <a:cubicBezTo>
                        <a:pt x="154891" y="283369"/>
                        <a:pt x="164797" y="273868"/>
                        <a:pt x="173538" y="265481"/>
                      </a:cubicBezTo>
                      <a:cubicBezTo>
                        <a:pt x="178522" y="260712"/>
                        <a:pt x="183658" y="255778"/>
                        <a:pt x="188175" y="253919"/>
                      </a:cubicBezTo>
                      <a:cubicBezTo>
                        <a:pt x="192311" y="252198"/>
                        <a:pt x="199168" y="252097"/>
                        <a:pt x="205809" y="251996"/>
                      </a:cubicBezTo>
                      <a:cubicBezTo>
                        <a:pt x="218156" y="251806"/>
                        <a:pt x="232147" y="251604"/>
                        <a:pt x="241875" y="241875"/>
                      </a:cubicBezTo>
                      <a:cubicBezTo>
                        <a:pt x="251604" y="232147"/>
                        <a:pt x="251806" y="218156"/>
                        <a:pt x="251996" y="205809"/>
                      </a:cubicBezTo>
                      <a:cubicBezTo>
                        <a:pt x="252097" y="199168"/>
                        <a:pt x="252198" y="192311"/>
                        <a:pt x="253919" y="188175"/>
                      </a:cubicBezTo>
                      <a:cubicBezTo>
                        <a:pt x="255778" y="183671"/>
                        <a:pt x="260712" y="178522"/>
                        <a:pt x="265481" y="173538"/>
                      </a:cubicBezTo>
                      <a:cubicBezTo>
                        <a:pt x="273868" y="164809"/>
                        <a:pt x="283369" y="154891"/>
                        <a:pt x="283369" y="141684"/>
                      </a:cubicBezTo>
                      <a:cubicBezTo>
                        <a:pt x="283369" y="128477"/>
                        <a:pt x="273868" y="118572"/>
                        <a:pt x="265481" y="109831"/>
                      </a:cubicBezTo>
                      <a:close/>
                      <a:moveTo>
                        <a:pt x="250870" y="159534"/>
                      </a:moveTo>
                      <a:cubicBezTo>
                        <a:pt x="244810" y="165859"/>
                        <a:pt x="238536" y="172400"/>
                        <a:pt x="235209" y="180433"/>
                      </a:cubicBezTo>
                      <a:cubicBezTo>
                        <a:pt x="232021" y="188149"/>
                        <a:pt x="231882" y="196967"/>
                        <a:pt x="231755" y="205506"/>
                      </a:cubicBezTo>
                      <a:cubicBezTo>
                        <a:pt x="231629" y="214361"/>
                        <a:pt x="231489" y="223634"/>
                        <a:pt x="227555" y="227555"/>
                      </a:cubicBezTo>
                      <a:cubicBezTo>
                        <a:pt x="223621" y="231477"/>
                        <a:pt x="214411" y="231629"/>
                        <a:pt x="205506" y="231755"/>
                      </a:cubicBezTo>
                      <a:cubicBezTo>
                        <a:pt x="196967" y="231882"/>
                        <a:pt x="188149" y="232021"/>
                        <a:pt x="180433" y="235209"/>
                      </a:cubicBezTo>
                      <a:cubicBezTo>
                        <a:pt x="172400" y="238536"/>
                        <a:pt x="165859" y="244810"/>
                        <a:pt x="159534" y="250870"/>
                      </a:cubicBezTo>
                      <a:cubicBezTo>
                        <a:pt x="153209" y="256929"/>
                        <a:pt x="146745" y="263128"/>
                        <a:pt x="141684" y="263128"/>
                      </a:cubicBezTo>
                      <a:cubicBezTo>
                        <a:pt x="136624" y="263128"/>
                        <a:pt x="130109" y="256904"/>
                        <a:pt x="123835" y="250870"/>
                      </a:cubicBezTo>
                      <a:cubicBezTo>
                        <a:pt x="117560" y="244836"/>
                        <a:pt x="110969" y="238536"/>
                        <a:pt x="102936" y="235209"/>
                      </a:cubicBezTo>
                      <a:cubicBezTo>
                        <a:pt x="95219" y="232021"/>
                        <a:pt x="86402" y="231882"/>
                        <a:pt x="77863" y="231755"/>
                      </a:cubicBezTo>
                      <a:cubicBezTo>
                        <a:pt x="69008" y="231629"/>
                        <a:pt x="59735" y="231489"/>
                        <a:pt x="55814" y="227555"/>
                      </a:cubicBezTo>
                      <a:cubicBezTo>
                        <a:pt x="51892" y="223621"/>
                        <a:pt x="51740" y="214411"/>
                        <a:pt x="51614" y="205506"/>
                      </a:cubicBezTo>
                      <a:cubicBezTo>
                        <a:pt x="51487" y="196967"/>
                        <a:pt x="51348" y="188149"/>
                        <a:pt x="48160" y="180433"/>
                      </a:cubicBezTo>
                      <a:cubicBezTo>
                        <a:pt x="44833" y="172400"/>
                        <a:pt x="38558" y="165859"/>
                        <a:pt x="32499" y="159534"/>
                      </a:cubicBezTo>
                      <a:cubicBezTo>
                        <a:pt x="26439" y="153209"/>
                        <a:pt x="20241" y="146745"/>
                        <a:pt x="20241" y="141684"/>
                      </a:cubicBezTo>
                      <a:cubicBezTo>
                        <a:pt x="20241" y="136624"/>
                        <a:pt x="26465" y="130109"/>
                        <a:pt x="32499" y="123835"/>
                      </a:cubicBezTo>
                      <a:cubicBezTo>
                        <a:pt x="38533" y="117560"/>
                        <a:pt x="44833" y="110969"/>
                        <a:pt x="48160" y="102936"/>
                      </a:cubicBezTo>
                      <a:cubicBezTo>
                        <a:pt x="51348" y="95219"/>
                        <a:pt x="51487" y="86402"/>
                        <a:pt x="51614" y="77863"/>
                      </a:cubicBezTo>
                      <a:cubicBezTo>
                        <a:pt x="51740" y="69008"/>
                        <a:pt x="51879" y="59735"/>
                        <a:pt x="55814" y="55814"/>
                      </a:cubicBezTo>
                      <a:cubicBezTo>
                        <a:pt x="59748" y="51892"/>
                        <a:pt x="68957" y="51740"/>
                        <a:pt x="77863" y="51614"/>
                      </a:cubicBezTo>
                      <a:cubicBezTo>
                        <a:pt x="86402" y="51487"/>
                        <a:pt x="95219" y="51348"/>
                        <a:pt x="102936" y="48160"/>
                      </a:cubicBezTo>
                      <a:cubicBezTo>
                        <a:pt x="110969" y="44833"/>
                        <a:pt x="117509" y="38558"/>
                        <a:pt x="123835" y="32499"/>
                      </a:cubicBezTo>
                      <a:cubicBezTo>
                        <a:pt x="130160" y="26439"/>
                        <a:pt x="136624" y="20241"/>
                        <a:pt x="141684" y="20241"/>
                      </a:cubicBezTo>
                      <a:cubicBezTo>
                        <a:pt x="146745" y="20241"/>
                        <a:pt x="153259" y="26465"/>
                        <a:pt x="159534" y="32499"/>
                      </a:cubicBezTo>
                      <a:cubicBezTo>
                        <a:pt x="165809" y="38533"/>
                        <a:pt x="172400" y="44833"/>
                        <a:pt x="180433" y="48160"/>
                      </a:cubicBezTo>
                      <a:cubicBezTo>
                        <a:pt x="188149" y="51348"/>
                        <a:pt x="196967" y="51487"/>
                        <a:pt x="205506" y="51614"/>
                      </a:cubicBezTo>
                      <a:cubicBezTo>
                        <a:pt x="214361" y="51740"/>
                        <a:pt x="223634" y="51879"/>
                        <a:pt x="227555" y="55814"/>
                      </a:cubicBezTo>
                      <a:cubicBezTo>
                        <a:pt x="231477" y="59748"/>
                        <a:pt x="231629" y="68957"/>
                        <a:pt x="231755" y="77863"/>
                      </a:cubicBezTo>
                      <a:cubicBezTo>
                        <a:pt x="231882" y="86402"/>
                        <a:pt x="232021" y="95219"/>
                        <a:pt x="235209" y="102936"/>
                      </a:cubicBezTo>
                      <a:cubicBezTo>
                        <a:pt x="238536" y="110969"/>
                        <a:pt x="244810" y="117509"/>
                        <a:pt x="250870" y="123835"/>
                      </a:cubicBezTo>
                      <a:cubicBezTo>
                        <a:pt x="256929" y="130160"/>
                        <a:pt x="263128" y="136624"/>
                        <a:pt x="263128" y="141684"/>
                      </a:cubicBezTo>
                      <a:cubicBezTo>
                        <a:pt x="263128" y="146745"/>
                        <a:pt x="256904" y="153259"/>
                        <a:pt x="250870" y="159534"/>
                      </a:cubicBezTo>
                      <a:close/>
                      <a:moveTo>
                        <a:pt x="199446" y="104163"/>
                      </a:moveTo>
                      <a:cubicBezTo>
                        <a:pt x="201346" y="106062"/>
                        <a:pt x="202414" y="108637"/>
                        <a:pt x="202414" y="111323"/>
                      </a:cubicBezTo>
                      <a:cubicBezTo>
                        <a:pt x="202414" y="114009"/>
                        <a:pt x="201346" y="116585"/>
                        <a:pt x="199446" y="118484"/>
                      </a:cubicBezTo>
                      <a:lnTo>
                        <a:pt x="128604" y="189326"/>
                      </a:lnTo>
                      <a:cubicBezTo>
                        <a:pt x="126706" y="191226"/>
                        <a:pt x="124130" y="192294"/>
                        <a:pt x="121444" y="192294"/>
                      </a:cubicBezTo>
                      <a:cubicBezTo>
                        <a:pt x="118758" y="192294"/>
                        <a:pt x="116182" y="191226"/>
                        <a:pt x="114284" y="189326"/>
                      </a:cubicBezTo>
                      <a:lnTo>
                        <a:pt x="83923" y="158965"/>
                      </a:lnTo>
                      <a:cubicBezTo>
                        <a:pt x="79968" y="155010"/>
                        <a:pt x="79968" y="148599"/>
                        <a:pt x="83923" y="144645"/>
                      </a:cubicBezTo>
                      <a:cubicBezTo>
                        <a:pt x="87877" y="140690"/>
                        <a:pt x="94289" y="140690"/>
                        <a:pt x="98243" y="144645"/>
                      </a:cubicBezTo>
                      <a:lnTo>
                        <a:pt x="121444" y="167858"/>
                      </a:lnTo>
                      <a:lnTo>
                        <a:pt x="185126" y="104163"/>
                      </a:lnTo>
                      <a:cubicBezTo>
                        <a:pt x="187024" y="102263"/>
                        <a:pt x="189600" y="101195"/>
                        <a:pt x="192286" y="101195"/>
                      </a:cubicBezTo>
                      <a:cubicBezTo>
                        <a:pt x="194972" y="101195"/>
                        <a:pt x="197548" y="102263"/>
                        <a:pt x="199446" y="104163"/>
                      </a:cubicBez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222058" y="3291364"/>
                <a:ext cx="163908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长距离融合风险收紧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24915" y="3601402"/>
                <a:ext cx="29180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直接针对硬件/runtime 风险，短期保留更稳。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33400" y="4152900"/>
              <a:ext cx="5257800" cy="838200"/>
              <a:chOff x="533400" y="4152900"/>
              <a:chExt cx="5257800" cy="8382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33400" y="4152900"/>
                <a:ext cx="52578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01291" y="4420791"/>
                <a:ext cx="283369" cy="283369"/>
                <a:chOff x="801291" y="4420791"/>
                <a:chExt cx="283369" cy="283369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811411" y="4430911"/>
                  <a:ext cx="263128" cy="263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128" h="263128">
                      <a:moveTo>
                        <a:pt x="263128" y="131564"/>
                      </a:moveTo>
                      <a:cubicBezTo>
                        <a:pt x="263128" y="147390"/>
                        <a:pt x="240585" y="159332"/>
                        <a:pt x="234437" y="174183"/>
                      </a:cubicBezTo>
                      <a:cubicBezTo>
                        <a:pt x="228517" y="188503"/>
                        <a:pt x="236233" y="212957"/>
                        <a:pt x="224595" y="224595"/>
                      </a:cubicBezTo>
                      <a:cubicBezTo>
                        <a:pt x="212957" y="236233"/>
                        <a:pt x="188503" y="228517"/>
                        <a:pt x="174183" y="234437"/>
                      </a:cubicBezTo>
                      <a:cubicBezTo>
                        <a:pt x="159395" y="240585"/>
                        <a:pt x="147377" y="263128"/>
                        <a:pt x="131564" y="263128"/>
                      </a:cubicBezTo>
                      <a:cubicBezTo>
                        <a:pt x="115751" y="263128"/>
                        <a:pt x="103733" y="240585"/>
                        <a:pt x="88945" y="234437"/>
                      </a:cubicBezTo>
                      <a:cubicBezTo>
                        <a:pt x="74625" y="228517"/>
                        <a:pt x="50171" y="236233"/>
                        <a:pt x="38533" y="224595"/>
                      </a:cubicBezTo>
                      <a:cubicBezTo>
                        <a:pt x="26895" y="212957"/>
                        <a:pt x="34611" y="188503"/>
                        <a:pt x="28691" y="174183"/>
                      </a:cubicBezTo>
                      <a:cubicBezTo>
                        <a:pt x="22543" y="159395"/>
                        <a:pt x="0" y="147377"/>
                        <a:pt x="0" y="131564"/>
                      </a:cubicBezTo>
                      <a:cubicBezTo>
                        <a:pt x="0" y="115751"/>
                        <a:pt x="22543" y="103733"/>
                        <a:pt x="28691" y="88945"/>
                      </a:cubicBezTo>
                      <a:cubicBezTo>
                        <a:pt x="34611" y="74637"/>
                        <a:pt x="26895" y="50171"/>
                        <a:pt x="38533" y="38533"/>
                      </a:cubicBezTo>
                      <a:cubicBezTo>
                        <a:pt x="50171" y="26895"/>
                        <a:pt x="74637" y="34611"/>
                        <a:pt x="88945" y="28691"/>
                      </a:cubicBezTo>
                      <a:cubicBezTo>
                        <a:pt x="103796" y="22543"/>
                        <a:pt x="115751" y="0"/>
                        <a:pt x="131564" y="0"/>
                      </a:cubicBezTo>
                      <a:cubicBezTo>
                        <a:pt x="147377" y="0"/>
                        <a:pt x="159395" y="22543"/>
                        <a:pt x="174183" y="28691"/>
                      </a:cubicBezTo>
                      <a:cubicBezTo>
                        <a:pt x="188503" y="34611"/>
                        <a:pt x="212957" y="26895"/>
                        <a:pt x="224595" y="38533"/>
                      </a:cubicBezTo>
                      <a:cubicBezTo>
                        <a:pt x="236233" y="50171"/>
                        <a:pt x="228517" y="74625"/>
                        <a:pt x="234437" y="88945"/>
                      </a:cubicBezTo>
                      <a:cubicBezTo>
                        <a:pt x="240585" y="103796"/>
                        <a:pt x="263128" y="115751"/>
                        <a:pt x="263128" y="131564"/>
                      </a:cubicBez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01291" y="4420791"/>
                  <a:ext cx="283369" cy="283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369" h="283369">
                      <a:moveTo>
                        <a:pt x="265481" y="109831"/>
                      </a:moveTo>
                      <a:cubicBezTo>
                        <a:pt x="260712" y="104846"/>
                        <a:pt x="255778" y="99710"/>
                        <a:pt x="253919" y="95194"/>
                      </a:cubicBezTo>
                      <a:cubicBezTo>
                        <a:pt x="252198" y="91058"/>
                        <a:pt x="252097" y="84201"/>
                        <a:pt x="251996" y="77560"/>
                      </a:cubicBezTo>
                      <a:cubicBezTo>
                        <a:pt x="251806" y="65213"/>
                        <a:pt x="251604" y="51221"/>
                        <a:pt x="241875" y="41493"/>
                      </a:cubicBezTo>
                      <a:cubicBezTo>
                        <a:pt x="232147" y="31765"/>
                        <a:pt x="218156" y="31563"/>
                        <a:pt x="205809" y="31373"/>
                      </a:cubicBezTo>
                      <a:cubicBezTo>
                        <a:pt x="199168" y="31272"/>
                        <a:pt x="192311" y="31171"/>
                        <a:pt x="188175" y="29450"/>
                      </a:cubicBezTo>
                      <a:cubicBezTo>
                        <a:pt x="183671" y="27591"/>
                        <a:pt x="178522" y="22657"/>
                        <a:pt x="173538" y="17888"/>
                      </a:cubicBezTo>
                      <a:cubicBezTo>
                        <a:pt x="164809" y="9500"/>
                        <a:pt x="154891" y="0"/>
                        <a:pt x="141684" y="0"/>
                      </a:cubicBezTo>
                      <a:cubicBezTo>
                        <a:pt x="128477" y="0"/>
                        <a:pt x="118572" y="9500"/>
                        <a:pt x="109831" y="17888"/>
                      </a:cubicBezTo>
                      <a:cubicBezTo>
                        <a:pt x="104846" y="22657"/>
                        <a:pt x="99710" y="27591"/>
                        <a:pt x="95194" y="29450"/>
                      </a:cubicBezTo>
                      <a:cubicBezTo>
                        <a:pt x="91083" y="31171"/>
                        <a:pt x="84201" y="31272"/>
                        <a:pt x="77560" y="31373"/>
                      </a:cubicBezTo>
                      <a:cubicBezTo>
                        <a:pt x="65213" y="31563"/>
                        <a:pt x="51221" y="31765"/>
                        <a:pt x="41493" y="41493"/>
                      </a:cubicBezTo>
                      <a:cubicBezTo>
                        <a:pt x="31765" y="51221"/>
                        <a:pt x="31626" y="65213"/>
                        <a:pt x="31373" y="77560"/>
                      </a:cubicBezTo>
                      <a:cubicBezTo>
                        <a:pt x="31272" y="84201"/>
                        <a:pt x="31171" y="91058"/>
                        <a:pt x="29450" y="95194"/>
                      </a:cubicBezTo>
                      <a:cubicBezTo>
                        <a:pt x="27591" y="99698"/>
                        <a:pt x="22657" y="104846"/>
                        <a:pt x="17888" y="109831"/>
                      </a:cubicBezTo>
                      <a:cubicBezTo>
                        <a:pt x="9500" y="118559"/>
                        <a:pt x="0" y="128477"/>
                        <a:pt x="0" y="141684"/>
                      </a:cubicBezTo>
                      <a:cubicBezTo>
                        <a:pt x="0" y="154891"/>
                        <a:pt x="9500" y="164797"/>
                        <a:pt x="17888" y="173538"/>
                      </a:cubicBezTo>
                      <a:cubicBezTo>
                        <a:pt x="22657" y="178522"/>
                        <a:pt x="27591" y="183658"/>
                        <a:pt x="29450" y="188175"/>
                      </a:cubicBezTo>
                      <a:cubicBezTo>
                        <a:pt x="31171" y="192311"/>
                        <a:pt x="31272" y="199168"/>
                        <a:pt x="31373" y="205809"/>
                      </a:cubicBezTo>
                      <a:cubicBezTo>
                        <a:pt x="31563" y="218156"/>
                        <a:pt x="31765" y="232147"/>
                        <a:pt x="41493" y="241875"/>
                      </a:cubicBezTo>
                      <a:cubicBezTo>
                        <a:pt x="51221" y="251604"/>
                        <a:pt x="65213" y="251806"/>
                        <a:pt x="77560" y="251996"/>
                      </a:cubicBezTo>
                      <a:cubicBezTo>
                        <a:pt x="84201" y="252097"/>
                        <a:pt x="91058" y="252198"/>
                        <a:pt x="95194" y="253919"/>
                      </a:cubicBezTo>
                      <a:cubicBezTo>
                        <a:pt x="99698" y="255778"/>
                        <a:pt x="104846" y="260712"/>
                        <a:pt x="109831" y="265481"/>
                      </a:cubicBezTo>
                      <a:cubicBezTo>
                        <a:pt x="118559" y="273868"/>
                        <a:pt x="128477" y="283369"/>
                        <a:pt x="141684" y="283369"/>
                      </a:cubicBezTo>
                      <a:cubicBezTo>
                        <a:pt x="154891" y="283369"/>
                        <a:pt x="164797" y="273868"/>
                        <a:pt x="173538" y="265481"/>
                      </a:cubicBezTo>
                      <a:cubicBezTo>
                        <a:pt x="178522" y="260712"/>
                        <a:pt x="183658" y="255778"/>
                        <a:pt x="188175" y="253919"/>
                      </a:cubicBezTo>
                      <a:cubicBezTo>
                        <a:pt x="192311" y="252198"/>
                        <a:pt x="199168" y="252097"/>
                        <a:pt x="205809" y="251996"/>
                      </a:cubicBezTo>
                      <a:cubicBezTo>
                        <a:pt x="218156" y="251806"/>
                        <a:pt x="232147" y="251604"/>
                        <a:pt x="241875" y="241875"/>
                      </a:cubicBezTo>
                      <a:cubicBezTo>
                        <a:pt x="251604" y="232147"/>
                        <a:pt x="251806" y="218156"/>
                        <a:pt x="251996" y="205809"/>
                      </a:cubicBezTo>
                      <a:cubicBezTo>
                        <a:pt x="252097" y="199168"/>
                        <a:pt x="252198" y="192311"/>
                        <a:pt x="253919" y="188175"/>
                      </a:cubicBezTo>
                      <a:cubicBezTo>
                        <a:pt x="255778" y="183671"/>
                        <a:pt x="260712" y="178522"/>
                        <a:pt x="265481" y="173538"/>
                      </a:cubicBezTo>
                      <a:cubicBezTo>
                        <a:pt x="273868" y="164809"/>
                        <a:pt x="283369" y="154891"/>
                        <a:pt x="283369" y="141684"/>
                      </a:cubicBezTo>
                      <a:cubicBezTo>
                        <a:pt x="283369" y="128477"/>
                        <a:pt x="273868" y="118572"/>
                        <a:pt x="265481" y="109831"/>
                      </a:cubicBezTo>
                      <a:close/>
                      <a:moveTo>
                        <a:pt x="250870" y="159534"/>
                      </a:moveTo>
                      <a:cubicBezTo>
                        <a:pt x="244810" y="165859"/>
                        <a:pt x="238536" y="172400"/>
                        <a:pt x="235209" y="180433"/>
                      </a:cubicBezTo>
                      <a:cubicBezTo>
                        <a:pt x="232021" y="188149"/>
                        <a:pt x="231882" y="196967"/>
                        <a:pt x="231755" y="205506"/>
                      </a:cubicBezTo>
                      <a:cubicBezTo>
                        <a:pt x="231629" y="214361"/>
                        <a:pt x="231489" y="223634"/>
                        <a:pt x="227555" y="227555"/>
                      </a:cubicBezTo>
                      <a:cubicBezTo>
                        <a:pt x="223621" y="231477"/>
                        <a:pt x="214411" y="231629"/>
                        <a:pt x="205506" y="231755"/>
                      </a:cubicBezTo>
                      <a:cubicBezTo>
                        <a:pt x="196967" y="231882"/>
                        <a:pt x="188149" y="232021"/>
                        <a:pt x="180433" y="235209"/>
                      </a:cubicBezTo>
                      <a:cubicBezTo>
                        <a:pt x="172400" y="238536"/>
                        <a:pt x="165859" y="244810"/>
                        <a:pt x="159534" y="250870"/>
                      </a:cubicBezTo>
                      <a:cubicBezTo>
                        <a:pt x="153209" y="256929"/>
                        <a:pt x="146745" y="263128"/>
                        <a:pt x="141684" y="263128"/>
                      </a:cubicBezTo>
                      <a:cubicBezTo>
                        <a:pt x="136624" y="263128"/>
                        <a:pt x="130109" y="256904"/>
                        <a:pt x="123835" y="250870"/>
                      </a:cubicBezTo>
                      <a:cubicBezTo>
                        <a:pt x="117560" y="244836"/>
                        <a:pt x="110969" y="238536"/>
                        <a:pt x="102936" y="235209"/>
                      </a:cubicBezTo>
                      <a:cubicBezTo>
                        <a:pt x="95219" y="232021"/>
                        <a:pt x="86402" y="231882"/>
                        <a:pt x="77863" y="231755"/>
                      </a:cubicBezTo>
                      <a:cubicBezTo>
                        <a:pt x="69008" y="231629"/>
                        <a:pt x="59735" y="231489"/>
                        <a:pt x="55814" y="227555"/>
                      </a:cubicBezTo>
                      <a:cubicBezTo>
                        <a:pt x="51892" y="223621"/>
                        <a:pt x="51740" y="214411"/>
                        <a:pt x="51614" y="205506"/>
                      </a:cubicBezTo>
                      <a:cubicBezTo>
                        <a:pt x="51487" y="196967"/>
                        <a:pt x="51348" y="188149"/>
                        <a:pt x="48160" y="180433"/>
                      </a:cubicBezTo>
                      <a:cubicBezTo>
                        <a:pt x="44833" y="172400"/>
                        <a:pt x="38558" y="165859"/>
                        <a:pt x="32499" y="159534"/>
                      </a:cubicBezTo>
                      <a:cubicBezTo>
                        <a:pt x="26439" y="153209"/>
                        <a:pt x="20241" y="146745"/>
                        <a:pt x="20241" y="141684"/>
                      </a:cubicBezTo>
                      <a:cubicBezTo>
                        <a:pt x="20241" y="136624"/>
                        <a:pt x="26465" y="130109"/>
                        <a:pt x="32499" y="123835"/>
                      </a:cubicBezTo>
                      <a:cubicBezTo>
                        <a:pt x="38533" y="117560"/>
                        <a:pt x="44833" y="110969"/>
                        <a:pt x="48160" y="102936"/>
                      </a:cubicBezTo>
                      <a:cubicBezTo>
                        <a:pt x="51348" y="95219"/>
                        <a:pt x="51487" y="86402"/>
                        <a:pt x="51614" y="77863"/>
                      </a:cubicBezTo>
                      <a:cubicBezTo>
                        <a:pt x="51740" y="69008"/>
                        <a:pt x="51879" y="59735"/>
                        <a:pt x="55814" y="55814"/>
                      </a:cubicBezTo>
                      <a:cubicBezTo>
                        <a:pt x="59748" y="51892"/>
                        <a:pt x="68957" y="51740"/>
                        <a:pt x="77863" y="51614"/>
                      </a:cubicBezTo>
                      <a:cubicBezTo>
                        <a:pt x="86402" y="51487"/>
                        <a:pt x="95219" y="51348"/>
                        <a:pt x="102936" y="48160"/>
                      </a:cubicBezTo>
                      <a:cubicBezTo>
                        <a:pt x="110969" y="44833"/>
                        <a:pt x="117509" y="38558"/>
                        <a:pt x="123835" y="32499"/>
                      </a:cubicBezTo>
                      <a:cubicBezTo>
                        <a:pt x="130160" y="26439"/>
                        <a:pt x="136624" y="20241"/>
                        <a:pt x="141684" y="20241"/>
                      </a:cubicBezTo>
                      <a:cubicBezTo>
                        <a:pt x="146745" y="20241"/>
                        <a:pt x="153259" y="26465"/>
                        <a:pt x="159534" y="32499"/>
                      </a:cubicBezTo>
                      <a:cubicBezTo>
                        <a:pt x="165809" y="38533"/>
                        <a:pt x="172400" y="44833"/>
                        <a:pt x="180433" y="48160"/>
                      </a:cubicBezTo>
                      <a:cubicBezTo>
                        <a:pt x="188149" y="51348"/>
                        <a:pt x="196967" y="51487"/>
                        <a:pt x="205506" y="51614"/>
                      </a:cubicBezTo>
                      <a:cubicBezTo>
                        <a:pt x="214361" y="51740"/>
                        <a:pt x="223634" y="51879"/>
                        <a:pt x="227555" y="55814"/>
                      </a:cubicBezTo>
                      <a:cubicBezTo>
                        <a:pt x="231477" y="59748"/>
                        <a:pt x="231629" y="68957"/>
                        <a:pt x="231755" y="77863"/>
                      </a:cubicBezTo>
                      <a:cubicBezTo>
                        <a:pt x="231882" y="86402"/>
                        <a:pt x="232021" y="95219"/>
                        <a:pt x="235209" y="102936"/>
                      </a:cubicBezTo>
                      <a:cubicBezTo>
                        <a:pt x="238536" y="110969"/>
                        <a:pt x="244810" y="117509"/>
                        <a:pt x="250870" y="123835"/>
                      </a:cubicBezTo>
                      <a:cubicBezTo>
                        <a:pt x="256929" y="130160"/>
                        <a:pt x="263128" y="136624"/>
                        <a:pt x="263128" y="141684"/>
                      </a:cubicBezTo>
                      <a:cubicBezTo>
                        <a:pt x="263128" y="146745"/>
                        <a:pt x="256904" y="153259"/>
                        <a:pt x="250870" y="159534"/>
                      </a:cubicBezTo>
                      <a:close/>
                      <a:moveTo>
                        <a:pt x="199446" y="104163"/>
                      </a:moveTo>
                      <a:cubicBezTo>
                        <a:pt x="201346" y="106062"/>
                        <a:pt x="202414" y="108637"/>
                        <a:pt x="202414" y="111323"/>
                      </a:cubicBezTo>
                      <a:cubicBezTo>
                        <a:pt x="202414" y="114009"/>
                        <a:pt x="201346" y="116585"/>
                        <a:pt x="199446" y="118484"/>
                      </a:cubicBezTo>
                      <a:lnTo>
                        <a:pt x="128604" y="189326"/>
                      </a:lnTo>
                      <a:cubicBezTo>
                        <a:pt x="126706" y="191226"/>
                        <a:pt x="124130" y="192294"/>
                        <a:pt x="121444" y="192294"/>
                      </a:cubicBezTo>
                      <a:cubicBezTo>
                        <a:pt x="118758" y="192294"/>
                        <a:pt x="116182" y="191226"/>
                        <a:pt x="114284" y="189326"/>
                      </a:cubicBezTo>
                      <a:lnTo>
                        <a:pt x="83923" y="158965"/>
                      </a:lnTo>
                      <a:cubicBezTo>
                        <a:pt x="79968" y="155010"/>
                        <a:pt x="79968" y="148599"/>
                        <a:pt x="83923" y="144645"/>
                      </a:cubicBezTo>
                      <a:cubicBezTo>
                        <a:pt x="87877" y="140690"/>
                        <a:pt x="94289" y="140690"/>
                        <a:pt x="98243" y="144645"/>
                      </a:cubicBezTo>
                      <a:lnTo>
                        <a:pt x="121444" y="167858"/>
                      </a:lnTo>
                      <a:lnTo>
                        <a:pt x="185126" y="104163"/>
                      </a:lnTo>
                      <a:cubicBezTo>
                        <a:pt x="187024" y="102263"/>
                        <a:pt x="189600" y="101195"/>
                        <a:pt x="192286" y="101195"/>
                      </a:cubicBezTo>
                      <a:cubicBezTo>
                        <a:pt x="194972" y="101195"/>
                        <a:pt x="197548" y="102263"/>
                        <a:pt x="199446" y="104163"/>
                      </a:cubicBez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222058" y="4320064"/>
                <a:ext cx="373672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`patch_loop_body()` / `patch_indexing()`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24915" y="4630102"/>
                <a:ext cx="35901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间接访存模板和 unified-axis 逻辑确实需要这一层配合。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400800" y="2095500"/>
              <a:ext cx="5257800" cy="838200"/>
              <a:chOff x="6400800" y="2095500"/>
              <a:chExt cx="5257800" cy="8382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400800" y="2095500"/>
                <a:ext cx="52578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6674841" y="2368781"/>
                <a:ext cx="267129" cy="271840"/>
                <a:chOff x="6674841" y="2368781"/>
                <a:chExt cx="267129" cy="27184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685909" y="2376668"/>
                  <a:ext cx="245924" cy="252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924" h="252872">
                      <a:moveTo>
                        <a:pt x="245909" y="87925"/>
                      </a:moveTo>
                      <a:cubicBezTo>
                        <a:pt x="245899" y="116570"/>
                        <a:pt x="230753" y="143077"/>
                        <a:pt x="206080" y="157630"/>
                      </a:cubicBezTo>
                      <a:cubicBezTo>
                        <a:pt x="181408" y="172183"/>
                        <a:pt x="150882" y="172616"/>
                        <a:pt x="125807" y="158768"/>
                      </a:cubicBezTo>
                      <a:lnTo>
                        <a:pt x="54889" y="240995"/>
                      </a:lnTo>
                      <a:cubicBezTo>
                        <a:pt x="43011" y="252872"/>
                        <a:pt x="23755" y="252872"/>
                        <a:pt x="11877" y="240995"/>
                      </a:cubicBezTo>
                      <a:cubicBezTo>
                        <a:pt x="0" y="229118"/>
                        <a:pt x="0" y="209861"/>
                        <a:pt x="11877" y="197984"/>
                      </a:cubicBezTo>
                      <a:lnTo>
                        <a:pt x="94105" y="127066"/>
                      </a:lnTo>
                      <a:cubicBezTo>
                        <a:pt x="77526" y="97063"/>
                        <a:pt x="81638" y="59872"/>
                        <a:pt x="104370" y="34216"/>
                      </a:cubicBezTo>
                      <a:cubicBezTo>
                        <a:pt x="127102" y="8560"/>
                        <a:pt x="163528" y="0"/>
                        <a:pt x="195308" y="12845"/>
                      </a:cubicBezTo>
                      <a:lnTo>
                        <a:pt x="144706" y="67685"/>
                      </a:lnTo>
                      <a:lnTo>
                        <a:pt x="151866" y="101006"/>
                      </a:lnTo>
                      <a:lnTo>
                        <a:pt x="185188" y="108166"/>
                      </a:lnTo>
                      <a:lnTo>
                        <a:pt x="240027" y="57564"/>
                      </a:lnTo>
                      <a:cubicBezTo>
                        <a:pt x="243927" y="67211"/>
                        <a:pt x="245924" y="77521"/>
                        <a:pt x="245909" y="87925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674841" y="2368781"/>
                  <a:ext cx="267129" cy="271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29" h="271840">
                      <a:moveTo>
                        <a:pt x="260469" y="61656"/>
                      </a:moveTo>
                      <a:cubicBezTo>
                        <a:pt x="259223" y="58577"/>
                        <a:pt x="256545" y="56304"/>
                        <a:pt x="253303" y="55577"/>
                      </a:cubicBezTo>
                      <a:cubicBezTo>
                        <a:pt x="250061" y="54850"/>
                        <a:pt x="246668" y="55761"/>
                        <a:pt x="244226" y="58013"/>
                      </a:cubicBezTo>
                      <a:lnTo>
                        <a:pt x="193245" y="105060"/>
                      </a:lnTo>
                      <a:lnTo>
                        <a:pt x="171448" y="100379"/>
                      </a:lnTo>
                      <a:lnTo>
                        <a:pt x="166768" y="78583"/>
                      </a:lnTo>
                      <a:lnTo>
                        <a:pt x="213815" y="27602"/>
                      </a:lnTo>
                      <a:cubicBezTo>
                        <a:pt x="216067" y="25159"/>
                        <a:pt x="216978" y="21767"/>
                        <a:pt x="216251" y="18525"/>
                      </a:cubicBezTo>
                      <a:cubicBezTo>
                        <a:pt x="215523" y="15283"/>
                        <a:pt x="213251" y="12605"/>
                        <a:pt x="210171" y="11359"/>
                      </a:cubicBezTo>
                      <a:cubicBezTo>
                        <a:pt x="182092" y="0"/>
                        <a:pt x="150204" y="3343"/>
                        <a:pt x="125091" y="20278"/>
                      </a:cubicBezTo>
                      <a:cubicBezTo>
                        <a:pt x="99978" y="37212"/>
                        <a:pt x="84926" y="65523"/>
                        <a:pt x="84932" y="95813"/>
                      </a:cubicBezTo>
                      <a:cubicBezTo>
                        <a:pt x="84916" y="108408"/>
                        <a:pt x="87500" y="120872"/>
                        <a:pt x="92523" y="132423"/>
                      </a:cubicBezTo>
                      <a:lnTo>
                        <a:pt x="16355" y="198281"/>
                      </a:lnTo>
                      <a:cubicBezTo>
                        <a:pt x="16165" y="198432"/>
                        <a:pt x="15988" y="198610"/>
                        <a:pt x="15811" y="198774"/>
                      </a:cubicBezTo>
                      <a:cubicBezTo>
                        <a:pt x="0" y="214585"/>
                        <a:pt x="0" y="240219"/>
                        <a:pt x="15811" y="256030"/>
                      </a:cubicBezTo>
                      <a:cubicBezTo>
                        <a:pt x="31621" y="271840"/>
                        <a:pt x="57256" y="271840"/>
                        <a:pt x="73066" y="256030"/>
                      </a:cubicBezTo>
                      <a:cubicBezTo>
                        <a:pt x="73231" y="255865"/>
                        <a:pt x="73408" y="255676"/>
                        <a:pt x="73560" y="255498"/>
                      </a:cubicBezTo>
                      <a:lnTo>
                        <a:pt x="139405" y="179305"/>
                      </a:lnTo>
                      <a:cubicBezTo>
                        <a:pt x="167584" y="191675"/>
                        <a:pt x="200104" y="188979"/>
                        <a:pt x="225861" y="172137"/>
                      </a:cubicBezTo>
                      <a:cubicBezTo>
                        <a:pt x="251618" y="155296"/>
                        <a:pt x="267129" y="126587"/>
                        <a:pt x="267098" y="95813"/>
                      </a:cubicBezTo>
                      <a:cubicBezTo>
                        <a:pt x="267118" y="84106"/>
                        <a:pt x="264867" y="72506"/>
                        <a:pt x="260469" y="61656"/>
                      </a:cubicBezTo>
                      <a:close/>
                      <a:moveTo>
                        <a:pt x="176015" y="166655"/>
                      </a:moveTo>
                      <a:cubicBezTo>
                        <a:pt x="164036" y="166638"/>
                        <a:pt x="152256" y="163592"/>
                        <a:pt x="141771" y="157799"/>
                      </a:cubicBezTo>
                      <a:cubicBezTo>
                        <a:pt x="137584" y="155487"/>
                        <a:pt x="132350" y="156420"/>
                        <a:pt x="129221" y="160039"/>
                      </a:cubicBezTo>
                      <a:lnTo>
                        <a:pt x="58506" y="241937"/>
                      </a:lnTo>
                      <a:cubicBezTo>
                        <a:pt x="50548" y="249498"/>
                        <a:pt x="38014" y="249337"/>
                        <a:pt x="30252" y="241575"/>
                      </a:cubicBezTo>
                      <a:cubicBezTo>
                        <a:pt x="22491" y="233814"/>
                        <a:pt x="22330" y="221280"/>
                        <a:pt x="29891" y="213322"/>
                      </a:cubicBezTo>
                      <a:lnTo>
                        <a:pt x="111726" y="142619"/>
                      </a:lnTo>
                      <a:cubicBezTo>
                        <a:pt x="115351" y="139489"/>
                        <a:pt x="116285" y="134247"/>
                        <a:pt x="113965" y="130057"/>
                      </a:cubicBezTo>
                      <a:cubicBezTo>
                        <a:pt x="100800" y="106246"/>
                        <a:pt x="102435" y="76999"/>
                        <a:pt x="118172" y="54804"/>
                      </a:cubicBezTo>
                      <a:cubicBezTo>
                        <a:pt x="133909" y="32609"/>
                        <a:pt x="160967" y="21388"/>
                        <a:pt x="187793" y="25932"/>
                      </a:cubicBezTo>
                      <a:lnTo>
                        <a:pt x="148324" y="68703"/>
                      </a:lnTo>
                      <a:cubicBezTo>
                        <a:pt x="146095" y="71120"/>
                        <a:pt x="145180" y="74470"/>
                        <a:pt x="145869" y="77685"/>
                      </a:cubicBezTo>
                      <a:lnTo>
                        <a:pt x="153030" y="110993"/>
                      </a:lnTo>
                      <a:cubicBezTo>
                        <a:pt x="153866" y="114884"/>
                        <a:pt x="156906" y="117924"/>
                        <a:pt x="160797" y="118760"/>
                      </a:cubicBezTo>
                      <a:lnTo>
                        <a:pt x="194131" y="125920"/>
                      </a:lnTo>
                      <a:cubicBezTo>
                        <a:pt x="197345" y="126610"/>
                        <a:pt x="200695" y="125695"/>
                        <a:pt x="203112" y="123466"/>
                      </a:cubicBezTo>
                      <a:lnTo>
                        <a:pt x="245883" y="83997"/>
                      </a:lnTo>
                      <a:cubicBezTo>
                        <a:pt x="249335" y="104558"/>
                        <a:pt x="243564" y="125595"/>
                        <a:pt x="230105" y="141518"/>
                      </a:cubicBezTo>
                      <a:cubicBezTo>
                        <a:pt x="216647" y="157440"/>
                        <a:pt x="196864" y="166634"/>
                        <a:pt x="176015" y="166655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7089458" y="2262664"/>
                <a:ext cx="291552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`can_fuse()` whole-method fork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092315" y="2572702"/>
                <a:ext cx="40381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93% 相同、7% NPU 差异，应下沉为 helper，而不是复制整函数。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400800" y="3124200"/>
              <a:ext cx="5257800" cy="838200"/>
              <a:chOff x="6400800" y="3124200"/>
              <a:chExt cx="5257800" cy="8382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400800" y="3124200"/>
                <a:ext cx="52578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6674841" y="3397481"/>
                <a:ext cx="267129" cy="271840"/>
                <a:chOff x="6674841" y="3397481"/>
                <a:chExt cx="267129" cy="27184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685909" y="3405368"/>
                  <a:ext cx="245924" cy="252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924" h="252872">
                      <a:moveTo>
                        <a:pt x="245909" y="87925"/>
                      </a:moveTo>
                      <a:cubicBezTo>
                        <a:pt x="245899" y="116570"/>
                        <a:pt x="230753" y="143077"/>
                        <a:pt x="206080" y="157630"/>
                      </a:cubicBezTo>
                      <a:cubicBezTo>
                        <a:pt x="181408" y="172183"/>
                        <a:pt x="150882" y="172616"/>
                        <a:pt x="125807" y="158768"/>
                      </a:cubicBezTo>
                      <a:lnTo>
                        <a:pt x="54889" y="240995"/>
                      </a:lnTo>
                      <a:cubicBezTo>
                        <a:pt x="43011" y="252872"/>
                        <a:pt x="23755" y="252872"/>
                        <a:pt x="11877" y="240995"/>
                      </a:cubicBezTo>
                      <a:cubicBezTo>
                        <a:pt x="0" y="229118"/>
                        <a:pt x="0" y="209861"/>
                        <a:pt x="11877" y="197984"/>
                      </a:cubicBezTo>
                      <a:lnTo>
                        <a:pt x="94105" y="127066"/>
                      </a:lnTo>
                      <a:cubicBezTo>
                        <a:pt x="77526" y="97063"/>
                        <a:pt x="81638" y="59872"/>
                        <a:pt x="104370" y="34216"/>
                      </a:cubicBezTo>
                      <a:cubicBezTo>
                        <a:pt x="127102" y="8560"/>
                        <a:pt x="163528" y="0"/>
                        <a:pt x="195308" y="12845"/>
                      </a:cubicBezTo>
                      <a:lnTo>
                        <a:pt x="144706" y="67685"/>
                      </a:lnTo>
                      <a:lnTo>
                        <a:pt x="151866" y="101006"/>
                      </a:lnTo>
                      <a:lnTo>
                        <a:pt x="185188" y="108166"/>
                      </a:lnTo>
                      <a:lnTo>
                        <a:pt x="240027" y="57564"/>
                      </a:lnTo>
                      <a:cubicBezTo>
                        <a:pt x="243927" y="67211"/>
                        <a:pt x="245924" y="77521"/>
                        <a:pt x="245909" y="87925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674841" y="3397481"/>
                  <a:ext cx="267129" cy="271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29" h="271840">
                      <a:moveTo>
                        <a:pt x="260469" y="61656"/>
                      </a:moveTo>
                      <a:cubicBezTo>
                        <a:pt x="259223" y="58577"/>
                        <a:pt x="256545" y="56304"/>
                        <a:pt x="253303" y="55577"/>
                      </a:cubicBezTo>
                      <a:cubicBezTo>
                        <a:pt x="250061" y="54850"/>
                        <a:pt x="246668" y="55761"/>
                        <a:pt x="244226" y="58013"/>
                      </a:cubicBezTo>
                      <a:lnTo>
                        <a:pt x="193245" y="105060"/>
                      </a:lnTo>
                      <a:lnTo>
                        <a:pt x="171448" y="100379"/>
                      </a:lnTo>
                      <a:lnTo>
                        <a:pt x="166768" y="78583"/>
                      </a:lnTo>
                      <a:lnTo>
                        <a:pt x="213815" y="27602"/>
                      </a:lnTo>
                      <a:cubicBezTo>
                        <a:pt x="216067" y="25159"/>
                        <a:pt x="216978" y="21767"/>
                        <a:pt x="216251" y="18525"/>
                      </a:cubicBezTo>
                      <a:cubicBezTo>
                        <a:pt x="215523" y="15283"/>
                        <a:pt x="213251" y="12605"/>
                        <a:pt x="210171" y="11359"/>
                      </a:cubicBezTo>
                      <a:cubicBezTo>
                        <a:pt x="182092" y="0"/>
                        <a:pt x="150204" y="3343"/>
                        <a:pt x="125091" y="20278"/>
                      </a:cubicBezTo>
                      <a:cubicBezTo>
                        <a:pt x="99978" y="37212"/>
                        <a:pt x="84926" y="65523"/>
                        <a:pt x="84932" y="95813"/>
                      </a:cubicBezTo>
                      <a:cubicBezTo>
                        <a:pt x="84916" y="108408"/>
                        <a:pt x="87500" y="120872"/>
                        <a:pt x="92523" y="132423"/>
                      </a:cubicBezTo>
                      <a:lnTo>
                        <a:pt x="16355" y="198281"/>
                      </a:lnTo>
                      <a:cubicBezTo>
                        <a:pt x="16165" y="198432"/>
                        <a:pt x="15988" y="198610"/>
                        <a:pt x="15811" y="198774"/>
                      </a:cubicBezTo>
                      <a:cubicBezTo>
                        <a:pt x="0" y="214585"/>
                        <a:pt x="0" y="240219"/>
                        <a:pt x="15811" y="256030"/>
                      </a:cubicBezTo>
                      <a:cubicBezTo>
                        <a:pt x="31621" y="271840"/>
                        <a:pt x="57256" y="271840"/>
                        <a:pt x="73066" y="256030"/>
                      </a:cubicBezTo>
                      <a:cubicBezTo>
                        <a:pt x="73231" y="255865"/>
                        <a:pt x="73408" y="255676"/>
                        <a:pt x="73560" y="255498"/>
                      </a:cubicBezTo>
                      <a:lnTo>
                        <a:pt x="139405" y="179305"/>
                      </a:lnTo>
                      <a:cubicBezTo>
                        <a:pt x="167584" y="191675"/>
                        <a:pt x="200104" y="188979"/>
                        <a:pt x="225861" y="172137"/>
                      </a:cubicBezTo>
                      <a:cubicBezTo>
                        <a:pt x="251618" y="155296"/>
                        <a:pt x="267129" y="126587"/>
                        <a:pt x="267098" y="95813"/>
                      </a:cubicBezTo>
                      <a:cubicBezTo>
                        <a:pt x="267118" y="84106"/>
                        <a:pt x="264867" y="72506"/>
                        <a:pt x="260469" y="61656"/>
                      </a:cubicBezTo>
                      <a:close/>
                      <a:moveTo>
                        <a:pt x="176015" y="166655"/>
                      </a:moveTo>
                      <a:cubicBezTo>
                        <a:pt x="164036" y="166638"/>
                        <a:pt x="152256" y="163592"/>
                        <a:pt x="141771" y="157799"/>
                      </a:cubicBezTo>
                      <a:cubicBezTo>
                        <a:pt x="137584" y="155487"/>
                        <a:pt x="132350" y="156420"/>
                        <a:pt x="129221" y="160039"/>
                      </a:cubicBezTo>
                      <a:lnTo>
                        <a:pt x="58506" y="241937"/>
                      </a:lnTo>
                      <a:cubicBezTo>
                        <a:pt x="50548" y="249498"/>
                        <a:pt x="38014" y="249337"/>
                        <a:pt x="30252" y="241575"/>
                      </a:cubicBezTo>
                      <a:cubicBezTo>
                        <a:pt x="22491" y="233814"/>
                        <a:pt x="22330" y="221280"/>
                        <a:pt x="29891" y="213322"/>
                      </a:cubicBezTo>
                      <a:lnTo>
                        <a:pt x="111726" y="142619"/>
                      </a:lnTo>
                      <a:cubicBezTo>
                        <a:pt x="115351" y="139489"/>
                        <a:pt x="116285" y="134247"/>
                        <a:pt x="113965" y="130057"/>
                      </a:cubicBezTo>
                      <a:cubicBezTo>
                        <a:pt x="100800" y="106246"/>
                        <a:pt x="102435" y="76999"/>
                        <a:pt x="118172" y="54804"/>
                      </a:cubicBezTo>
                      <a:cubicBezTo>
                        <a:pt x="133909" y="32609"/>
                        <a:pt x="160967" y="21388"/>
                        <a:pt x="187793" y="25932"/>
                      </a:cubicBezTo>
                      <a:lnTo>
                        <a:pt x="148324" y="68703"/>
                      </a:lnTo>
                      <a:cubicBezTo>
                        <a:pt x="146095" y="71120"/>
                        <a:pt x="145180" y="74470"/>
                        <a:pt x="145869" y="77685"/>
                      </a:cubicBezTo>
                      <a:lnTo>
                        <a:pt x="153030" y="110993"/>
                      </a:lnTo>
                      <a:cubicBezTo>
                        <a:pt x="153866" y="114884"/>
                        <a:pt x="156906" y="117924"/>
                        <a:pt x="160797" y="118760"/>
                      </a:cubicBezTo>
                      <a:lnTo>
                        <a:pt x="194131" y="125920"/>
                      </a:lnTo>
                      <a:cubicBezTo>
                        <a:pt x="197345" y="126610"/>
                        <a:pt x="200695" y="125695"/>
                        <a:pt x="203112" y="123466"/>
                      </a:cubicBezTo>
                      <a:lnTo>
                        <a:pt x="245883" y="83997"/>
                      </a:lnTo>
                      <a:cubicBezTo>
                        <a:pt x="249335" y="104558"/>
                        <a:pt x="243564" y="125595"/>
                        <a:pt x="230105" y="141518"/>
                      </a:cubicBezTo>
                      <a:cubicBezTo>
                        <a:pt x="216647" y="157440"/>
                        <a:pt x="196864" y="166634"/>
                        <a:pt x="176015" y="166655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7089458" y="3291364"/>
                <a:ext cx="321900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全局 `select_index_dtype = tl.int32`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092315" y="3601402"/>
                <a:ext cx="30160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策略本身可能合理，但不应 patch 上游全局类。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400800" y="4152900"/>
              <a:ext cx="5257800" cy="838200"/>
              <a:chOff x="6400800" y="4152900"/>
              <a:chExt cx="5257800" cy="8382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400800" y="4152900"/>
                <a:ext cx="52578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6674841" y="4426181"/>
                <a:ext cx="267129" cy="271840"/>
                <a:chOff x="6674841" y="4426181"/>
                <a:chExt cx="267129" cy="27184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685909" y="4434068"/>
                  <a:ext cx="245924" cy="252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924" h="252872">
                      <a:moveTo>
                        <a:pt x="245909" y="87925"/>
                      </a:moveTo>
                      <a:cubicBezTo>
                        <a:pt x="245899" y="116570"/>
                        <a:pt x="230753" y="143077"/>
                        <a:pt x="206080" y="157630"/>
                      </a:cubicBezTo>
                      <a:cubicBezTo>
                        <a:pt x="181408" y="172183"/>
                        <a:pt x="150882" y="172616"/>
                        <a:pt x="125807" y="158768"/>
                      </a:cubicBezTo>
                      <a:lnTo>
                        <a:pt x="54889" y="240995"/>
                      </a:lnTo>
                      <a:cubicBezTo>
                        <a:pt x="43011" y="252872"/>
                        <a:pt x="23755" y="252872"/>
                        <a:pt x="11877" y="240995"/>
                      </a:cubicBezTo>
                      <a:cubicBezTo>
                        <a:pt x="0" y="229118"/>
                        <a:pt x="0" y="209861"/>
                        <a:pt x="11877" y="197984"/>
                      </a:cubicBezTo>
                      <a:lnTo>
                        <a:pt x="94105" y="127066"/>
                      </a:lnTo>
                      <a:cubicBezTo>
                        <a:pt x="77526" y="97063"/>
                        <a:pt x="81638" y="59872"/>
                        <a:pt x="104370" y="34216"/>
                      </a:cubicBezTo>
                      <a:cubicBezTo>
                        <a:pt x="127102" y="8560"/>
                        <a:pt x="163528" y="0"/>
                        <a:pt x="195308" y="12845"/>
                      </a:cubicBezTo>
                      <a:lnTo>
                        <a:pt x="144706" y="67685"/>
                      </a:lnTo>
                      <a:lnTo>
                        <a:pt x="151866" y="101006"/>
                      </a:lnTo>
                      <a:lnTo>
                        <a:pt x="185188" y="108166"/>
                      </a:lnTo>
                      <a:lnTo>
                        <a:pt x="240027" y="57564"/>
                      </a:lnTo>
                      <a:cubicBezTo>
                        <a:pt x="243927" y="67211"/>
                        <a:pt x="245924" y="77521"/>
                        <a:pt x="245909" y="87925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674841" y="4426181"/>
                  <a:ext cx="267129" cy="271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29" h="271840">
                      <a:moveTo>
                        <a:pt x="260469" y="61656"/>
                      </a:moveTo>
                      <a:cubicBezTo>
                        <a:pt x="259223" y="58577"/>
                        <a:pt x="256545" y="56304"/>
                        <a:pt x="253303" y="55577"/>
                      </a:cubicBezTo>
                      <a:cubicBezTo>
                        <a:pt x="250061" y="54850"/>
                        <a:pt x="246668" y="55761"/>
                        <a:pt x="244226" y="58013"/>
                      </a:cubicBezTo>
                      <a:lnTo>
                        <a:pt x="193245" y="105060"/>
                      </a:lnTo>
                      <a:lnTo>
                        <a:pt x="171448" y="100379"/>
                      </a:lnTo>
                      <a:lnTo>
                        <a:pt x="166768" y="78583"/>
                      </a:lnTo>
                      <a:lnTo>
                        <a:pt x="213815" y="27602"/>
                      </a:lnTo>
                      <a:cubicBezTo>
                        <a:pt x="216067" y="25159"/>
                        <a:pt x="216978" y="21767"/>
                        <a:pt x="216251" y="18525"/>
                      </a:cubicBezTo>
                      <a:cubicBezTo>
                        <a:pt x="215523" y="15283"/>
                        <a:pt x="213251" y="12605"/>
                        <a:pt x="210171" y="11359"/>
                      </a:cubicBezTo>
                      <a:cubicBezTo>
                        <a:pt x="182092" y="0"/>
                        <a:pt x="150204" y="3343"/>
                        <a:pt x="125091" y="20278"/>
                      </a:cubicBezTo>
                      <a:cubicBezTo>
                        <a:pt x="99978" y="37212"/>
                        <a:pt x="84926" y="65523"/>
                        <a:pt x="84932" y="95813"/>
                      </a:cubicBezTo>
                      <a:cubicBezTo>
                        <a:pt x="84916" y="108408"/>
                        <a:pt x="87500" y="120872"/>
                        <a:pt x="92523" y="132423"/>
                      </a:cubicBezTo>
                      <a:lnTo>
                        <a:pt x="16355" y="198281"/>
                      </a:lnTo>
                      <a:cubicBezTo>
                        <a:pt x="16165" y="198432"/>
                        <a:pt x="15988" y="198610"/>
                        <a:pt x="15811" y="198774"/>
                      </a:cubicBezTo>
                      <a:cubicBezTo>
                        <a:pt x="0" y="214585"/>
                        <a:pt x="0" y="240219"/>
                        <a:pt x="15811" y="256030"/>
                      </a:cubicBezTo>
                      <a:cubicBezTo>
                        <a:pt x="31621" y="271840"/>
                        <a:pt x="57256" y="271840"/>
                        <a:pt x="73066" y="256030"/>
                      </a:cubicBezTo>
                      <a:cubicBezTo>
                        <a:pt x="73231" y="255865"/>
                        <a:pt x="73408" y="255676"/>
                        <a:pt x="73560" y="255498"/>
                      </a:cubicBezTo>
                      <a:lnTo>
                        <a:pt x="139405" y="179305"/>
                      </a:lnTo>
                      <a:cubicBezTo>
                        <a:pt x="167584" y="191675"/>
                        <a:pt x="200104" y="188979"/>
                        <a:pt x="225861" y="172137"/>
                      </a:cubicBezTo>
                      <a:cubicBezTo>
                        <a:pt x="251618" y="155296"/>
                        <a:pt x="267129" y="126587"/>
                        <a:pt x="267098" y="95813"/>
                      </a:cubicBezTo>
                      <a:cubicBezTo>
                        <a:pt x="267118" y="84106"/>
                        <a:pt x="264867" y="72506"/>
                        <a:pt x="260469" y="61656"/>
                      </a:cubicBezTo>
                      <a:close/>
                      <a:moveTo>
                        <a:pt x="176015" y="166655"/>
                      </a:moveTo>
                      <a:cubicBezTo>
                        <a:pt x="164036" y="166638"/>
                        <a:pt x="152256" y="163592"/>
                        <a:pt x="141771" y="157799"/>
                      </a:cubicBezTo>
                      <a:cubicBezTo>
                        <a:pt x="137584" y="155487"/>
                        <a:pt x="132350" y="156420"/>
                        <a:pt x="129221" y="160039"/>
                      </a:cubicBezTo>
                      <a:lnTo>
                        <a:pt x="58506" y="241937"/>
                      </a:lnTo>
                      <a:cubicBezTo>
                        <a:pt x="50548" y="249498"/>
                        <a:pt x="38014" y="249337"/>
                        <a:pt x="30252" y="241575"/>
                      </a:cubicBezTo>
                      <a:cubicBezTo>
                        <a:pt x="22491" y="233814"/>
                        <a:pt x="22330" y="221280"/>
                        <a:pt x="29891" y="213322"/>
                      </a:cubicBezTo>
                      <a:lnTo>
                        <a:pt x="111726" y="142619"/>
                      </a:lnTo>
                      <a:cubicBezTo>
                        <a:pt x="115351" y="139489"/>
                        <a:pt x="116285" y="134247"/>
                        <a:pt x="113965" y="130057"/>
                      </a:cubicBezTo>
                      <a:cubicBezTo>
                        <a:pt x="100800" y="106246"/>
                        <a:pt x="102435" y="76999"/>
                        <a:pt x="118172" y="54804"/>
                      </a:cubicBezTo>
                      <a:cubicBezTo>
                        <a:pt x="133909" y="32609"/>
                        <a:pt x="160967" y="21388"/>
                        <a:pt x="187793" y="25932"/>
                      </a:cubicBezTo>
                      <a:lnTo>
                        <a:pt x="148324" y="68703"/>
                      </a:lnTo>
                      <a:cubicBezTo>
                        <a:pt x="146095" y="71120"/>
                        <a:pt x="145180" y="74470"/>
                        <a:pt x="145869" y="77685"/>
                      </a:cubicBezTo>
                      <a:lnTo>
                        <a:pt x="153030" y="110993"/>
                      </a:lnTo>
                      <a:cubicBezTo>
                        <a:pt x="153866" y="114884"/>
                        <a:pt x="156906" y="117924"/>
                        <a:pt x="160797" y="118760"/>
                      </a:cubicBezTo>
                      <a:lnTo>
                        <a:pt x="194131" y="125920"/>
                      </a:lnTo>
                      <a:cubicBezTo>
                        <a:pt x="197345" y="126610"/>
                        <a:pt x="200695" y="125695"/>
                        <a:pt x="203112" y="123466"/>
                      </a:cubicBezTo>
                      <a:lnTo>
                        <a:pt x="245883" y="83997"/>
                      </a:lnTo>
                      <a:cubicBezTo>
                        <a:pt x="249335" y="104558"/>
                        <a:pt x="243564" y="125595"/>
                        <a:pt x="230105" y="141518"/>
                      </a:cubicBezTo>
                      <a:cubicBezTo>
                        <a:pt x="216647" y="157440"/>
                        <a:pt x="196864" y="166634"/>
                        <a:pt x="176015" y="166655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7089458" y="4320064"/>
                <a:ext cx="28530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import-time 替换 autotuner 方法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92315" y="4630102"/>
                <a:ext cx="41431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`precompile` 串并行分流应收回 NPUCachingAutotuner 类内部。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867400" y="2114550"/>
              <a:ext cx="457200" cy="2876550"/>
              <a:chOff x="5867400" y="2114550"/>
              <a:chExt cx="457200" cy="2876550"/>
            </a:xfrm>
          </p:grpSpPr>
          <p:sp>
            <p:nvSpPr>
              <p:cNvPr id="54" name="Line 54"/>
              <p:cNvSpPr/>
              <p:nvPr/>
            </p:nvSpPr>
            <p:spPr>
              <a:xfrm>
                <a:off x="6096000" y="2114550"/>
                <a:ext cx="9525" cy="2876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76550">
                    <a:moveTo>
                      <a:pt x="0" y="0"/>
                    </a:moveTo>
                    <a:lnTo>
                      <a:pt x="0" y="2876550"/>
                    </a:lnTo>
                  </a:path>
                </a:pathLst>
              </a:custGeom>
              <a:noFill/>
              <a:ln w="19050">
                <a:solidFill>
                  <a:srgbClr val="D6DEE8"/>
                </a:solidFill>
                <a:custDash>
                  <a:ds d="350000" sp="300000"/>
                </a:custDash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5867400" y="333375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5947100" y="35237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取舍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781050" y="5810250"/>
            <a:ext cx="10629900" cy="419100"/>
            <a:chOff x="781050" y="5810250"/>
            <a:chExt cx="10629900" cy="419100"/>
          </a:xfrm>
        </p:grpSpPr>
        <p:sp>
          <p:nvSpPr>
            <p:cNvPr id="59" name="Rectangle 59"/>
            <p:cNvSpPr/>
            <p:nvPr/>
          </p:nvSpPr>
          <p:spPr>
            <a:xfrm>
              <a:off x="781050" y="5810250"/>
              <a:ext cx="10629900" cy="419100"/>
            </a:xfrm>
            <a:prstGeom prst="roundRect">
              <a:avLst>
                <a:gd name="adj" fmla="val 18182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3460" y="5947410"/>
              <a:ext cx="74990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建议路线：先收缩明显不必要的 whole-method copy，再把 import-time 策略 patch 收回类内部。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3875" y="6434138"/>
            <a:ext cx="11144250" cy="152400"/>
            <a:chOff x="523875" y="6434138"/>
            <a:chExt cx="11144250" cy="152400"/>
          </a:xfrm>
        </p:grpSpPr>
        <p:sp>
          <p:nvSpPr>
            <p:cNvPr id="62" name="TextBox 62"/>
            <p:cNvSpPr txBox="1"/>
            <p:nvPr/>
          </p:nvSpPr>
          <p:spPr>
            <a:xfrm>
              <a:off x="523875" y="6434138"/>
              <a:ext cx="30094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Sections 6.1-6.8 engineering implementation analysis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64064" y="6434138"/>
              <a:ext cx="1040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9167698" cy="663892"/>
            <a:chOff x="502920" y="331470"/>
            <a:chExt cx="9167698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91676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五个风险点应按 correctness 与升级 blast radius 排序处理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43532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优先处理“编译能过但结果可能错”且横跨 codegen/runtime 的问题。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221876" y="1219200"/>
            <a:ext cx="10527926" cy="5117306"/>
            <a:chOff x="-221876" y="1219200"/>
            <a:chExt cx="10527926" cy="5117306"/>
          </a:xfrm>
        </p:grpSpPr>
        <p:sp>
          <p:nvSpPr>
            <p:cNvPr id="8" name="Rectangle 8"/>
            <p:cNvSpPr/>
            <p:nvPr/>
          </p:nvSpPr>
          <p:spPr>
            <a:xfrm>
              <a:off x="914400" y="1390650"/>
              <a:ext cx="4591050" cy="2286000"/>
            </a:xfrm>
            <a:prstGeom prst="rect">
              <a:avLst/>
            </a:prstGeom>
            <a:solidFill>
              <a:srgbClr val="FFF6E5"/>
            </a:solidFill>
            <a:ln w="38100">
              <a:solidFill>
                <a:srgbClr val="FFFF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505450" y="1390650"/>
              <a:ext cx="4591050" cy="2286000"/>
            </a:xfrm>
            <a:prstGeom prst="rect">
              <a:avLst/>
            </a:prstGeom>
            <a:solidFill>
              <a:srgbClr val="FFF6E5"/>
            </a:solidFill>
            <a:ln w="38100">
              <a:solidFill>
                <a:srgbClr val="FFFF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3676650"/>
              <a:ext cx="4591050" cy="2286000"/>
            </a:xfrm>
            <a:prstGeom prst="rect">
              <a:avLst/>
            </a:prstGeom>
            <a:solidFill>
              <a:srgbClr val="E7F5F2"/>
            </a:solidFill>
            <a:ln w="38100">
              <a:solidFill>
                <a:srgbClr val="FFFF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05450" y="3676650"/>
              <a:ext cx="4591050" cy="2286000"/>
            </a:xfrm>
            <a:prstGeom prst="rect">
              <a:avLst/>
            </a:prstGeom>
            <a:solidFill>
              <a:srgbClr val="E7EFF8"/>
            </a:solidFill>
            <a:ln w="38100">
              <a:solidFill>
                <a:srgbClr val="FFFFF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4400" y="3676650"/>
              <a:ext cx="9391650" cy="1"/>
            </a:xfrm>
            <a:prstGeom prst="line">
              <a:avLst/>
            </a:prstGeom>
            <a:noFill/>
            <a:ln w="28575">
              <a:solidFill>
                <a:srgbClr val="1F2937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 flipV="1">
              <a:off x="5505450" y="1219200"/>
              <a:ext cx="1" cy="4743450"/>
            </a:xfrm>
            <a:prstGeom prst="line">
              <a:avLst/>
            </a:prstGeom>
            <a:noFill/>
            <a:ln w="28575">
              <a:solidFill>
                <a:srgbClr val="1F2937"/>
              </a:solidFill>
              <a:tailEnd type="triangle" w="lg" len="lg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963570" y="61079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升级 blast radius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41959" y="6124099"/>
              <a:ext cx="154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28459" y="6124099"/>
              <a:ext cx="154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 rot="-5400000">
              <a:off x="-221876" y="3562350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correctness 风险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409" y="5724049"/>
              <a:ext cx="154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409" y="1456849"/>
              <a:ext cx="154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3950" y="1552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优先专项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5000" y="1552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必须治理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3950" y="5610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9D8F"/>
                  </a:solidFill>
                  <a:latin typeface="Segoe UI"/>
                  <a:ea typeface="Microsoft YaHei"/>
                  <a:cs typeface="Segoe UI"/>
                </a:rPr>
                <a:t>局部跟踪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15000" y="5610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结构收口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400925" y="1714500"/>
              <a:ext cx="1104900" cy="1104900"/>
              <a:chOff x="7400925" y="1714500"/>
              <a:chExt cx="1104900" cy="11049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400925" y="1714500"/>
                <a:ext cx="1104900" cy="11049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510011" y="2039302"/>
                <a:ext cx="8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unified-axis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17362" y="2248852"/>
                <a:ext cx="8720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mask / scan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01915" y="2465070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最高优先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800350" y="1981200"/>
              <a:ext cx="914400" cy="914400"/>
              <a:chOff x="2800350" y="1981200"/>
              <a:chExt cx="914400" cy="91440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2800350" y="1981200"/>
                <a:ext cx="914400" cy="914400"/>
              </a:xfrm>
              <a:prstGeom prst="ellipse">
                <a:avLst/>
              </a:prstGeom>
              <a:solidFill>
                <a:srgbClr val="E9A23B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972133" y="22664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间接访存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48243" y="2466499"/>
                <a:ext cx="6186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template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44298" y="2771775"/>
              <a:ext cx="932603" cy="838200"/>
              <a:chOff x="8144298" y="2771775"/>
              <a:chExt cx="932603" cy="8382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8191500" y="2771775"/>
                <a:ext cx="838200" cy="8382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144298" y="3028474"/>
                <a:ext cx="9326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TileGenerator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59140" y="32365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资源过滤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38950" y="4057650"/>
              <a:ext cx="800100" cy="800100"/>
              <a:chOff x="6838950" y="4057650"/>
              <a:chExt cx="800100" cy="80010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838950" y="4057650"/>
                <a:ext cx="800100" cy="8001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63822" y="4295299"/>
                <a:ext cx="5503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grouped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61524" y="4503420"/>
                <a:ext cx="7549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runtime 协议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3867150" y="4286250"/>
              <a:ext cx="723900" cy="723900"/>
              <a:chOff x="3867150" y="4286250"/>
              <a:chExt cx="723900" cy="723900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3867150" y="4286250"/>
                <a:ext cx="723900" cy="7239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025496" y="4493895"/>
                <a:ext cx="4072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fusion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977640" y="4674870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语义漂移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10420350" y="1657350"/>
            <a:ext cx="1352622" cy="3752850"/>
            <a:chOff x="10420350" y="1657350"/>
            <a:chExt cx="1352622" cy="3752850"/>
          </a:xfrm>
        </p:grpSpPr>
        <p:sp>
          <p:nvSpPr>
            <p:cNvPr id="46" name="Rectangle 46"/>
            <p:cNvSpPr/>
            <p:nvPr/>
          </p:nvSpPr>
          <p:spPr>
            <a:xfrm>
              <a:off x="10420350" y="1657350"/>
              <a:ext cx="1238250" cy="37528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10903744" y="1999655"/>
              <a:ext cx="271462" cy="283140"/>
              <a:chOff x="10903744" y="1999655"/>
              <a:chExt cx="271462" cy="28314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10915055" y="2010966"/>
                <a:ext cx="248841" cy="260321"/>
              </a:xfrm>
              <a:custGeom>
                <a:avLst/>
                <a:gdLst/>
                <a:ahLst/>
                <a:cxnLst/>
                <a:rect l="l" t="t" r="r" b="b"/>
                <a:pathLst>
                  <a:path w="248841" h="260321">
                    <a:moveTo>
                      <a:pt x="248841" y="11311"/>
                    </a:moveTo>
                    <a:lnTo>
                      <a:pt x="248841" y="94404"/>
                    </a:lnTo>
                    <a:cubicBezTo>
                      <a:pt x="248841" y="213423"/>
                      <a:pt x="148018" y="252856"/>
                      <a:pt x="127898" y="259544"/>
                    </a:cubicBezTo>
                    <a:cubicBezTo>
                      <a:pt x="125645" y="260321"/>
                      <a:pt x="123196" y="260321"/>
                      <a:pt x="120942" y="259544"/>
                    </a:cubicBezTo>
                    <a:cubicBezTo>
                      <a:pt x="100823" y="252884"/>
                      <a:pt x="0" y="213494"/>
                      <a:pt x="0" y="94432"/>
                    </a:cubicBezTo>
                    <a:lnTo>
                      <a:pt x="0" y="11311"/>
                    </a:lnTo>
                    <a:cubicBezTo>
                      <a:pt x="0" y="5064"/>
                      <a:pt x="5064" y="0"/>
                      <a:pt x="11311" y="0"/>
                    </a:cubicBezTo>
                    <a:lnTo>
                      <a:pt x="237530" y="0"/>
                    </a:lnTo>
                    <a:cubicBezTo>
                      <a:pt x="243777" y="0"/>
                      <a:pt x="248841" y="5064"/>
                      <a:pt x="248841" y="11311"/>
                    </a:cubicBezTo>
                    <a:close/>
                  </a:path>
                </a:pathLst>
              </a:custGeom>
              <a:solidFill>
                <a:srgbClr val="C2410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903744" y="1999655"/>
                <a:ext cx="271462" cy="283140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83140">
                    <a:moveTo>
                      <a:pt x="248841" y="0"/>
                    </a:moveTo>
                    <a:lnTo>
                      <a:pt x="22622" y="0"/>
                    </a:lnTo>
                    <a:cubicBezTo>
                      <a:pt x="10128" y="0"/>
                      <a:pt x="0" y="10128"/>
                      <a:pt x="0" y="22622"/>
                    </a:cubicBezTo>
                    <a:lnTo>
                      <a:pt x="0" y="105715"/>
                    </a:lnTo>
                    <a:cubicBezTo>
                      <a:pt x="0" y="232426"/>
                      <a:pt x="107199" y="274446"/>
                      <a:pt x="128662" y="281572"/>
                    </a:cubicBezTo>
                    <a:cubicBezTo>
                      <a:pt x="133244" y="283140"/>
                      <a:pt x="138218" y="283140"/>
                      <a:pt x="142801" y="281572"/>
                    </a:cubicBezTo>
                    <a:cubicBezTo>
                      <a:pt x="164291" y="274432"/>
                      <a:pt x="271462" y="232411"/>
                      <a:pt x="271462" y="105701"/>
                    </a:cubicBezTo>
                    <a:lnTo>
                      <a:pt x="271462" y="22622"/>
                    </a:lnTo>
                    <a:cubicBezTo>
                      <a:pt x="271462" y="10128"/>
                      <a:pt x="261334" y="0"/>
                      <a:pt x="248841" y="0"/>
                    </a:cubicBezTo>
                    <a:close/>
                    <a:moveTo>
                      <a:pt x="248841" y="105743"/>
                    </a:moveTo>
                    <a:cubicBezTo>
                      <a:pt x="248841" y="216619"/>
                      <a:pt x="155045" y="253662"/>
                      <a:pt x="135731" y="260109"/>
                    </a:cubicBezTo>
                    <a:cubicBezTo>
                      <a:pt x="116602" y="253747"/>
                      <a:pt x="22622" y="216732"/>
                      <a:pt x="22622" y="105743"/>
                    </a:cubicBezTo>
                    <a:lnTo>
                      <a:pt x="22622" y="22622"/>
                    </a:lnTo>
                    <a:lnTo>
                      <a:pt x="248841" y="22622"/>
                    </a:lnTo>
                    <a:close/>
                    <a:moveTo>
                      <a:pt x="124420" y="135731"/>
                    </a:moveTo>
                    <a:lnTo>
                      <a:pt x="124420" y="79177"/>
                    </a:lnTo>
                    <a:cubicBezTo>
                      <a:pt x="124420" y="72930"/>
                      <a:pt x="129484" y="67866"/>
                      <a:pt x="135731" y="67866"/>
                    </a:cubicBezTo>
                    <a:cubicBezTo>
                      <a:pt x="141978" y="67866"/>
                      <a:pt x="147042" y="72930"/>
                      <a:pt x="147042" y="79177"/>
                    </a:cubicBezTo>
                    <a:lnTo>
                      <a:pt x="147042" y="135731"/>
                    </a:lnTo>
                    <a:cubicBezTo>
                      <a:pt x="147042" y="141978"/>
                      <a:pt x="141978" y="147042"/>
                      <a:pt x="135731" y="147042"/>
                    </a:cubicBezTo>
                    <a:cubicBezTo>
                      <a:pt x="129484" y="147042"/>
                      <a:pt x="124420" y="141978"/>
                      <a:pt x="124420" y="135731"/>
                    </a:cubicBezTo>
                    <a:close/>
                    <a:moveTo>
                      <a:pt x="118765" y="186630"/>
                    </a:moveTo>
                    <a:cubicBezTo>
                      <a:pt x="118765" y="177260"/>
                      <a:pt x="126361" y="169664"/>
                      <a:pt x="135731" y="169664"/>
                    </a:cubicBezTo>
                    <a:cubicBezTo>
                      <a:pt x="145102" y="169664"/>
                      <a:pt x="152698" y="177260"/>
                      <a:pt x="152698" y="186630"/>
                    </a:cubicBezTo>
                    <a:cubicBezTo>
                      <a:pt x="152698" y="196001"/>
                      <a:pt x="145102" y="203597"/>
                      <a:pt x="135731" y="203597"/>
                    </a:cubicBezTo>
                    <a:cubicBezTo>
                      <a:pt x="126361" y="203597"/>
                      <a:pt x="118765" y="196001"/>
                      <a:pt x="118765" y="186630"/>
                    </a:cubicBezTo>
                    <a:close/>
                  </a:path>
                </a:pathLst>
              </a:custGeom>
              <a:solidFill>
                <a:srgbClr val="C2410C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710148" y="2431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排序原则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36568" y="2847499"/>
              <a:ext cx="11299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1. 先 correctness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36568" y="311419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2. 再 blast radius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36568" y="3380899"/>
              <a:ext cx="986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3. 最后性能收益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36568" y="3647599"/>
              <a:ext cx="856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4. 类型化协议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36568" y="3914299"/>
              <a:ext cx="856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5. 配套回归集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3875" y="6491288"/>
            <a:ext cx="11144250" cy="152400"/>
            <a:chOff x="523875" y="6491288"/>
            <a:chExt cx="11144250" cy="152400"/>
          </a:xfrm>
        </p:grpSpPr>
        <p:sp>
          <p:nvSpPr>
            <p:cNvPr id="57" name="TextBox 57"/>
            <p:cNvSpPr txBox="1"/>
            <p:nvPr/>
          </p:nvSpPr>
          <p:spPr>
            <a:xfrm>
              <a:off x="523875" y="6491288"/>
              <a:ext cx="199929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Source: Section 7 prioritized risk points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64064" y="6491288"/>
              <a:ext cx="1040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2920" y="331470"/>
            <a:ext cx="6445758" cy="663892"/>
            <a:chOff x="502920" y="331470"/>
            <a:chExt cx="6445758" cy="663892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331470"/>
              <a:ext cx="64457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升级友好改造应先收口边界，再做架构抽象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82002"/>
              <a:ext cx="54733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目标不是推倒重写，而是让每个 Ascend 私有差异都有明确的所有权、边界和验证方式。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9156" y="1257300"/>
            <a:ext cx="6923694" cy="4381500"/>
            <a:chOff x="639156" y="1257300"/>
            <a:chExt cx="6923694" cy="4381500"/>
          </a:xfrm>
        </p:grpSpPr>
        <p:sp>
          <p:nvSpPr>
            <p:cNvPr id="8" name="Line 8"/>
            <p:cNvSpPr/>
            <p:nvPr/>
          </p:nvSpPr>
          <p:spPr>
            <a:xfrm>
              <a:off x="1524000" y="140970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38100" cap="rnd">
              <a:solidFill>
                <a:srgbClr val="D6DEE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1409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2A9D8F"/>
                  </a:gs>
                  <a:gs pos="100000">
                    <a:srgbClr val="1F4E79"/>
                  </a:gs>
                </a:gsLst>
                <a:lin ang="5400000" scaled="1"/>
              </a:gra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73285" y="1257300"/>
              <a:ext cx="6889565" cy="685800"/>
              <a:chOff x="673285" y="1257300"/>
              <a:chExt cx="6889565" cy="6858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362075" y="1400175"/>
                <a:ext cx="323850" cy="323850"/>
              </a:xfrm>
              <a:prstGeom prst="ellipse">
                <a:avLst/>
              </a:prstGeom>
              <a:solidFill>
                <a:srgbClr val="2A9D8F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73285" y="1513999"/>
                <a:ext cx="4820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Phase 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943100" y="1257300"/>
                <a:ext cx="561975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155508" y="1367314"/>
                <a:ext cx="20943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收缩 whole-method fork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158365" y="1629728"/>
                <a:ext cx="38911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把 can_fuse 的 NPU 差异提炼成 helper，降低上游同步成本。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6343650" y="1409700"/>
                <a:ext cx="9144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7F5F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559344" y="1473041"/>
                <a:ext cx="4830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优先启动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9156" y="2381250"/>
              <a:ext cx="6923694" cy="685800"/>
              <a:chOff x="639156" y="2381250"/>
              <a:chExt cx="6923694" cy="6858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1362075" y="2524125"/>
                <a:ext cx="323850" cy="323850"/>
              </a:xfrm>
              <a:prstGeom prst="ellipse">
                <a:avLst/>
              </a:prstGeom>
              <a:solidFill>
                <a:srgbClr val="2A9D8F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9156" y="2637949"/>
                <a:ext cx="5162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Phase 2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943100" y="2381250"/>
                <a:ext cx="561975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155508" y="2491264"/>
                <a:ext cx="29958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import-time 策略 patch 收回类内部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158365" y="2753678"/>
                <a:ext cx="49062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例如 precompile 串并行分流、index dtype 策略，改为 NPU class override。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343650" y="2533650"/>
                <a:ext cx="9144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7F5F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559344" y="2596991"/>
                <a:ext cx="4830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A9D8F"/>
                    </a:solidFill>
                    <a:latin typeface="Segoe UI"/>
                    <a:ea typeface="Microsoft YaHei"/>
                    <a:cs typeface="Segoe UI"/>
                  </a:rPr>
                  <a:t>中期收口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39156" y="3505200"/>
              <a:ext cx="6923694" cy="685800"/>
              <a:chOff x="639156" y="3505200"/>
              <a:chExt cx="6923694" cy="6858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1362075" y="3648075"/>
                <a:ext cx="323850" cy="323850"/>
              </a:xfrm>
              <a:prstGeom prst="ellipse">
                <a:avLst/>
              </a:prstGeom>
              <a:solidFill>
                <a:srgbClr val="1F4E79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39156" y="3761899"/>
                <a:ext cx="5162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Phase 3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943100" y="3505200"/>
                <a:ext cx="561975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155508" y="3615214"/>
                <a:ext cx="40848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将 axis metadata / inductor_meta 类型化并校验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158365" y="3877628"/>
                <a:ext cx="42201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至少在 codegen 到 runtime 边界做 schema 校验，避免字段漂移。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343650" y="3657600"/>
                <a:ext cx="9144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559344" y="3720941"/>
                <a:ext cx="4830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协议治理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39156" y="4629150"/>
              <a:ext cx="6923694" cy="685800"/>
              <a:chOff x="639156" y="4629150"/>
              <a:chExt cx="6923694" cy="6858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1362075" y="4772025"/>
                <a:ext cx="323850" cy="32385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F4E79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39156" y="4885849"/>
                <a:ext cx="5162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Phase 4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943100" y="4629150"/>
                <a:ext cx="561975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155508" y="4739164"/>
                <a:ext cx="485248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拆分 axis planning、kernel emission、autotune contract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158365" y="5001578"/>
                <a:ext cx="42201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把 NPUIndexTritonKernel 从“万能类”拆成可独立测试的工程边界。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343650" y="4781550"/>
                <a:ext cx="9144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7EFF8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559344" y="4844891"/>
                <a:ext cx="4830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架构抽象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096250" y="1257300"/>
            <a:ext cx="3749261" cy="4057650"/>
            <a:chOff x="8096250" y="1257300"/>
            <a:chExt cx="3749261" cy="4057650"/>
          </a:xfrm>
        </p:grpSpPr>
        <p:sp>
          <p:nvSpPr>
            <p:cNvPr id="43" name="Rectangle 43"/>
            <p:cNvSpPr/>
            <p:nvPr/>
          </p:nvSpPr>
          <p:spPr>
            <a:xfrm>
              <a:off x="8096250" y="1257300"/>
              <a:ext cx="3562350" cy="4057650"/>
            </a:xfrm>
            <a:prstGeom prst="roundRect">
              <a:avLst>
                <a:gd name="adj" fmla="val 4278"/>
              </a:avLst>
            </a:prstGeom>
            <a:solidFill>
              <a:srgbClr val="153A5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523245" y="1758558"/>
              <a:ext cx="405266" cy="403027"/>
              <a:chOff x="8523245" y="1758558"/>
              <a:chExt cx="405266" cy="40302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540470" y="1840111"/>
                <a:ext cx="306469" cy="306469"/>
              </a:xfrm>
              <a:custGeom>
                <a:avLst/>
                <a:gdLst/>
                <a:ahLst/>
                <a:cxnLst/>
                <a:rect l="l" t="t" r="r" b="b"/>
                <a:pathLst>
                  <a:path w="306469" h="306469">
                    <a:moveTo>
                      <a:pt x="81440" y="176808"/>
                    </a:moveTo>
                    <a:lnTo>
                      <a:pt x="129661" y="225028"/>
                    </a:lnTo>
                    <a:cubicBezTo>
                      <a:pt x="129661" y="225028"/>
                      <a:pt x="113587" y="289322"/>
                      <a:pt x="17147" y="289322"/>
                    </a:cubicBezTo>
                    <a:cubicBezTo>
                      <a:pt x="17147" y="192881"/>
                      <a:pt x="81440" y="176808"/>
                      <a:pt x="81440" y="176808"/>
                    </a:cubicBezTo>
                    <a:close/>
                    <a:moveTo>
                      <a:pt x="210028" y="0"/>
                    </a:moveTo>
                    <a:lnTo>
                      <a:pt x="86162" y="0"/>
                    </a:lnTo>
                    <a:cubicBezTo>
                      <a:pt x="81905" y="2"/>
                      <a:pt x="77822" y="1693"/>
                      <a:pt x="74810" y="4701"/>
                    </a:cubicBezTo>
                    <a:lnTo>
                      <a:pt x="5795" y="73717"/>
                    </a:lnTo>
                    <a:cubicBezTo>
                      <a:pt x="1497" y="78024"/>
                      <a:pt x="0" y="84388"/>
                      <a:pt x="1927" y="90160"/>
                    </a:cubicBezTo>
                    <a:cubicBezTo>
                      <a:pt x="3853" y="95931"/>
                      <a:pt x="8873" y="100120"/>
                      <a:pt x="14896" y="100981"/>
                    </a:cubicBezTo>
                    <a:lnTo>
                      <a:pt x="97514" y="112514"/>
                    </a:lnTo>
                    <a:close/>
                    <a:moveTo>
                      <a:pt x="193955" y="208955"/>
                    </a:moveTo>
                    <a:lnTo>
                      <a:pt x="205487" y="291572"/>
                    </a:lnTo>
                    <a:cubicBezTo>
                      <a:pt x="206349" y="297595"/>
                      <a:pt x="210538" y="302615"/>
                      <a:pt x="216309" y="304542"/>
                    </a:cubicBezTo>
                    <a:cubicBezTo>
                      <a:pt x="222080" y="306469"/>
                      <a:pt x="228445" y="304971"/>
                      <a:pt x="232752" y="300674"/>
                    </a:cubicBezTo>
                    <a:lnTo>
                      <a:pt x="301767" y="231658"/>
                    </a:lnTo>
                    <a:cubicBezTo>
                      <a:pt x="304776" y="228646"/>
                      <a:pt x="306467" y="224564"/>
                      <a:pt x="306469" y="220307"/>
                    </a:cubicBezTo>
                    <a:lnTo>
                      <a:pt x="306469" y="96441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23245" y="1758558"/>
                <a:ext cx="405266" cy="403027"/>
              </a:xfrm>
              <a:custGeom>
                <a:avLst/>
                <a:gdLst/>
                <a:ahLst/>
                <a:cxnLst/>
                <a:rect l="l" t="t" r="r" b="b"/>
                <a:pathLst>
                  <a:path w="405266" h="403027">
                    <a:moveTo>
                      <a:pt x="162497" y="310479"/>
                    </a:moveTo>
                    <a:cubicBezTo>
                      <a:pt x="161714" y="313593"/>
                      <a:pt x="142124" y="386948"/>
                      <a:pt x="34372" y="386948"/>
                    </a:cubicBezTo>
                    <a:cubicBezTo>
                      <a:pt x="25495" y="386948"/>
                      <a:pt x="18298" y="379752"/>
                      <a:pt x="18298" y="370874"/>
                    </a:cubicBezTo>
                    <a:cubicBezTo>
                      <a:pt x="18298" y="263122"/>
                      <a:pt x="91653" y="243533"/>
                      <a:pt x="94768" y="242749"/>
                    </a:cubicBezTo>
                    <a:cubicBezTo>
                      <a:pt x="103384" y="240596"/>
                      <a:pt x="112114" y="245836"/>
                      <a:pt x="114267" y="254453"/>
                    </a:cubicBezTo>
                    <a:cubicBezTo>
                      <a:pt x="116420" y="263069"/>
                      <a:pt x="111180" y="271799"/>
                      <a:pt x="102563" y="273952"/>
                    </a:cubicBezTo>
                    <a:cubicBezTo>
                      <a:pt x="100755" y="274454"/>
                      <a:pt x="57518" y="287092"/>
                      <a:pt x="51209" y="354038"/>
                    </a:cubicBezTo>
                    <a:cubicBezTo>
                      <a:pt x="118155" y="347729"/>
                      <a:pt x="130812" y="304572"/>
                      <a:pt x="131335" y="302562"/>
                    </a:cubicBezTo>
                    <a:cubicBezTo>
                      <a:pt x="133554" y="293957"/>
                      <a:pt x="142329" y="288780"/>
                      <a:pt x="150934" y="291000"/>
                    </a:cubicBezTo>
                    <a:cubicBezTo>
                      <a:pt x="159540" y="293219"/>
                      <a:pt x="164716" y="301994"/>
                      <a:pt x="162497" y="310599"/>
                    </a:cubicBezTo>
                    <a:close/>
                    <a:moveTo>
                      <a:pt x="349351" y="175060"/>
                    </a:moveTo>
                    <a:lnTo>
                      <a:pt x="339767" y="184644"/>
                    </a:lnTo>
                    <a:lnTo>
                      <a:pt x="339767" y="301839"/>
                    </a:lnTo>
                    <a:cubicBezTo>
                      <a:pt x="339815" y="310399"/>
                      <a:pt x="336428" y="318621"/>
                      <a:pt x="330364" y="324663"/>
                    </a:cubicBezTo>
                    <a:lnTo>
                      <a:pt x="261409" y="393578"/>
                    </a:lnTo>
                    <a:cubicBezTo>
                      <a:pt x="255403" y="399627"/>
                      <a:pt x="247230" y="403027"/>
                      <a:pt x="238705" y="403021"/>
                    </a:cubicBezTo>
                    <a:cubicBezTo>
                      <a:pt x="235222" y="403020"/>
                      <a:pt x="231762" y="402457"/>
                      <a:pt x="228459" y="401354"/>
                    </a:cubicBezTo>
                    <a:cubicBezTo>
                      <a:pt x="216888" y="397527"/>
                      <a:pt x="208492" y="387464"/>
                      <a:pt x="206800" y="375395"/>
                    </a:cubicBezTo>
                    <a:lnTo>
                      <a:pt x="196010" y="298062"/>
                    </a:lnTo>
                    <a:lnTo>
                      <a:pt x="107184" y="209236"/>
                    </a:lnTo>
                    <a:lnTo>
                      <a:pt x="29891" y="198447"/>
                    </a:lnTo>
                    <a:cubicBezTo>
                      <a:pt x="17808" y="196752"/>
                      <a:pt x="7725" y="188362"/>
                      <a:pt x="3862" y="176787"/>
                    </a:cubicBezTo>
                    <a:cubicBezTo>
                      <a:pt x="0" y="165213"/>
                      <a:pt x="3024" y="152449"/>
                      <a:pt x="11668" y="143837"/>
                    </a:cubicBezTo>
                    <a:lnTo>
                      <a:pt x="80583" y="74882"/>
                    </a:lnTo>
                    <a:cubicBezTo>
                      <a:pt x="86625" y="68818"/>
                      <a:pt x="94847" y="65431"/>
                      <a:pt x="103407" y="65479"/>
                    </a:cubicBezTo>
                    <a:lnTo>
                      <a:pt x="220603" y="65479"/>
                    </a:lnTo>
                    <a:lnTo>
                      <a:pt x="230186" y="55895"/>
                    </a:lnTo>
                    <a:cubicBezTo>
                      <a:pt x="283791" y="2311"/>
                      <a:pt x="348386" y="0"/>
                      <a:pt x="373662" y="1507"/>
                    </a:cubicBezTo>
                    <a:cubicBezTo>
                      <a:pt x="389881" y="2493"/>
                      <a:pt x="402814" y="15426"/>
                      <a:pt x="403800" y="31645"/>
                    </a:cubicBezTo>
                    <a:cubicBezTo>
                      <a:pt x="405266" y="56860"/>
                      <a:pt x="402956" y="121455"/>
                      <a:pt x="349371" y="175060"/>
                    </a:cubicBezTo>
                    <a:close/>
                    <a:moveTo>
                      <a:pt x="34372" y="166621"/>
                    </a:moveTo>
                    <a:lnTo>
                      <a:pt x="109013" y="177029"/>
                    </a:lnTo>
                    <a:lnTo>
                      <a:pt x="188456" y="97626"/>
                    </a:lnTo>
                    <a:lnTo>
                      <a:pt x="103407" y="97626"/>
                    </a:lnTo>
                    <a:close/>
                    <a:moveTo>
                      <a:pt x="137483" y="194067"/>
                    </a:moveTo>
                    <a:lnTo>
                      <a:pt x="211180" y="267763"/>
                    </a:lnTo>
                    <a:lnTo>
                      <a:pt x="326607" y="152336"/>
                    </a:lnTo>
                    <a:cubicBezTo>
                      <a:pt x="358079" y="121077"/>
                      <a:pt x="374502" y="77739"/>
                      <a:pt x="371653" y="33473"/>
                    </a:cubicBezTo>
                    <a:cubicBezTo>
                      <a:pt x="327413" y="30727"/>
                      <a:pt x="284135" y="47178"/>
                      <a:pt x="252890" y="78619"/>
                    </a:cubicBezTo>
                    <a:close/>
                    <a:moveTo>
                      <a:pt x="307620" y="216790"/>
                    </a:moveTo>
                    <a:lnTo>
                      <a:pt x="228197" y="296213"/>
                    </a:lnTo>
                    <a:lnTo>
                      <a:pt x="238645" y="370874"/>
                    </a:lnTo>
                    <a:lnTo>
                      <a:pt x="307620" y="30183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441055" y="2321242"/>
              <a:ext cx="166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改造目标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41055" y="2816542"/>
              <a:ext cx="248664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不是少 patch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1055" y="3311842"/>
              <a:ext cx="340445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而是 patch 可升级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477250" y="421005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9525">
              <a:solidFill>
                <a:srgbClr val="E7EFF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62962" y="44696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7EFF8"/>
                  </a:solidFill>
                  <a:latin typeface="Segoe UI"/>
                  <a:ea typeface="Microsoft YaHei"/>
                  <a:cs typeface="Segoe UI"/>
                </a:rPr>
                <a:t>每个差异都应回答：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62962" y="4736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7EFF8"/>
                  </a:solidFill>
                  <a:latin typeface="Segoe UI"/>
                  <a:ea typeface="Microsoft YaHei"/>
                  <a:cs typeface="Segoe UI"/>
                </a:rPr>
                <a:t>谁生产？谁消费？何时失效？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62962" y="50030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7EFF8"/>
                  </a:solidFill>
                  <a:latin typeface="Segoe UI"/>
                  <a:ea typeface="Microsoft YaHei"/>
                  <a:cs typeface="Segoe UI"/>
                </a:rPr>
                <a:t>如何在上游升级时自动发现漂移？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3875" y="6491288"/>
            <a:ext cx="11144250" cy="152400"/>
            <a:chOff x="523875" y="6491288"/>
            <a:chExt cx="11144250" cy="152400"/>
          </a:xfrm>
        </p:grpSpPr>
        <p:sp>
          <p:nvSpPr>
            <p:cNvPr id="55" name="TextBox 55"/>
            <p:cNvSpPr txBox="1"/>
            <p:nvPr/>
          </p:nvSpPr>
          <p:spPr>
            <a:xfrm>
              <a:off x="523875" y="6491288"/>
              <a:ext cx="26243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Recommended roadmap for upgrade-friendly refactor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64064" y="6491288"/>
              <a:ext cx="1040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95300" y="419100"/>
            <a:ext cx="11186589" cy="800100"/>
            <a:chOff x="495300" y="419100"/>
            <a:chExt cx="11186589" cy="800100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419100"/>
              <a:ext cx="1118658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3A5B"/>
                  </a:solidFill>
                  <a:latin typeface="Segoe UI"/>
                  <a:ea typeface="Microsoft YaHei"/>
                  <a:cs typeface="Segoe UI"/>
                </a:rPr>
                <a:t>建议把“升级友好”作为 Ascend Inductor 下一阶段工程目标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975360"/>
              <a:ext cx="64552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下面三项决策能把当前“快速试验型 patch”逐步转成可升级、可审计、可验证的工程体系。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66800" y="1562100"/>
            <a:ext cx="9772650" cy="3657600"/>
            <a:chOff x="1066800" y="1562100"/>
            <a:chExt cx="9772650" cy="3657600"/>
          </a:xfrm>
        </p:grpSpPr>
        <p:sp>
          <p:nvSpPr>
            <p:cNvPr id="8" name="Line 8"/>
            <p:cNvSpPr/>
            <p:nvPr/>
          </p:nvSpPr>
          <p:spPr>
            <a:xfrm>
              <a:off x="1352550" y="175260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1F4E79"/>
                  </a:gs>
                  <a:gs pos="100000">
                    <a:srgbClr val="2A9D8F"/>
                  </a:gs>
                </a:gsLst>
                <a:lin ang="5400000" scaled="1"/>
              </a:gra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66800" y="1562100"/>
              <a:ext cx="9772650" cy="819150"/>
              <a:chOff x="1066800" y="1562100"/>
              <a:chExt cx="9772650" cy="8191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066800" y="1676400"/>
                <a:ext cx="571500" cy="5715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07051" y="1902142"/>
                <a:ext cx="909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885950" y="1562100"/>
                <a:ext cx="8953500" cy="819150"/>
              </a:xfrm>
              <a:prstGeom prst="roundRect">
                <a:avLst>
                  <a:gd name="adj" fmla="val 13953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2179041" y="1835381"/>
                <a:ext cx="267129" cy="271840"/>
                <a:chOff x="2179041" y="1835381"/>
                <a:chExt cx="267129" cy="27184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2190109" y="1843268"/>
                  <a:ext cx="245924" cy="252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924" h="252872">
                      <a:moveTo>
                        <a:pt x="245909" y="87925"/>
                      </a:moveTo>
                      <a:cubicBezTo>
                        <a:pt x="245899" y="116570"/>
                        <a:pt x="230753" y="143077"/>
                        <a:pt x="206080" y="157630"/>
                      </a:cubicBezTo>
                      <a:cubicBezTo>
                        <a:pt x="181408" y="172183"/>
                        <a:pt x="150882" y="172616"/>
                        <a:pt x="125807" y="158768"/>
                      </a:cubicBezTo>
                      <a:lnTo>
                        <a:pt x="54889" y="240995"/>
                      </a:lnTo>
                      <a:cubicBezTo>
                        <a:pt x="43011" y="252872"/>
                        <a:pt x="23755" y="252872"/>
                        <a:pt x="11877" y="240995"/>
                      </a:cubicBezTo>
                      <a:cubicBezTo>
                        <a:pt x="0" y="229118"/>
                        <a:pt x="0" y="209861"/>
                        <a:pt x="11877" y="197984"/>
                      </a:cubicBezTo>
                      <a:lnTo>
                        <a:pt x="94105" y="127066"/>
                      </a:lnTo>
                      <a:cubicBezTo>
                        <a:pt x="77526" y="97063"/>
                        <a:pt x="81638" y="59872"/>
                        <a:pt x="104370" y="34216"/>
                      </a:cubicBezTo>
                      <a:cubicBezTo>
                        <a:pt x="127102" y="8560"/>
                        <a:pt x="163528" y="0"/>
                        <a:pt x="195308" y="12845"/>
                      </a:cubicBezTo>
                      <a:lnTo>
                        <a:pt x="144706" y="67685"/>
                      </a:lnTo>
                      <a:lnTo>
                        <a:pt x="151866" y="101006"/>
                      </a:lnTo>
                      <a:lnTo>
                        <a:pt x="185188" y="108166"/>
                      </a:lnTo>
                      <a:lnTo>
                        <a:pt x="240027" y="57564"/>
                      </a:lnTo>
                      <a:cubicBezTo>
                        <a:pt x="243927" y="67211"/>
                        <a:pt x="245924" y="77521"/>
                        <a:pt x="245909" y="87925"/>
                      </a:cubicBezTo>
                      <a:close/>
                    </a:path>
                  </a:pathLst>
                </a:custGeom>
                <a:solidFill>
                  <a:srgbClr val="1F4E79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179041" y="1835381"/>
                  <a:ext cx="267129" cy="271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29" h="271840">
                      <a:moveTo>
                        <a:pt x="260469" y="61656"/>
                      </a:moveTo>
                      <a:cubicBezTo>
                        <a:pt x="259223" y="58577"/>
                        <a:pt x="256545" y="56304"/>
                        <a:pt x="253303" y="55577"/>
                      </a:cubicBezTo>
                      <a:cubicBezTo>
                        <a:pt x="250061" y="54850"/>
                        <a:pt x="246668" y="55761"/>
                        <a:pt x="244226" y="58013"/>
                      </a:cubicBezTo>
                      <a:lnTo>
                        <a:pt x="193245" y="105060"/>
                      </a:lnTo>
                      <a:lnTo>
                        <a:pt x="171448" y="100379"/>
                      </a:lnTo>
                      <a:lnTo>
                        <a:pt x="166768" y="78583"/>
                      </a:lnTo>
                      <a:lnTo>
                        <a:pt x="213815" y="27602"/>
                      </a:lnTo>
                      <a:cubicBezTo>
                        <a:pt x="216067" y="25159"/>
                        <a:pt x="216978" y="21767"/>
                        <a:pt x="216251" y="18525"/>
                      </a:cubicBezTo>
                      <a:cubicBezTo>
                        <a:pt x="215523" y="15283"/>
                        <a:pt x="213251" y="12605"/>
                        <a:pt x="210171" y="11359"/>
                      </a:cubicBezTo>
                      <a:cubicBezTo>
                        <a:pt x="182092" y="0"/>
                        <a:pt x="150204" y="3343"/>
                        <a:pt x="125091" y="20278"/>
                      </a:cubicBezTo>
                      <a:cubicBezTo>
                        <a:pt x="99978" y="37212"/>
                        <a:pt x="84926" y="65523"/>
                        <a:pt x="84932" y="95813"/>
                      </a:cubicBezTo>
                      <a:cubicBezTo>
                        <a:pt x="84916" y="108408"/>
                        <a:pt x="87500" y="120872"/>
                        <a:pt x="92523" y="132423"/>
                      </a:cubicBezTo>
                      <a:lnTo>
                        <a:pt x="16355" y="198281"/>
                      </a:lnTo>
                      <a:cubicBezTo>
                        <a:pt x="16165" y="198432"/>
                        <a:pt x="15988" y="198610"/>
                        <a:pt x="15811" y="198774"/>
                      </a:cubicBezTo>
                      <a:cubicBezTo>
                        <a:pt x="0" y="214585"/>
                        <a:pt x="0" y="240219"/>
                        <a:pt x="15811" y="256030"/>
                      </a:cubicBezTo>
                      <a:cubicBezTo>
                        <a:pt x="31621" y="271840"/>
                        <a:pt x="57256" y="271840"/>
                        <a:pt x="73066" y="256030"/>
                      </a:cubicBezTo>
                      <a:cubicBezTo>
                        <a:pt x="73231" y="255865"/>
                        <a:pt x="73408" y="255676"/>
                        <a:pt x="73560" y="255498"/>
                      </a:cubicBezTo>
                      <a:lnTo>
                        <a:pt x="139405" y="179305"/>
                      </a:lnTo>
                      <a:cubicBezTo>
                        <a:pt x="167584" y="191675"/>
                        <a:pt x="200104" y="188979"/>
                        <a:pt x="225861" y="172137"/>
                      </a:cubicBezTo>
                      <a:cubicBezTo>
                        <a:pt x="251618" y="155296"/>
                        <a:pt x="267129" y="126587"/>
                        <a:pt x="267098" y="95813"/>
                      </a:cubicBezTo>
                      <a:cubicBezTo>
                        <a:pt x="267118" y="84106"/>
                        <a:pt x="264867" y="72506"/>
                        <a:pt x="260469" y="61656"/>
                      </a:cubicBezTo>
                      <a:close/>
                      <a:moveTo>
                        <a:pt x="176015" y="166655"/>
                      </a:moveTo>
                      <a:cubicBezTo>
                        <a:pt x="164036" y="166638"/>
                        <a:pt x="152256" y="163592"/>
                        <a:pt x="141771" y="157799"/>
                      </a:cubicBezTo>
                      <a:cubicBezTo>
                        <a:pt x="137584" y="155487"/>
                        <a:pt x="132350" y="156420"/>
                        <a:pt x="129221" y="160039"/>
                      </a:cubicBezTo>
                      <a:lnTo>
                        <a:pt x="58506" y="241937"/>
                      </a:lnTo>
                      <a:cubicBezTo>
                        <a:pt x="50548" y="249498"/>
                        <a:pt x="38014" y="249337"/>
                        <a:pt x="30252" y="241575"/>
                      </a:cubicBezTo>
                      <a:cubicBezTo>
                        <a:pt x="22491" y="233814"/>
                        <a:pt x="22330" y="221280"/>
                        <a:pt x="29891" y="213322"/>
                      </a:cubicBezTo>
                      <a:lnTo>
                        <a:pt x="111726" y="142619"/>
                      </a:lnTo>
                      <a:cubicBezTo>
                        <a:pt x="115351" y="139489"/>
                        <a:pt x="116285" y="134247"/>
                        <a:pt x="113965" y="130057"/>
                      </a:cubicBezTo>
                      <a:cubicBezTo>
                        <a:pt x="100800" y="106246"/>
                        <a:pt x="102435" y="76999"/>
                        <a:pt x="118172" y="54804"/>
                      </a:cubicBezTo>
                      <a:cubicBezTo>
                        <a:pt x="133909" y="32609"/>
                        <a:pt x="160967" y="21388"/>
                        <a:pt x="187793" y="25932"/>
                      </a:cubicBezTo>
                      <a:lnTo>
                        <a:pt x="148324" y="68703"/>
                      </a:lnTo>
                      <a:cubicBezTo>
                        <a:pt x="146095" y="71120"/>
                        <a:pt x="145180" y="74470"/>
                        <a:pt x="145869" y="77685"/>
                      </a:cubicBezTo>
                      <a:lnTo>
                        <a:pt x="153030" y="110993"/>
                      </a:lnTo>
                      <a:cubicBezTo>
                        <a:pt x="153866" y="114884"/>
                        <a:pt x="156906" y="117924"/>
                        <a:pt x="160797" y="118760"/>
                      </a:cubicBezTo>
                      <a:lnTo>
                        <a:pt x="194131" y="125920"/>
                      </a:lnTo>
                      <a:cubicBezTo>
                        <a:pt x="197345" y="126610"/>
                        <a:pt x="200695" y="125695"/>
                        <a:pt x="203112" y="123466"/>
                      </a:cubicBezTo>
                      <a:lnTo>
                        <a:pt x="245883" y="83997"/>
                      </a:lnTo>
                      <a:cubicBezTo>
                        <a:pt x="249335" y="104558"/>
                        <a:pt x="243564" y="125595"/>
                        <a:pt x="230105" y="141518"/>
                      </a:cubicBezTo>
                      <a:cubicBezTo>
                        <a:pt x="216647" y="157440"/>
                        <a:pt x="196864" y="166634"/>
                        <a:pt x="176015" y="166655"/>
                      </a:cubicBezTo>
                      <a:close/>
                    </a:path>
                  </a:pathLst>
                </a:custGeom>
                <a:solidFill>
                  <a:srgbClr val="1F4E79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2608898" y="1677829"/>
                <a:ext cx="5288561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允许把短期能跑的 patch 逐步改为更小粒度 override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615565" y="2020252"/>
                <a:ext cx="54523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先处理 93% 相似、7% 差异的 whole-method fork，让上游升级时差异更容易 review。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066800" y="2971800"/>
              <a:ext cx="9772650" cy="819150"/>
              <a:chOff x="1066800" y="2971800"/>
              <a:chExt cx="9772650" cy="81915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1066800" y="3086100"/>
                <a:ext cx="571500" cy="5715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83424" y="33118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885950" y="2971800"/>
                <a:ext cx="8953500" cy="819150"/>
              </a:xfrm>
              <a:prstGeom prst="roundRect">
                <a:avLst>
                  <a:gd name="adj" fmla="val 13953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193131" y="3249811"/>
                <a:ext cx="242888" cy="263128"/>
                <a:chOff x="2193131" y="3249811"/>
                <a:chExt cx="242888" cy="263128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2203252" y="3259931"/>
                  <a:ext cx="222647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7" h="121444">
                      <a:moveTo>
                        <a:pt x="222647" y="60722"/>
                      </a:moveTo>
                      <a:cubicBezTo>
                        <a:pt x="222647" y="94258"/>
                        <a:pt x="172804" y="121444"/>
                        <a:pt x="111323" y="121444"/>
                      </a:cubicBezTo>
                      <a:cubicBezTo>
                        <a:pt x="49843" y="121444"/>
                        <a:pt x="0" y="94258"/>
                        <a:pt x="0" y="60722"/>
                      </a:cubicBezTo>
                      <a:cubicBezTo>
                        <a:pt x="0" y="27186"/>
                        <a:pt x="49843" y="0"/>
                        <a:pt x="111323" y="0"/>
                      </a:cubicBezTo>
                      <a:cubicBezTo>
                        <a:pt x="172804" y="0"/>
                        <a:pt x="222647" y="27186"/>
                        <a:pt x="222647" y="60722"/>
                      </a:cubicBezTo>
                      <a:close/>
                    </a:path>
                  </a:pathLst>
                </a:cu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193131" y="3249811"/>
                  <a:ext cx="242888" cy="263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63128">
                      <a:moveTo>
                        <a:pt x="121444" y="0"/>
                      </a:moveTo>
                      <a:cubicBezTo>
                        <a:pt x="53347" y="0"/>
                        <a:pt x="0" y="31120"/>
                        <a:pt x="0" y="70842"/>
                      </a:cubicBezTo>
                      <a:lnTo>
                        <a:pt x="0" y="192286"/>
                      </a:lnTo>
                      <a:cubicBezTo>
                        <a:pt x="0" y="232008"/>
                        <a:pt x="53347" y="263128"/>
                        <a:pt x="121444" y="263128"/>
                      </a:cubicBezTo>
                      <a:cubicBezTo>
                        <a:pt x="189541" y="263128"/>
                        <a:pt x="242888" y="232008"/>
                        <a:pt x="242888" y="192286"/>
                      </a:cubicBezTo>
                      <a:lnTo>
                        <a:pt x="242888" y="70842"/>
                      </a:lnTo>
                      <a:cubicBezTo>
                        <a:pt x="242888" y="31120"/>
                        <a:pt x="189541" y="0"/>
                        <a:pt x="121444" y="0"/>
                      </a:cubicBezTo>
                      <a:close/>
                      <a:moveTo>
                        <a:pt x="222647" y="131564"/>
                      </a:moveTo>
                      <a:cubicBezTo>
                        <a:pt x="222647" y="143734"/>
                        <a:pt x="212678" y="156144"/>
                        <a:pt x="195309" y="165619"/>
                      </a:cubicBezTo>
                      <a:cubicBezTo>
                        <a:pt x="175752" y="176283"/>
                        <a:pt x="149515" y="182166"/>
                        <a:pt x="121444" y="182166"/>
                      </a:cubicBezTo>
                      <a:cubicBezTo>
                        <a:pt x="93373" y="182166"/>
                        <a:pt x="67136" y="176283"/>
                        <a:pt x="47578" y="165619"/>
                      </a:cubicBezTo>
                      <a:cubicBezTo>
                        <a:pt x="30209" y="156144"/>
                        <a:pt x="20241" y="143734"/>
                        <a:pt x="20241" y="131564"/>
                      </a:cubicBezTo>
                      <a:lnTo>
                        <a:pt x="20241" y="110514"/>
                      </a:lnTo>
                      <a:cubicBezTo>
                        <a:pt x="41822" y="129489"/>
                        <a:pt x="78723" y="141684"/>
                        <a:pt x="121444" y="141684"/>
                      </a:cubicBezTo>
                      <a:cubicBezTo>
                        <a:pt x="164164" y="141684"/>
                        <a:pt x="201065" y="129439"/>
                        <a:pt x="222647" y="110514"/>
                      </a:cubicBezTo>
                      <a:close/>
                      <a:moveTo>
                        <a:pt x="47578" y="36787"/>
                      </a:moveTo>
                      <a:cubicBezTo>
                        <a:pt x="67136" y="26123"/>
                        <a:pt x="93373" y="20241"/>
                        <a:pt x="121444" y="20241"/>
                      </a:cubicBezTo>
                      <a:cubicBezTo>
                        <a:pt x="149515" y="20241"/>
                        <a:pt x="175752" y="26123"/>
                        <a:pt x="195309" y="36787"/>
                      </a:cubicBezTo>
                      <a:cubicBezTo>
                        <a:pt x="212678" y="46262"/>
                        <a:pt x="222647" y="58673"/>
                        <a:pt x="222647" y="70842"/>
                      </a:cubicBezTo>
                      <a:cubicBezTo>
                        <a:pt x="222647" y="83012"/>
                        <a:pt x="212678" y="95422"/>
                        <a:pt x="195309" y="104897"/>
                      </a:cubicBezTo>
                      <a:cubicBezTo>
                        <a:pt x="175752" y="115561"/>
                        <a:pt x="149515" y="121444"/>
                        <a:pt x="121444" y="121444"/>
                      </a:cubicBezTo>
                      <a:cubicBezTo>
                        <a:pt x="93373" y="121444"/>
                        <a:pt x="67136" y="115561"/>
                        <a:pt x="47578" y="104897"/>
                      </a:cubicBezTo>
                      <a:cubicBezTo>
                        <a:pt x="30209" y="95422"/>
                        <a:pt x="20241" y="83012"/>
                        <a:pt x="20241" y="70842"/>
                      </a:cubicBezTo>
                      <a:cubicBezTo>
                        <a:pt x="20241" y="58673"/>
                        <a:pt x="30209" y="46262"/>
                        <a:pt x="47578" y="36787"/>
                      </a:cubicBezTo>
                      <a:close/>
                      <a:moveTo>
                        <a:pt x="195309" y="226341"/>
                      </a:moveTo>
                      <a:cubicBezTo>
                        <a:pt x="175752" y="237005"/>
                        <a:pt x="149515" y="242888"/>
                        <a:pt x="121444" y="242888"/>
                      </a:cubicBezTo>
                      <a:cubicBezTo>
                        <a:pt x="93373" y="242888"/>
                        <a:pt x="67136" y="237005"/>
                        <a:pt x="47578" y="226341"/>
                      </a:cubicBezTo>
                      <a:cubicBezTo>
                        <a:pt x="30209" y="216866"/>
                        <a:pt x="20241" y="204456"/>
                        <a:pt x="20241" y="192286"/>
                      </a:cubicBezTo>
                      <a:lnTo>
                        <a:pt x="20241" y="171236"/>
                      </a:lnTo>
                      <a:cubicBezTo>
                        <a:pt x="41822" y="190211"/>
                        <a:pt x="78723" y="202406"/>
                        <a:pt x="121444" y="202406"/>
                      </a:cubicBezTo>
                      <a:cubicBezTo>
                        <a:pt x="164164" y="202406"/>
                        <a:pt x="201065" y="190161"/>
                        <a:pt x="222647" y="171236"/>
                      </a:cubicBezTo>
                      <a:lnTo>
                        <a:pt x="222647" y="192286"/>
                      </a:lnTo>
                      <a:cubicBezTo>
                        <a:pt x="222647" y="204456"/>
                        <a:pt x="212678" y="216866"/>
                        <a:pt x="195309" y="226341"/>
                      </a:cubicBezTo>
                      <a:close/>
                    </a:path>
                  </a:pathLst>
                </a:custGeom>
                <a:solidFill>
                  <a:srgbClr val="2A9D8F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608898" y="3087529"/>
                <a:ext cx="608246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将 codegen/runtime metadata contract 作为专项治理对象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15565" y="3429952"/>
                <a:ext cx="63904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把 `split_axis / tiling_axis / no_loop_axis / npu_kernel_type` 从松散 dict 推向 typed schema。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066800" y="4381500"/>
              <a:ext cx="9772650" cy="819150"/>
              <a:chOff x="1066800" y="4381500"/>
              <a:chExt cx="9772650" cy="8191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066800" y="4495800"/>
                <a:ext cx="571500" cy="5715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83424" y="47215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885950" y="4381500"/>
                <a:ext cx="8953500" cy="819150"/>
              </a:xfrm>
              <a:prstGeom prst="roundRect">
                <a:avLst>
                  <a:gd name="adj" fmla="val 13953"/>
                </a:avLst>
              </a:prstGeom>
              <a:solidFill>
                <a:srgbClr val="FFFFFF"/>
              </a:solidFill>
              <a:ln w="9525">
                <a:solidFill>
                  <a:srgbClr val="D6DEE8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2168983" y="4647273"/>
                <a:ext cx="293428" cy="291397"/>
                <a:chOff x="2168983" y="4647273"/>
                <a:chExt cx="293428" cy="291397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2253853" y="4730353"/>
                  <a:ext cx="121444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44" h="121444">
                      <a:moveTo>
                        <a:pt x="121444" y="60722"/>
                      </a:moveTo>
                      <a:cubicBezTo>
                        <a:pt x="121444" y="94258"/>
                        <a:pt x="94258" y="121444"/>
                        <a:pt x="60722" y="121444"/>
                      </a:cubicBezTo>
                      <a:cubicBezTo>
                        <a:pt x="27186" y="121444"/>
                        <a:pt x="0" y="94258"/>
                        <a:pt x="0" y="60722"/>
                      </a:cubicBezTo>
                      <a:cubicBezTo>
                        <a:pt x="0" y="27186"/>
                        <a:pt x="27186" y="0"/>
                        <a:pt x="60722" y="0"/>
                      </a:cubicBezTo>
                      <a:cubicBezTo>
                        <a:pt x="94258" y="0"/>
                        <a:pt x="121444" y="27186"/>
                        <a:pt x="121444" y="60722"/>
                      </a:cubicBezTo>
                      <a:close/>
                    </a:path>
                  </a:pathLst>
                </a:custGeom>
                <a:solidFill>
                  <a:srgbClr val="C2410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168983" y="4647273"/>
                  <a:ext cx="293428" cy="291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28" h="291397">
                      <a:moveTo>
                        <a:pt x="264341" y="87077"/>
                      </a:moveTo>
                      <a:cubicBezTo>
                        <a:pt x="293428" y="147912"/>
                        <a:pt x="271863" y="220890"/>
                        <a:pt x="214381" y="256144"/>
                      </a:cubicBezTo>
                      <a:cubicBezTo>
                        <a:pt x="156900" y="291397"/>
                        <a:pt x="82075" y="277535"/>
                        <a:pt x="41038" y="224029"/>
                      </a:cubicBezTo>
                      <a:cubicBezTo>
                        <a:pt x="0" y="170523"/>
                        <a:pt x="6009" y="94664"/>
                        <a:pt x="54959" y="48286"/>
                      </a:cubicBezTo>
                      <a:cubicBezTo>
                        <a:pt x="103909" y="1909"/>
                        <a:pt x="179982" y="0"/>
                        <a:pt x="231197" y="43864"/>
                      </a:cubicBezTo>
                      <a:lnTo>
                        <a:pt x="259875" y="15173"/>
                      </a:lnTo>
                      <a:cubicBezTo>
                        <a:pt x="263830" y="11218"/>
                        <a:pt x="270241" y="11218"/>
                        <a:pt x="274195" y="15173"/>
                      </a:cubicBezTo>
                      <a:cubicBezTo>
                        <a:pt x="278150" y="19127"/>
                        <a:pt x="278150" y="25538"/>
                        <a:pt x="274195" y="29493"/>
                      </a:cubicBezTo>
                      <a:lnTo>
                        <a:pt x="152752" y="150937"/>
                      </a:lnTo>
                      <a:cubicBezTo>
                        <a:pt x="148797" y="154891"/>
                        <a:pt x="142386" y="154891"/>
                        <a:pt x="138431" y="150937"/>
                      </a:cubicBezTo>
                      <a:cubicBezTo>
                        <a:pt x="134477" y="146982"/>
                        <a:pt x="134477" y="140571"/>
                        <a:pt x="138431" y="136616"/>
                      </a:cubicBezTo>
                      <a:lnTo>
                        <a:pt x="173498" y="101549"/>
                      </a:lnTo>
                      <a:cubicBezTo>
                        <a:pt x="153933" y="88610"/>
                        <a:pt x="128040" y="90813"/>
                        <a:pt x="110942" y="106872"/>
                      </a:cubicBezTo>
                      <a:cubicBezTo>
                        <a:pt x="93844" y="122931"/>
                        <a:pt x="90025" y="148635"/>
                        <a:pt x="101714" y="168972"/>
                      </a:cubicBezTo>
                      <a:cubicBezTo>
                        <a:pt x="113403" y="189309"/>
                        <a:pt x="137537" y="198946"/>
                        <a:pt x="160019" y="192255"/>
                      </a:cubicBezTo>
                      <a:cubicBezTo>
                        <a:pt x="182501" y="185564"/>
                        <a:pt x="197438" y="164299"/>
                        <a:pt x="196105" y="140880"/>
                      </a:cubicBezTo>
                      <a:cubicBezTo>
                        <a:pt x="195790" y="135290"/>
                        <a:pt x="200066" y="130504"/>
                        <a:pt x="205656" y="130190"/>
                      </a:cubicBezTo>
                      <a:cubicBezTo>
                        <a:pt x="211245" y="129876"/>
                        <a:pt x="216031" y="134152"/>
                        <a:pt x="216345" y="139741"/>
                      </a:cubicBezTo>
                      <a:cubicBezTo>
                        <a:pt x="218246" y="172910"/>
                        <a:pt x="196840" y="202944"/>
                        <a:pt x="164867" y="211971"/>
                      </a:cubicBezTo>
                      <a:cubicBezTo>
                        <a:pt x="132893" y="220998"/>
                        <a:pt x="98941" y="206592"/>
                        <a:pt x="83215" y="177326"/>
                      </a:cubicBezTo>
                      <a:cubicBezTo>
                        <a:pt x="67489" y="148059"/>
                        <a:pt x="74215" y="111796"/>
                        <a:pt x="99389" y="90115"/>
                      </a:cubicBezTo>
                      <a:cubicBezTo>
                        <a:pt x="124563" y="68434"/>
                        <a:pt x="161423" y="67160"/>
                        <a:pt x="188034" y="87052"/>
                      </a:cubicBezTo>
                      <a:lnTo>
                        <a:pt x="216813" y="58272"/>
                      </a:lnTo>
                      <a:cubicBezTo>
                        <a:pt x="173138" y="22011"/>
                        <a:pt x="109159" y="24478"/>
                        <a:pt x="68406" y="63996"/>
                      </a:cubicBezTo>
                      <a:cubicBezTo>
                        <a:pt x="27654" y="103514"/>
                        <a:pt x="23220" y="167387"/>
                        <a:pt x="58121" y="212157"/>
                      </a:cubicBezTo>
                      <a:cubicBezTo>
                        <a:pt x="93023" y="256927"/>
                        <a:pt x="156047" y="268211"/>
                        <a:pt x="204314" y="238332"/>
                      </a:cubicBezTo>
                      <a:cubicBezTo>
                        <a:pt x="252580" y="208453"/>
                        <a:pt x="270583" y="147009"/>
                        <a:pt x="246074" y="95806"/>
                      </a:cubicBezTo>
                      <a:cubicBezTo>
                        <a:pt x="243663" y="90762"/>
                        <a:pt x="245799" y="84719"/>
                        <a:pt x="250843" y="82308"/>
                      </a:cubicBezTo>
                      <a:cubicBezTo>
                        <a:pt x="255887" y="79898"/>
                        <a:pt x="261930" y="82033"/>
                        <a:pt x="264341" y="87077"/>
                      </a:cubicBezTo>
                      <a:close/>
                    </a:path>
                  </a:pathLst>
                </a:custGeom>
                <a:solidFill>
                  <a:srgbClr val="C2410C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2608898" y="4497229"/>
                <a:ext cx="334791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建立跟随上游升级的差异审计机制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615565" y="4839652"/>
                <a:ext cx="5781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Segoe UI"/>
                    <a:ea typeface="Microsoft YaHei"/>
                    <a:cs typeface="Segoe UI"/>
                  </a:rPr>
                  <a:t>每次上游 Inductor 升级时，自动标出 copied logic、global patch、private ABI 字段变化。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885950" y="5715000"/>
            <a:ext cx="8953500" cy="457200"/>
            <a:chOff x="1885950" y="5715000"/>
            <a:chExt cx="8953500" cy="457200"/>
          </a:xfrm>
        </p:grpSpPr>
        <p:sp>
          <p:nvSpPr>
            <p:cNvPr id="37" name="Rectangle 37"/>
            <p:cNvSpPr/>
            <p:nvPr/>
          </p:nvSpPr>
          <p:spPr>
            <a:xfrm>
              <a:off x="1885950" y="5715000"/>
              <a:ext cx="8953500" cy="457200"/>
            </a:xfrm>
            <a:prstGeom prst="roundRect">
              <a:avLst>
                <a:gd name="adj" fmla="val 20833"/>
              </a:avLst>
            </a:prstGeom>
            <a:solidFill>
              <a:srgbClr val="153A5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680322" y="5864542"/>
              <a:ext cx="53647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管理层只需确认方向：下一阶段从“可用”推进到“可持续升级”。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3875" y="6491288"/>
            <a:ext cx="11144250" cy="152400"/>
            <a:chOff x="523875" y="6491288"/>
            <a:chExt cx="11144250" cy="152400"/>
          </a:xfrm>
        </p:grpSpPr>
        <p:sp>
          <p:nvSpPr>
            <p:cNvPr id="40" name="TextBox 40"/>
            <p:cNvSpPr txBox="1"/>
            <p:nvPr/>
          </p:nvSpPr>
          <p:spPr>
            <a:xfrm>
              <a:off x="523875" y="6491288"/>
              <a:ext cx="19142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Decision asks for leadership discussion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64064" y="6491288"/>
              <a:ext cx="1040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5115</Words>
  <Application>Microsoft Macintosh PowerPoint</Application>
  <PresentationFormat>Widescreen</PresentationFormat>
  <Paragraphs>487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Xuan Peng</cp:lastModifiedBy>
  <cp:revision>2</cp:revision>
  <dcterms:created xsi:type="dcterms:W3CDTF">2013-01-27T09:14:16Z</dcterms:created>
  <dcterms:modified xsi:type="dcterms:W3CDTF">2026-07-04T08:55:33Z</dcterms:modified>
  <cp:category/>
</cp:coreProperties>
</file>