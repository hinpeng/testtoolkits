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这一页想表达的核心结论很明确：在昇腾这种复杂缓存层次架构上，我们已经具备从 Triton 外层自动 Tiling，到编译器内层缓存与流水落地的完整能力链，而不是只停留在单点试参。左边这一栏说明，上层 autotune 已经能基于 DSL、运行时 shape 和 hint 自动生成候选配置，识别 VV 和 CV 两类语义，并把 UB、RF、L1、L0 这些硬件边界前移到候选生成和剪枝阶段，最终通过 benchmark 选出最优外层 tile。</a:t>
            </a:r>
          </a:p>
          <a:p>
            <a:endParaRPr lang="zh-CN" dirty="0"/>
          </a:p>
          <a:p>
            <a:r>
              <a:rPr lang="zh-CN" dirty="0"/>
              <a:t>中间这一栏强调的是同一个 L1 tile 进入 AICore 之后，并不会直接结束。Cube Core 这一侧会继续把 tile 映射到 L0A、L0B、L0C，并结合 k-part 和 ping-pong 做内层切分；Vector 这一侧则会结合 Cube 和 Vector 一比二的关系，把同一个 tile 继续下沉到两路 Vector，落到 UB 和 RF 上，完成 CV 一比二的 subtiling。这里真正关键的是，切哪个轴、怎么切，不再依赖人工硬编码，而是由编译器结合数据流和执行关系自动决定。</a:t>
            </a:r>
          </a:p>
          <a:p>
            <a:endParaRPr lang="zh-CN" dirty="0"/>
          </a:p>
          <a:p>
            <a:r>
              <a:rPr lang="zh-CN" dirty="0"/>
              <a:t>右边这一栏说明，我们已经具备把这些策略真正落地成可执行实现的编译器能力，包括 PlanMemory、tile-cube-vector-loop、CVPipeline、workspace 与同步管理，以及 ping-pong 和分段搬运带来的流水重叠。也就是说，我们现在不仅能自动找到一个合适的外层 tile，更能把这个 tile 自动映射成适合昇腾片上缓存和异构执行单元的最终实现，把复杂缓存利用从人工经验负担转成系统能力。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502444"/>
            <a:chOff x="0" y="0"/>
            <a:chExt cx="12192000" cy="502444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C7000B"/>
                </a:gs>
                <a:gs pos="100000">
                  <a:srgbClr val="0F3D91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058400" y="2286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1F9D6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390525" y="30432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已具备能力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48615" y="258128"/>
            <a:ext cx="6366608" cy="634841"/>
            <a:chOff x="348615" y="258128"/>
            <a:chExt cx="6366608" cy="634841"/>
          </a:xfrm>
        </p:grpSpPr>
        <p:sp>
          <p:nvSpPr>
            <p:cNvPr id="7" name="TextBox 7"/>
            <p:cNvSpPr txBox="1"/>
            <p:nvPr/>
          </p:nvSpPr>
          <p:spPr>
            <a:xfrm>
              <a:off x="348615" y="258128"/>
              <a:ext cx="636660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昇腾复杂缓存层次上的 Triton 极致利用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8618" y="694849"/>
              <a:ext cx="51669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外层自动选优，内层自动映射缓存与流水，不仅覆盖 L1 tile 与 CV 1:2，也覆盖完整能力链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81000" y="933450"/>
            <a:ext cx="11430000" cy="533400"/>
            <a:chOff x="381000" y="933450"/>
            <a:chExt cx="11430000" cy="533400"/>
          </a:xfrm>
        </p:grpSpPr>
        <p:sp>
          <p:nvSpPr>
            <p:cNvPr id="10" name="Rectangle 10"/>
            <p:cNvSpPr/>
            <p:nvPr/>
          </p:nvSpPr>
          <p:spPr>
            <a:xfrm>
              <a:off x="381000" y="933450"/>
              <a:ext cx="11430000" cy="533400"/>
            </a:xfrm>
            <a:prstGeom prst="roundRect">
              <a:avLst>
                <a:gd name="adj" fmla="val 25000"/>
              </a:avLst>
            </a:prstGeom>
            <a:solidFill>
              <a:srgbClr val="173A7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2455" y="1016318"/>
              <a:ext cx="49394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已具备从 VV/CV 自动 Tiling、L1 tile 与 CV 1:2 subtiling，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2455" y="1187768"/>
              <a:ext cx="75857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到 UB/RF/L1/L0A/B/C 约束建模和 CVPipeline/PlanMemory/ping-pong 落地的完整能力链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81000" y="1562100"/>
            <a:ext cx="3908346" cy="4457700"/>
            <a:chOff x="381000" y="1562100"/>
            <a:chExt cx="3908346" cy="4457700"/>
          </a:xfrm>
        </p:grpSpPr>
        <p:sp>
          <p:nvSpPr>
            <p:cNvPr id="14" name="Rectangle 14"/>
            <p:cNvSpPr/>
            <p:nvPr/>
          </p:nvSpPr>
          <p:spPr>
            <a:xfrm>
              <a:off x="381000" y="1562100"/>
              <a:ext cx="3352800" cy="4457700"/>
            </a:xfrm>
            <a:prstGeom prst="roundRect">
              <a:avLst>
                <a:gd name="adj" fmla="val 3977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" y="1562100"/>
              <a:ext cx="3352800" cy="533400"/>
            </a:xfrm>
            <a:prstGeom prst="roundRect">
              <a:avLst>
                <a:gd name="adj" fmla="val 25000"/>
              </a:avLst>
            </a:prstGeom>
            <a:solidFill>
              <a:srgbClr val="EEF2F7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571500" y="1714500"/>
              <a:ext cx="209550" cy="209550"/>
              <a:chOff x="571500" y="1714500"/>
              <a:chExt cx="209550" cy="2095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23888" y="176688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52388" y="0"/>
                    </a:moveTo>
                    <a:cubicBezTo>
                      <a:pt x="23455" y="0"/>
                      <a:pt x="0" y="23455"/>
                      <a:pt x="0" y="52388"/>
                    </a:cubicBez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cubicBezTo>
                      <a:pt x="104775" y="23455"/>
                      <a:pt x="81320" y="0"/>
                      <a:pt x="52388" y="0"/>
                    </a:cubicBezTo>
                    <a:close/>
                    <a:moveTo>
                      <a:pt x="26194" y="52388"/>
                    </a:moveTo>
                    <a:cubicBezTo>
                      <a:pt x="26194" y="37921"/>
                      <a:pt x="37921" y="26194"/>
                      <a:pt x="52388" y="26194"/>
                    </a:cubicBezTo>
                    <a:cubicBezTo>
                      <a:pt x="66854" y="26194"/>
                      <a:pt x="78581" y="37921"/>
                      <a:pt x="78581" y="52388"/>
                    </a:cubicBezTo>
                    <a:cubicBezTo>
                      <a:pt x="78581" y="66854"/>
                      <a:pt x="66854" y="78581"/>
                      <a:pt x="52388" y="78581"/>
                    </a:cubicBezTo>
                    <a:cubicBezTo>
                      <a:pt x="37921" y="78581"/>
                      <a:pt x="26194" y="66854"/>
                      <a:pt x="26194" y="52388"/>
                    </a:cubicBez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71500" y="171450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0"/>
                    </a:move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lose/>
                    <a:moveTo>
                      <a:pt x="26194" y="104775"/>
                    </a:moveTo>
                    <a:cubicBezTo>
                      <a:pt x="26194" y="61376"/>
                      <a:pt x="61376" y="26194"/>
                      <a:pt x="104775" y="26194"/>
                    </a:cubicBezTo>
                    <a:cubicBezTo>
                      <a:pt x="148174" y="26194"/>
                      <a:pt x="183356" y="61376"/>
                      <a:pt x="183356" y="104775"/>
                    </a:cubicBezTo>
                    <a:cubicBezTo>
                      <a:pt x="183356" y="148174"/>
                      <a:pt x="148174" y="183356"/>
                      <a:pt x="104775" y="183356"/>
                    </a:cubicBezTo>
                    <a:cubicBezTo>
                      <a:pt x="61376" y="183356"/>
                      <a:pt x="26194" y="148174"/>
                      <a:pt x="26194" y="104775"/>
                    </a:cubicBez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74395" y="1736408"/>
              <a:ext cx="16244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外层自动 Tiling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9118" y="1980724"/>
              <a:ext cx="3730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输入 = DSL + runtime shape + hints，输出 = 可测候选 configs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52450" y="2305050"/>
              <a:ext cx="3009900" cy="685800"/>
            </a:xfrm>
            <a:prstGeom prst="roundRect">
              <a:avLst>
                <a:gd name="adj" fmla="val 16667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85800" y="2419350"/>
              <a:ext cx="228600" cy="2286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9768" y="2484120"/>
              <a:ext cx="606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2505" y="2397442"/>
              <a:ext cx="14803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VV / CV 语义解析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7268" y="2647474"/>
              <a:ext cx="29436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识别 split/tiling、reduction、dot-site、M/N/K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7268" y="2799874"/>
              <a:ext cx="24105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并保持 Triton autotune 的使用入口不变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2450" y="3086100"/>
              <a:ext cx="3009900" cy="685800"/>
            </a:xfrm>
            <a:prstGeom prst="roundRect">
              <a:avLst>
                <a:gd name="adj" fmla="val 16667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85800" y="3200400"/>
              <a:ext cx="228600" cy="2286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016" y="32651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2505" y="31784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硬件约束前移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7268" y="3428524"/>
              <a:ext cx="22155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VV 侧感知 UB / RF，CV 侧感知 L1 / L0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268" y="3580924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把明显越界的组合在生成期就过滤掉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2450" y="3867150"/>
              <a:ext cx="3009900" cy="685800"/>
            </a:xfrm>
            <a:prstGeom prst="roundRect">
              <a:avLst>
                <a:gd name="adj" fmla="val 16667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85800" y="3981450"/>
              <a:ext cx="228600" cy="2286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4016" y="40462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2505" y="395954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候选生成与剪枝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7268" y="4209574"/>
              <a:ext cx="31321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自动生成 tile configs，保留可解释、有限的搜索空间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7268" y="4361974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避免用户按 shape 手工枚举配置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2450" y="4648200"/>
              <a:ext cx="3009900" cy="819150"/>
            </a:xfrm>
            <a:prstGeom prst="roundRect">
              <a:avLst>
                <a:gd name="adj" fmla="val 1395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85800" y="4762500"/>
              <a:ext cx="228600" cy="228600"/>
            </a:xfrm>
            <a:prstGeom prst="ellipse">
              <a:avLst/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4016" y="482727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2505" y="4740592"/>
              <a:ext cx="17449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benchmark + cache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97268" y="4990624"/>
              <a:ext cx="27876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最终选择当前 shape / dtype 下的最优外层 tile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97268" y="5143024"/>
              <a:ext cx="20010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把“经验试参”转为“系统自动寻优”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7268" y="529542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并对结果做 cache 复用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2450" y="5581650"/>
              <a:ext cx="3009900" cy="266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66750" y="5648325"/>
              <a:ext cx="152400" cy="133350"/>
              <a:chOff x="666750" y="5648325"/>
              <a:chExt cx="152400" cy="1333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81050" y="564832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33350"/>
                    </a:lnTo>
                    <a:lnTo>
                      <a:pt x="38100" y="1333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0F3D91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3900" y="5686425"/>
                <a:ext cx="381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95250"/>
                    </a:lnTo>
                    <a:lnTo>
                      <a:pt x="0" y="952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F3D91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6750" y="5724525"/>
                <a:ext cx="381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150">
                    <a:moveTo>
                      <a:pt x="0" y="0"/>
                    </a:moveTo>
                    <a:lnTo>
                      <a:pt x="38100" y="0"/>
                    </a:lnTo>
                    <a:lnTo>
                      <a:pt x="38100" y="57150"/>
                    </a:lnTo>
                    <a:lnTo>
                      <a:pt x="0" y="571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F3D91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02018" y="5704999"/>
              <a:ext cx="2659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结果：外层 tile 已从人工经验转为自动选优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905250" y="1562100"/>
            <a:ext cx="4663502" cy="4457700"/>
            <a:chOff x="3905250" y="1562100"/>
            <a:chExt cx="4663502" cy="4457700"/>
          </a:xfrm>
        </p:grpSpPr>
        <p:sp>
          <p:nvSpPr>
            <p:cNvPr id="53" name="Rectangle 53"/>
            <p:cNvSpPr/>
            <p:nvPr/>
          </p:nvSpPr>
          <p:spPr>
            <a:xfrm>
              <a:off x="3905250" y="1562100"/>
              <a:ext cx="4000500" cy="44577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905250" y="1562100"/>
              <a:ext cx="4000500" cy="533400"/>
            </a:xfrm>
            <a:prstGeom prst="roundRect">
              <a:avLst>
                <a:gd name="adj" fmla="val 25000"/>
              </a:avLst>
            </a:prstGeom>
            <a:solidFill>
              <a:srgbClr val="EEF2F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4108847" y="1714500"/>
              <a:ext cx="183356" cy="209550"/>
              <a:chOff x="4108847" y="1714500"/>
              <a:chExt cx="183356" cy="20955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108847" y="1714500"/>
                <a:ext cx="183356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4775">
                    <a:moveTo>
                      <a:pt x="0" y="65484"/>
                    </a:moveTo>
                    <a:lnTo>
                      <a:pt x="0" y="39291"/>
                    </a:lnTo>
                    <a:lnTo>
                      <a:pt x="91678" y="0"/>
                    </a:lnTo>
                    <a:lnTo>
                      <a:pt x="183356" y="39291"/>
                    </a:lnTo>
                    <a:lnTo>
                      <a:pt x="183356" y="65484"/>
                    </a:lnTo>
                    <a:lnTo>
                      <a:pt x="91678" y="104775"/>
                    </a:lnTo>
                    <a:lnTo>
                      <a:pt x="0" y="65484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108847" y="1858566"/>
                <a:ext cx="183356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65484">
                    <a:moveTo>
                      <a:pt x="91678" y="65484"/>
                    </a:moveTo>
                    <a:lnTo>
                      <a:pt x="0" y="26194"/>
                    </a:lnTo>
                    <a:lnTo>
                      <a:pt x="0" y="0"/>
                    </a:lnTo>
                    <a:lnTo>
                      <a:pt x="91678" y="39291"/>
                    </a:lnTo>
                    <a:lnTo>
                      <a:pt x="183356" y="0"/>
                    </a:lnTo>
                    <a:lnTo>
                      <a:pt x="183356" y="26194"/>
                    </a:lnTo>
                    <a:lnTo>
                      <a:pt x="91678" y="65484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108847" y="1806178"/>
                <a:ext cx="183356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65484">
                    <a:moveTo>
                      <a:pt x="0" y="26194"/>
                    </a:moveTo>
                    <a:lnTo>
                      <a:pt x="91678" y="65484"/>
                    </a:lnTo>
                    <a:lnTo>
                      <a:pt x="183356" y="26194"/>
                    </a:lnTo>
                    <a:lnTo>
                      <a:pt x="183356" y="0"/>
                    </a:lnTo>
                    <a:lnTo>
                      <a:pt x="91678" y="39291"/>
                    </a:lnTo>
                    <a:lnTo>
                      <a:pt x="0" y="0"/>
                    </a:lnTo>
                    <a:lnTo>
                      <a:pt x="0" y="26194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4398645" y="1736408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L1 tile → 片上继续映射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083368" y="1980724"/>
              <a:ext cx="4360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同一 tile 进入 AICore 后，继续适配 Cube / Vector = 1 : 2 的异构执行关系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429250" y="234315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04381" y="2409349"/>
              <a:ext cx="202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GM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953000" y="2743200"/>
              <a:ext cx="1905000" cy="400050"/>
            </a:xfrm>
            <a:prstGeom prst="roundRect">
              <a:avLst>
                <a:gd name="adj" fmla="val 33333"/>
              </a:avLst>
            </a:prstGeom>
            <a:solidFill>
              <a:srgbClr val="0F3D9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18996" y="2854642"/>
              <a:ext cx="5730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L1 tile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0250" y="3143250"/>
              <a:ext cx="190500" cy="285750"/>
            </a:xfrm>
            <a:prstGeom prst="rect">
              <a:avLst/>
            </a:prstGeom>
            <a:gradFill>
              <a:gsLst>
                <a:gs pos="0">
                  <a:srgbClr val="3C78D8">
                    <a:alpha val="18000"/>
                  </a:srgbClr>
                </a:gs>
                <a:gs pos="100000">
                  <a:srgbClr val="3C78D8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886450" y="3162300"/>
              <a:ext cx="38100" cy="32385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972050" y="3476625"/>
              <a:ext cx="1866900" cy="1905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4972050" y="3476625"/>
              <a:ext cx="19050" cy="15240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19900" y="3476625"/>
              <a:ext cx="19050" cy="15240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095750" y="3638550"/>
              <a:ext cx="1676400" cy="1809750"/>
            </a:xfrm>
            <a:prstGeom prst="roundRect">
              <a:avLst>
                <a:gd name="adj" fmla="val 6818"/>
              </a:avLst>
            </a:prstGeom>
            <a:solidFill>
              <a:srgbClr val="EEF2F7"/>
            </a:solidFill>
            <a:ln w="9525">
              <a:solidFill>
                <a:srgbClr val="D9DEE7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4279106" y="3790950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0" y="47625"/>
                  </a:moveTo>
                  <a:lnTo>
                    <a:pt x="83344" y="0"/>
                  </a:lnTo>
                  <a:lnTo>
                    <a:pt x="166688" y="47625"/>
                  </a:lnTo>
                  <a:lnTo>
                    <a:pt x="166688" y="142875"/>
                  </a:lnTo>
                  <a:lnTo>
                    <a:pt x="83344" y="190500"/>
                  </a:lnTo>
                  <a:lnTo>
                    <a:pt x="0" y="142875"/>
                  </a:lnTo>
                  <a:lnTo>
                    <a:pt x="0" y="47625"/>
                  </a:lnTo>
                  <a:close/>
                  <a:moveTo>
                    <a:pt x="35997" y="54481"/>
                  </a:moveTo>
                  <a:lnTo>
                    <a:pt x="23812" y="61444"/>
                  </a:lnTo>
                  <a:lnTo>
                    <a:pt x="23812" y="74945"/>
                  </a:lnTo>
                  <a:lnTo>
                    <a:pt x="71438" y="102159"/>
                  </a:lnTo>
                  <a:lnTo>
                    <a:pt x="71438" y="156271"/>
                  </a:lnTo>
                  <a:lnTo>
                    <a:pt x="83344" y="163074"/>
                  </a:lnTo>
                  <a:lnTo>
                    <a:pt x="95250" y="156271"/>
                  </a:lnTo>
                  <a:lnTo>
                    <a:pt x="95250" y="102159"/>
                  </a:lnTo>
                  <a:lnTo>
                    <a:pt x="142875" y="74945"/>
                  </a:lnTo>
                  <a:lnTo>
                    <a:pt x="142875" y="61444"/>
                  </a:lnTo>
                  <a:lnTo>
                    <a:pt x="130690" y="54481"/>
                  </a:lnTo>
                  <a:lnTo>
                    <a:pt x="83344" y="81537"/>
                  </a:lnTo>
                  <a:lnTo>
                    <a:pt x="35997" y="54481"/>
                  </a:lnTo>
                  <a:close/>
                </a:path>
              </a:pathLst>
            </a:custGeom>
            <a:solidFill>
              <a:srgbClr val="0F3D9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535805" y="37976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Cube Core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4267200" y="4133850"/>
              <a:ext cx="1314450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770568" y="420433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L0A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267200" y="4533900"/>
              <a:ext cx="1314450" cy="304800"/>
            </a:xfrm>
            <a:prstGeom prst="roundRect">
              <a:avLst>
                <a:gd name="adj" fmla="val 31250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770568" y="4604385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L0B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267200" y="4933950"/>
              <a:ext cx="1314450" cy="3429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70568" y="5033010"/>
              <a:ext cx="30771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L0C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254818" y="5552599"/>
              <a:ext cx="12274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L1 → L0A / L0B → L0C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254818" y="5704999"/>
              <a:ext cx="18709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按 k-part 与 ping-pong 继续切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8850" y="3638550"/>
              <a:ext cx="1676400" cy="1809750"/>
            </a:xfrm>
            <a:prstGeom prst="roundRect">
              <a:avLst>
                <a:gd name="adj" fmla="val 6818"/>
              </a:avLst>
            </a:prstGeom>
            <a:solidFill>
              <a:srgbClr val="EEF2F7"/>
            </a:solidFill>
            <a:ln w="9525">
              <a:solidFill>
                <a:srgbClr val="D9DEE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6210300" y="37909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66688" y="47625"/>
                  </a:moveTo>
                  <a:cubicBezTo>
                    <a:pt x="179839" y="47625"/>
                    <a:pt x="190500" y="36964"/>
                    <a:pt x="190500" y="23812"/>
                  </a:cubicBezTo>
                  <a:cubicBezTo>
                    <a:pt x="190500" y="10661"/>
                    <a:pt x="179839" y="0"/>
                    <a:pt x="166688" y="0"/>
                  </a:cubicBezTo>
                  <a:cubicBezTo>
                    <a:pt x="153536" y="0"/>
                    <a:pt x="142875" y="10661"/>
                    <a:pt x="142875" y="23812"/>
                  </a:cubicBezTo>
                  <a:cubicBezTo>
                    <a:pt x="142875" y="25946"/>
                    <a:pt x="143156" y="28013"/>
                    <a:pt x="143681" y="29980"/>
                  </a:cubicBezTo>
                  <a:lnTo>
                    <a:pt x="29980" y="143681"/>
                  </a:lnTo>
                  <a:cubicBezTo>
                    <a:pt x="28013" y="143156"/>
                    <a:pt x="25946" y="142875"/>
                    <a:pt x="23812" y="142875"/>
                  </a:cubicBezTo>
                  <a:cubicBezTo>
                    <a:pt x="10661" y="142875"/>
                    <a:pt x="0" y="153536"/>
                    <a:pt x="0" y="166688"/>
                  </a:cubicBezTo>
                  <a:cubicBezTo>
                    <a:pt x="0" y="179839"/>
                    <a:pt x="10661" y="190500"/>
                    <a:pt x="23812" y="190500"/>
                  </a:cubicBezTo>
                  <a:cubicBezTo>
                    <a:pt x="36964" y="190500"/>
                    <a:pt x="47625" y="179839"/>
                    <a:pt x="47625" y="166688"/>
                  </a:cubicBezTo>
                  <a:cubicBezTo>
                    <a:pt x="47625" y="164554"/>
                    <a:pt x="47344" y="162487"/>
                    <a:pt x="46818" y="160520"/>
                  </a:cubicBezTo>
                  <a:lnTo>
                    <a:pt x="160520" y="46818"/>
                  </a:lnTo>
                  <a:cubicBezTo>
                    <a:pt x="162487" y="47344"/>
                    <a:pt x="164554" y="47625"/>
                    <a:pt x="166688" y="47625"/>
                  </a:cubicBezTo>
                  <a:close/>
                </a:path>
              </a:pathLst>
            </a:custGeom>
            <a:solidFill>
              <a:srgbClr val="0F3D9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478905" y="37976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2× Vector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181725" y="4133850"/>
              <a:ext cx="6286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924675" y="4133850"/>
              <a:ext cx="628650" cy="323850"/>
            </a:xfrm>
            <a:prstGeom prst="roundRect">
              <a:avLst>
                <a:gd name="adj" fmla="val 29412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95127" y="42219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V0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57767" y="4221956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V1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181725" y="4572000"/>
              <a:ext cx="1371600" cy="361950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70850" y="4680585"/>
              <a:ext cx="593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UB / RF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76975" y="5029200"/>
              <a:ext cx="1181100" cy="266700"/>
            </a:xfrm>
            <a:prstGeom prst="roundRect">
              <a:avLst>
                <a:gd name="adj" fmla="val 50000"/>
              </a:avLst>
            </a:prstGeom>
            <a:solidFill>
              <a:srgbClr val="1F9D6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56855" y="5104924"/>
              <a:ext cx="10213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CV 1:2 subtiling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169342" y="55525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同一 L1 tile 自动下沉到 2 路 Vector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169342" y="57049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并结合数据流决定切哪个输出轴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248150" y="5715000"/>
              <a:ext cx="33147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4362450" y="5753100"/>
              <a:ext cx="133350" cy="133350"/>
              <a:chOff x="4362450" y="5753100"/>
              <a:chExt cx="133350" cy="13335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4412456" y="5803106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33338"/>
                    </a:moveTo>
                    <a:lnTo>
                      <a:pt x="0" y="0"/>
                    </a:lnTo>
                    <a:lnTo>
                      <a:pt x="33338" y="0"/>
                    </a:lnTo>
                    <a:lnTo>
                      <a:pt x="33338" y="33338"/>
                    </a:lnTo>
                    <a:lnTo>
                      <a:pt x="0" y="33338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4362450" y="57531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25003" y="16669"/>
                    </a:moveTo>
                    <a:lnTo>
                      <a:pt x="25003" y="0"/>
                    </a:lnTo>
                    <a:lnTo>
                      <a:pt x="41672" y="0"/>
                    </a:lnTo>
                    <a:lnTo>
                      <a:pt x="41672" y="16669"/>
                    </a:lnTo>
                    <a:lnTo>
                      <a:pt x="58341" y="16669"/>
                    </a:lnTo>
                    <a:lnTo>
                      <a:pt x="58341" y="0"/>
                    </a:lnTo>
                    <a:lnTo>
                      <a:pt x="75009" y="0"/>
                    </a:lnTo>
                    <a:lnTo>
                      <a:pt x="75009" y="16669"/>
                    </a:lnTo>
                    <a:lnTo>
                      <a:pt x="91678" y="16669"/>
                    </a:lnTo>
                    <a:lnTo>
                      <a:pt x="91678" y="0"/>
                    </a:lnTo>
                    <a:lnTo>
                      <a:pt x="108347" y="0"/>
                    </a:lnTo>
                    <a:lnTo>
                      <a:pt x="108347" y="16669"/>
                    </a:lnTo>
                    <a:lnTo>
                      <a:pt x="116681" y="16669"/>
                    </a:lnTo>
                    <a:lnTo>
                      <a:pt x="116681" y="25003"/>
                    </a:lnTo>
                    <a:lnTo>
                      <a:pt x="133350" y="25003"/>
                    </a:lnTo>
                    <a:lnTo>
                      <a:pt x="133350" y="41672"/>
                    </a:lnTo>
                    <a:lnTo>
                      <a:pt x="116681" y="41672"/>
                    </a:lnTo>
                    <a:lnTo>
                      <a:pt x="116681" y="58341"/>
                    </a:lnTo>
                    <a:lnTo>
                      <a:pt x="133350" y="58341"/>
                    </a:lnTo>
                    <a:lnTo>
                      <a:pt x="133350" y="75009"/>
                    </a:lnTo>
                    <a:lnTo>
                      <a:pt x="116681" y="75009"/>
                    </a:lnTo>
                    <a:lnTo>
                      <a:pt x="116681" y="91678"/>
                    </a:lnTo>
                    <a:lnTo>
                      <a:pt x="133350" y="91678"/>
                    </a:lnTo>
                    <a:lnTo>
                      <a:pt x="133350" y="108347"/>
                    </a:lnTo>
                    <a:lnTo>
                      <a:pt x="116681" y="108347"/>
                    </a:lnTo>
                    <a:lnTo>
                      <a:pt x="116681" y="116681"/>
                    </a:lnTo>
                    <a:lnTo>
                      <a:pt x="108347" y="116681"/>
                    </a:lnTo>
                    <a:lnTo>
                      <a:pt x="108347" y="133350"/>
                    </a:lnTo>
                    <a:lnTo>
                      <a:pt x="91678" y="133350"/>
                    </a:lnTo>
                    <a:lnTo>
                      <a:pt x="91678" y="116681"/>
                    </a:lnTo>
                    <a:lnTo>
                      <a:pt x="75009" y="116681"/>
                    </a:lnTo>
                    <a:lnTo>
                      <a:pt x="75009" y="133350"/>
                    </a:lnTo>
                    <a:lnTo>
                      <a:pt x="58341" y="133350"/>
                    </a:lnTo>
                    <a:lnTo>
                      <a:pt x="58341" y="116681"/>
                    </a:lnTo>
                    <a:lnTo>
                      <a:pt x="41672" y="116681"/>
                    </a:lnTo>
                    <a:lnTo>
                      <a:pt x="41672" y="133350"/>
                    </a:lnTo>
                    <a:lnTo>
                      <a:pt x="25003" y="133350"/>
                    </a:lnTo>
                    <a:lnTo>
                      <a:pt x="25003" y="116681"/>
                    </a:lnTo>
                    <a:lnTo>
                      <a:pt x="16669" y="116681"/>
                    </a:lnTo>
                    <a:lnTo>
                      <a:pt x="16669" y="108347"/>
                    </a:lnTo>
                    <a:lnTo>
                      <a:pt x="0" y="108347"/>
                    </a:lnTo>
                    <a:lnTo>
                      <a:pt x="0" y="91678"/>
                    </a:lnTo>
                    <a:lnTo>
                      <a:pt x="16669" y="91678"/>
                    </a:lnTo>
                    <a:lnTo>
                      <a:pt x="16669" y="75009"/>
                    </a:lnTo>
                    <a:lnTo>
                      <a:pt x="0" y="75009"/>
                    </a:lnTo>
                    <a:lnTo>
                      <a:pt x="0" y="58341"/>
                    </a:lnTo>
                    <a:lnTo>
                      <a:pt x="16669" y="58341"/>
                    </a:lnTo>
                    <a:lnTo>
                      <a:pt x="16669" y="41672"/>
                    </a:lnTo>
                    <a:lnTo>
                      <a:pt x="0" y="41672"/>
                    </a:lnTo>
                    <a:lnTo>
                      <a:pt x="0" y="25003"/>
                    </a:lnTo>
                    <a:lnTo>
                      <a:pt x="16669" y="25003"/>
                    </a:lnTo>
                    <a:lnTo>
                      <a:pt x="16669" y="16669"/>
                    </a:lnTo>
                    <a:lnTo>
                      <a:pt x="25003" y="16669"/>
                    </a:lnTo>
                    <a:close/>
                    <a:moveTo>
                      <a:pt x="33338" y="33338"/>
                    </a:moveTo>
                    <a:lnTo>
                      <a:pt x="33338" y="100012"/>
                    </a:lnTo>
                    <a:lnTo>
                      <a:pt x="100012" y="100012"/>
                    </a:lnTo>
                    <a:lnTo>
                      <a:pt x="100012" y="33338"/>
                    </a:lnTo>
                    <a:lnTo>
                      <a:pt x="33338" y="33338"/>
                    </a:lnTo>
                    <a:close/>
                  </a:path>
                </a:pathLst>
              </a:custGeom>
              <a:solidFill>
                <a:srgbClr val="C7000B"/>
              </a:solidFill>
              <a:ln>
                <a:noFill/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4570095" y="5808345"/>
              <a:ext cx="39986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关键：外层决定搜什么，内层决定同一 tile 在 Cube / Vector 上怎么落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8077200" y="1562100"/>
            <a:ext cx="4571429" cy="4457700"/>
            <a:chOff x="8077200" y="1562100"/>
            <a:chExt cx="4571429" cy="4457700"/>
          </a:xfrm>
        </p:grpSpPr>
        <p:sp>
          <p:nvSpPr>
            <p:cNvPr id="100" name="Rectangle 100"/>
            <p:cNvSpPr/>
            <p:nvPr/>
          </p:nvSpPr>
          <p:spPr>
            <a:xfrm>
              <a:off x="8077200" y="1562100"/>
              <a:ext cx="3733800" cy="44577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077200" y="1562100"/>
              <a:ext cx="3733800" cy="533400"/>
            </a:xfrm>
            <a:prstGeom prst="roundRect">
              <a:avLst>
                <a:gd name="adj" fmla="val 25000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293894" y="1714500"/>
              <a:ext cx="157162" cy="209550"/>
            </a:xfrm>
            <a:custGeom>
              <a:avLst/>
              <a:gdLst/>
              <a:ahLst/>
              <a:cxnLst/>
              <a:rect l="l" t="t" r="r" b="b"/>
              <a:pathLst>
                <a:path w="157162" h="209550">
                  <a:moveTo>
                    <a:pt x="91678" y="91678"/>
                  </a:moveTo>
                  <a:lnTo>
                    <a:pt x="104775" y="0"/>
                  </a:lnTo>
                  <a:lnTo>
                    <a:pt x="78581" y="0"/>
                  </a:lnTo>
                  <a:lnTo>
                    <a:pt x="0" y="91678"/>
                  </a:lnTo>
                  <a:lnTo>
                    <a:pt x="0" y="117872"/>
                  </a:lnTo>
                  <a:lnTo>
                    <a:pt x="65484" y="117872"/>
                  </a:lnTo>
                  <a:lnTo>
                    <a:pt x="52388" y="209550"/>
                  </a:lnTo>
                  <a:lnTo>
                    <a:pt x="78581" y="209550"/>
                  </a:lnTo>
                  <a:lnTo>
                    <a:pt x="157162" y="117872"/>
                  </a:lnTo>
                  <a:lnTo>
                    <a:pt x="157162" y="91678"/>
                  </a:lnTo>
                  <a:lnTo>
                    <a:pt x="91678" y="91678"/>
                  </a:lnTo>
                  <a:close/>
                </a:path>
              </a:pathLst>
            </a:custGeom>
            <a:solidFill>
              <a:srgbClr val="C7000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570595" y="1736408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编译器内层缓存与流水落地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55318" y="1980724"/>
              <a:ext cx="43933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不只停在 tile 大小，而是继续把 tile 映射成可执行的缓存、同步与流水实现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8248650" y="2324100"/>
              <a:ext cx="3390900" cy="666750"/>
            </a:xfrm>
            <a:prstGeom prst="roundRect">
              <a:avLst>
                <a:gd name="adj" fmla="val 171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248650" y="23241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0F3D91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422005" y="2397442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PlanMemory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426768" y="2647474"/>
              <a:ext cx="30931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推导片上 buffer、临时空间、地址布局与对齐规则，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426768" y="2799874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把复杂缓存层次变成编译器内部可规划对象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248650" y="3086100"/>
              <a:ext cx="3390900" cy="666750"/>
            </a:xfrm>
            <a:prstGeom prst="roundRect">
              <a:avLst>
                <a:gd name="adj" fmla="val 171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30861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0F3D91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422005" y="3159442"/>
              <a:ext cx="20757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tile-cube-vector-loop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426768" y="3409474"/>
              <a:ext cx="283961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在 local buffer 上再次切 cube / vector loop，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426768" y="3561874"/>
              <a:ext cx="21635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让外层 L1 tile 继续贴合内层执行单元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8248650" y="3848100"/>
              <a:ext cx="3390900" cy="666750"/>
            </a:xfrm>
            <a:prstGeom prst="roundRect">
              <a:avLst>
                <a:gd name="adj" fmla="val 171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8248650" y="38481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0F3D91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422005" y="3921442"/>
              <a:ext cx="27562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CVPipeline + workspace + sync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426768" y="4171474"/>
              <a:ext cx="34376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支撑 Cube / Vector 之间的数据交换、依赖顺序与并行度，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426768" y="4323874"/>
              <a:ext cx="24235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 1:2 subtiling 真正落成可执行 pipeline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8248650" y="4610100"/>
              <a:ext cx="3390900" cy="666750"/>
            </a:xfrm>
            <a:prstGeom prst="roundRect">
              <a:avLst>
                <a:gd name="adj" fmla="val 17143"/>
              </a:avLst>
            </a:prstGeom>
            <a:solidFill>
              <a:srgbClr val="EEF2F7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248650" y="46101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0F3D91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8422005" y="4683442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ping-pong + k-part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426768" y="4933474"/>
              <a:ext cx="26250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通过双缓冲和分段搬运重叠数据移动与计算，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8426768" y="5085874"/>
              <a:ext cx="23000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 tile 从“可编译”推进到“高效率执行”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8248650" y="5429250"/>
              <a:ext cx="3390900" cy="419100"/>
            </a:xfrm>
            <a:prstGeom prst="roundRect">
              <a:avLst>
                <a:gd name="adj" fmla="val 27273"/>
              </a:avLst>
            </a:prstGeom>
            <a:solidFill>
              <a:srgbClr val="1F9D61"/>
            </a:solidFill>
            <a:ln>
              <a:noFill/>
            </a:ln>
          </p:spPr>
        </p:sp>
        <p:sp>
          <p:nvSpPr>
            <p:cNvPr id="126" name="Freeform 126"/>
            <p:cNvSpPr/>
            <p:nvPr/>
          </p:nvSpPr>
          <p:spPr>
            <a:xfrm>
              <a:off x="8432006" y="5534025"/>
              <a:ext cx="166688" cy="190500"/>
            </a:xfrm>
            <a:custGeom>
              <a:avLst/>
              <a:gdLst/>
              <a:ahLst/>
              <a:cxnLst/>
              <a:rect l="l" t="t" r="r" b="b"/>
              <a:pathLst>
                <a:path w="166688" h="190500">
                  <a:moveTo>
                    <a:pt x="83344" y="190500"/>
                  </a:moveTo>
                  <a:lnTo>
                    <a:pt x="39887" y="159459"/>
                  </a:lnTo>
                  <a:cubicBezTo>
                    <a:pt x="14856" y="141580"/>
                    <a:pt x="0" y="112713"/>
                    <a:pt x="0" y="81951"/>
                  </a:cubicBezTo>
                  <a:lnTo>
                    <a:pt x="0" y="35719"/>
                  </a:lnTo>
                  <a:lnTo>
                    <a:pt x="83344" y="0"/>
                  </a:lnTo>
                  <a:lnTo>
                    <a:pt x="166688" y="35719"/>
                  </a:lnTo>
                  <a:lnTo>
                    <a:pt x="166688" y="81951"/>
                  </a:lnTo>
                  <a:cubicBezTo>
                    <a:pt x="166688" y="112713"/>
                    <a:pt x="151832" y="141580"/>
                    <a:pt x="126800" y="159459"/>
                  </a:cubicBezTo>
                  <a:lnTo>
                    <a:pt x="83344" y="190500"/>
                  </a:lnTo>
                  <a:close/>
                  <a:moveTo>
                    <a:pt x="133435" y="67950"/>
                  </a:moveTo>
                  <a:lnTo>
                    <a:pt x="116597" y="51112"/>
                  </a:lnTo>
                  <a:lnTo>
                    <a:pt x="71438" y="96271"/>
                  </a:lnTo>
                  <a:lnTo>
                    <a:pt x="50091" y="74925"/>
                  </a:lnTo>
                  <a:lnTo>
                    <a:pt x="33253" y="91763"/>
                  </a:lnTo>
                  <a:lnTo>
                    <a:pt x="71438" y="129947"/>
                  </a:lnTo>
                  <a:lnTo>
                    <a:pt x="133435" y="67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690610" y="55568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已具备编译器侧落地闭环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694420" y="5732145"/>
              <a:ext cx="2303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从缓存、同步到流水，已不是黑盒尽力而为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370522" y="6153150"/>
            <a:ext cx="11450956" cy="669131"/>
            <a:chOff x="370522" y="6153150"/>
            <a:chExt cx="11450956" cy="669131"/>
          </a:xfrm>
        </p:grpSpPr>
        <p:sp>
          <p:nvSpPr>
            <p:cNvPr id="130" name="Rectangle 130"/>
            <p:cNvSpPr/>
            <p:nvPr/>
          </p:nvSpPr>
          <p:spPr>
            <a:xfrm>
              <a:off x="381000" y="6153150"/>
              <a:ext cx="11430000" cy="4191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 w="9525">
              <a:solidFill>
                <a:srgbClr val="D9DEE7"/>
              </a:solidFill>
            </a:ln>
          </p:spPr>
        </p:sp>
        <p:sp>
          <p:nvSpPr>
            <p:cNvPr id="131" name="Rectangle 131"/>
            <p:cNvSpPr/>
            <p:nvPr/>
          </p:nvSpPr>
          <p:spPr>
            <a:xfrm>
              <a:off x="381000" y="6153150"/>
              <a:ext cx="76200" cy="419100"/>
            </a:xfrm>
            <a:prstGeom prst="roundRect">
              <a:avLst>
                <a:gd name="adj" fmla="val 50000"/>
              </a:avLst>
            </a:prstGeom>
            <a:solidFill>
              <a:srgbClr val="C7000B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92455" y="6264592"/>
              <a:ext cx="7739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系统价值：把复杂缓存利用从人工经验负担，转成 </a:t>
              </a:r>
              <a:r>
                <a:rPr lang="zh-CN" sz="1350" b="1" dirty="0">
                  <a:solidFill>
                    <a:srgbClr val="C7000B"/>
                  </a:solidFill>
                  <a:latin typeface="Arial"/>
                  <a:ea typeface="Microsoft YaHei"/>
                  <a:cs typeface="Arial"/>
                </a:rPr>
                <a:t>自动生成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0F3D91"/>
                  </a:solidFill>
                  <a:latin typeface="Arial"/>
                  <a:ea typeface="Microsoft YaHei"/>
                  <a:cs typeface="Arial"/>
                </a:rPr>
                <a:t>可约束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b="1" dirty="0">
                  <a:solidFill>
                    <a:srgbClr val="1F9D61"/>
                  </a:solidFill>
                  <a:latin typeface="Arial"/>
                  <a:ea typeface="Microsoft YaHei"/>
                  <a:cs typeface="Arial"/>
                </a:rPr>
                <a:t>可落地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的编译器能力。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370522" y="6654641"/>
              <a:ext cx="36294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B93A1"/>
                  </a:solidFill>
                  <a:latin typeface="Arial"/>
                  <a:ea typeface="Microsoft YaHei"/>
                  <a:cs typeface="Arial"/>
                </a:rPr>
                <a:t>Context: Triton Autotune · AscendNPU-IR · Cache Hierarchy · CV 1:2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707011" y="66546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B93A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52" grpId="0"/>
      <p:bldP spid="99" grpId="0"/>
      <p:bldP spid="12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