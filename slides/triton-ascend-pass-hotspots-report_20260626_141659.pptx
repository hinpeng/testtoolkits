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这页先给出结论。当前 triton-ascend 的编译耗时风险，并不是平均分布在所有 pass 上，而是集中在少数重型热点。最需要优先关注的是 dynamic_cv_pipeline，其次是 triton_to_linalg、triton_to_unstructure，以及重复执行的 triton_to_structure。后端上，A5 的风险明显高于 A3，核心原因是 A5 默认开启 dynamic_cv_pipeline，会额外引入模块 clone、多子 pass 串行执行，以及全图分析叠加。对优化顺序的建议也比较明确，第一步先控制 dynamic CV 的触发范围和 fallback 成本，第二步削减重复 reorder 和重复 cleanup，第三步再对依赖图与地址链分析做缓存和增量化。其余简单 pass 多为线性扫描或局部 rewrite，不是主要瓶颈。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这页解释为什么这些热点会随着 kernel 变大而放大。dynamic_cv_pipeline 的问题最突出，因为它不是单个 pass，而是一整条子流水线，先 clone 模块，再连续执行多个分析和变换 pass，其中重复出现依赖图构建、BFS 和 DFS、以及 reorder。triton_to_linalg 的问题在于 pass 内部还套着小流水线，多轮 greedy rewrite、c s e 和 canonicalize、use analysis，以及 partial conversion 都会叠加成本。triton_to_unstructure 的主要放大项是地址链解析，memory op 越多、地址链越长，parse 成本越高。重复 triton_to_structure 的问题则在于第二次全模块重扫的边际收益不确定。综合来看，优化优先级仍然是先控 dynamic CV，再去掉重复 reorder 和 cleanup，最后再把依赖图与地址链计算做缓存化。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这页把全链路 pass 用一个总览表收起来，但排序方式仍然是按重要性，而不是按代码顺序平铺。最前面列的是四个最值得重点治理的热点，也就是 dynamic_cv_pipeline、triton_to_linalg、triton_to_unstructure，以及重复执行的 triton_to_structure。然后补一个中等关注项 triton_control_flow_opt。其余不太重要的 pass 不逐个展开，而是合并成几类，包括线性扫描类、局部 rewrite 类，以及轻量转换类。这个页面的目的，是给管理层一个完整视图，同时避免把注意力从真正的热点上分散出去。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63A5F"/>
                </a:gs>
                <a:gs pos="100000">
                  <a:srgbClr val="2F6B9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277178"/>
            <a:ext cx="11182101" cy="668178"/>
            <a:chOff x="501015" y="277178"/>
            <a:chExt cx="11182101" cy="668178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77178"/>
              <a:ext cx="600871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triton-ascend 编译耗时热点结论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9112" y="716756"/>
              <a:ext cx="4982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面向领导的 2 页摘要：结论、后端范围、风险放大机制与优化优先级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82200" y="3619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57684" y="439102"/>
              <a:ext cx="1725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结论先行 / A5 风险更高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066800"/>
            <a:ext cx="11731190" cy="552450"/>
            <a:chOff x="533400" y="1066800"/>
            <a:chExt cx="11731190" cy="552450"/>
          </a:xfrm>
        </p:grpSpPr>
        <p:sp>
          <p:nvSpPr>
            <p:cNvPr id="10" name="Rectangle 10"/>
            <p:cNvSpPr/>
            <p:nvPr/>
          </p:nvSpPr>
          <p:spPr>
            <a:xfrm>
              <a:off x="533400" y="1066800"/>
              <a:ext cx="11125200" cy="552450"/>
            </a:xfrm>
            <a:prstGeom prst="roundRect">
              <a:avLst>
                <a:gd name="adj" fmla="val 27586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" y="1066800"/>
              <a:ext cx="95250" cy="5524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7240" y="1215390"/>
              <a:ext cx="114873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编译耗时风险集中在少数重型 pass，其中 </a:t>
              </a:r>
              <a:r>
                <a:rPr lang="zh-CN" sz="18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dynamic_cv_pipeline</a:t>
              </a:r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是 A5 上最优先治理的热点。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828800"/>
            <a:ext cx="7609284" cy="1390650"/>
            <a:chOff x="533400" y="1828800"/>
            <a:chExt cx="7609284" cy="1390650"/>
          </a:xfrm>
        </p:grpSpPr>
        <p:sp>
          <p:nvSpPr>
            <p:cNvPr id="14" name="Rectangle 14"/>
            <p:cNvSpPr/>
            <p:nvPr/>
          </p:nvSpPr>
          <p:spPr>
            <a:xfrm>
              <a:off x="533400" y="1828800"/>
              <a:ext cx="5334000" cy="1390650"/>
            </a:xfrm>
            <a:prstGeom prst="roundRect">
              <a:avLst>
                <a:gd name="adj" fmla="val 1095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81050" y="2076450"/>
              <a:ext cx="266700" cy="250031"/>
            </a:xfrm>
            <a:custGeom>
              <a:avLst/>
              <a:gdLst/>
              <a:ahLst/>
              <a:cxnLst/>
              <a:rect l="l" t="t" r="r" b="b"/>
              <a:pathLst>
                <a:path w="266700" h="250031">
                  <a:moveTo>
                    <a:pt x="266700" y="250031"/>
                  </a:moveTo>
                  <a:lnTo>
                    <a:pt x="0" y="250031"/>
                  </a:lnTo>
                  <a:lnTo>
                    <a:pt x="0" y="200025"/>
                  </a:lnTo>
                  <a:lnTo>
                    <a:pt x="116681" y="0"/>
                  </a:lnTo>
                  <a:lnTo>
                    <a:pt x="150019" y="0"/>
                  </a:lnTo>
                  <a:lnTo>
                    <a:pt x="266700" y="200025"/>
                  </a:lnTo>
                  <a:lnTo>
                    <a:pt x="266700" y="250031"/>
                  </a:lnTo>
                  <a:close/>
                  <a:moveTo>
                    <a:pt x="116681" y="66675"/>
                  </a:moveTo>
                  <a:lnTo>
                    <a:pt x="150019" y="66675"/>
                  </a:lnTo>
                  <a:lnTo>
                    <a:pt x="150019" y="150019"/>
                  </a:lnTo>
                  <a:lnTo>
                    <a:pt x="116681" y="150019"/>
                  </a:lnTo>
                  <a:lnTo>
                    <a:pt x="116681" y="66675"/>
                  </a:lnTo>
                  <a:close/>
                  <a:moveTo>
                    <a:pt x="116681" y="183356"/>
                  </a:moveTo>
                  <a:lnTo>
                    <a:pt x="150019" y="183356"/>
                  </a:lnTo>
                  <a:lnTo>
                    <a:pt x="150019" y="216694"/>
                  </a:lnTo>
                  <a:lnTo>
                    <a:pt x="116681" y="216694"/>
                  </a:lnTo>
                  <a:lnTo>
                    <a:pt x="116681" y="183356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1095" y="2098358"/>
              <a:ext cx="29517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热点集中在少数重型 pass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905" y="2492692"/>
              <a:ext cx="73787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主要集中在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dynamic_cv_pipeline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triton_to_linalg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triton_to_unstructure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3905" y="2759392"/>
              <a:ext cx="38001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以及重复执行的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triton_to_structure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24600" y="1828800"/>
            <a:ext cx="6968490" cy="1390650"/>
            <a:chOff x="6324600" y="1828800"/>
            <a:chExt cx="6968490" cy="1390650"/>
          </a:xfrm>
        </p:grpSpPr>
        <p:sp>
          <p:nvSpPr>
            <p:cNvPr id="20" name="Rectangle 20"/>
            <p:cNvSpPr/>
            <p:nvPr/>
          </p:nvSpPr>
          <p:spPr>
            <a:xfrm>
              <a:off x="6324600" y="1828800"/>
              <a:ext cx="5334000" cy="1390650"/>
            </a:xfrm>
            <a:prstGeom prst="roundRect">
              <a:avLst>
                <a:gd name="adj" fmla="val 1095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588919" y="207645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163A5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32295" y="2098358"/>
              <a:ext cx="22685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A5 影响明显强于 A3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55105" y="2492692"/>
              <a:ext cx="47564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A5 默认开启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dynamic_cv_pipeline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，因此更容易出现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55105" y="2759392"/>
              <a:ext cx="67379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模块 clone、多子 pass 串行执行与全图分析叠加；A3 缺少这一首要放大项。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3448050"/>
            <a:ext cx="6662880" cy="1600200"/>
            <a:chOff x="533400" y="3448050"/>
            <a:chExt cx="6662880" cy="1600200"/>
          </a:xfrm>
        </p:grpSpPr>
        <p:sp>
          <p:nvSpPr>
            <p:cNvPr id="26" name="Rectangle 26"/>
            <p:cNvSpPr/>
            <p:nvPr/>
          </p:nvSpPr>
          <p:spPr>
            <a:xfrm>
              <a:off x="533400" y="3448050"/>
              <a:ext cx="5334000" cy="16002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85932" y="3764756"/>
              <a:ext cx="261818" cy="161805"/>
            </a:xfrm>
            <a:custGeom>
              <a:avLst/>
              <a:gdLst/>
              <a:ahLst/>
              <a:cxnLst/>
              <a:rect l="l" t="t" r="r" b="b"/>
              <a:pathLst>
                <a:path w="261818" h="161805">
                  <a:moveTo>
                    <a:pt x="161805" y="0"/>
                  </a:moveTo>
                  <a:lnTo>
                    <a:pt x="145137" y="16669"/>
                  </a:lnTo>
                  <a:lnTo>
                    <a:pt x="183356" y="54888"/>
                  </a:lnTo>
                  <a:lnTo>
                    <a:pt x="136802" y="101443"/>
                  </a:lnTo>
                  <a:lnTo>
                    <a:pt x="86796" y="51436"/>
                  </a:lnTo>
                  <a:lnTo>
                    <a:pt x="0" y="138232"/>
                  </a:lnTo>
                  <a:lnTo>
                    <a:pt x="23573" y="161805"/>
                  </a:lnTo>
                  <a:lnTo>
                    <a:pt x="86796" y="98582"/>
                  </a:lnTo>
                  <a:lnTo>
                    <a:pt x="136802" y="148589"/>
                  </a:lnTo>
                  <a:lnTo>
                    <a:pt x="206929" y="78462"/>
                  </a:lnTo>
                  <a:lnTo>
                    <a:pt x="245149" y="116681"/>
                  </a:lnTo>
                  <a:lnTo>
                    <a:pt x="261818" y="100012"/>
                  </a:lnTo>
                  <a:lnTo>
                    <a:pt x="261818" y="0"/>
                  </a:lnTo>
                  <a:lnTo>
                    <a:pt x="161805" y="0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41095" y="3736658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风险来自非线性叠加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3905" y="4102418"/>
              <a:ext cx="6038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大 kernel 下，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全图重扫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依赖图重建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多轮 rewrite 和 cleanup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3905" y="4369118"/>
              <a:ext cx="64323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以及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重复 reorder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会叠加出现，编译时间可能随 op 数增加而显著放大。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24600" y="3448050"/>
            <a:ext cx="5334000" cy="1600200"/>
            <a:chOff x="6324600" y="3448050"/>
            <a:chExt cx="5334000" cy="1600200"/>
          </a:xfrm>
        </p:grpSpPr>
        <p:sp>
          <p:nvSpPr>
            <p:cNvPr id="32" name="Rectangle 32"/>
            <p:cNvSpPr/>
            <p:nvPr/>
          </p:nvSpPr>
          <p:spPr>
            <a:xfrm>
              <a:off x="6324600" y="3448050"/>
              <a:ext cx="5334000" cy="16002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324600" y="3448050"/>
              <a:ext cx="5334000" cy="1600200"/>
            </a:xfrm>
            <a:prstGeom prst="roundRect">
              <a:avLst>
                <a:gd name="adj" fmla="val 9524"/>
              </a:avLst>
            </a:prstGeom>
            <a:gradFill>
              <a:gsLst>
                <a:gs pos="0">
                  <a:srgbClr val="E67E22">
                    <a:alpha val="18000"/>
                  </a:srgbClr>
                </a:gs>
                <a:gs pos="100000">
                  <a:srgbClr val="E67E22">
                    <a:alpha val="0"/>
                  </a:srgbClr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572250" y="3714750"/>
              <a:ext cx="266700" cy="266700"/>
              <a:chOff x="6572250" y="3714750"/>
              <a:chExt cx="266700" cy="2667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38925" y="3781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66675" y="0"/>
                    </a:moveTo>
                    <a:cubicBezTo>
                      <a:pt x="29851" y="0"/>
                      <a:pt x="0" y="29851"/>
                      <a:pt x="0" y="66675"/>
                    </a:cubicBezTo>
                    <a:cubicBezTo>
                      <a:pt x="0" y="103498"/>
                      <a:pt x="29851" y="133350"/>
                      <a:pt x="66675" y="133350"/>
                    </a:cubicBezTo>
                    <a:cubicBezTo>
                      <a:pt x="103498" y="133350"/>
                      <a:pt x="133350" y="103498"/>
                      <a:pt x="133350" y="66675"/>
                    </a:cubicBezTo>
                    <a:cubicBezTo>
                      <a:pt x="133350" y="29851"/>
                      <a:pt x="103498" y="0"/>
                      <a:pt x="66675" y="0"/>
                    </a:cubicBezTo>
                    <a:close/>
                    <a:moveTo>
                      <a:pt x="33338" y="66675"/>
                    </a:moveTo>
                    <a:cubicBezTo>
                      <a:pt x="33338" y="48263"/>
                      <a:pt x="48263" y="33338"/>
                      <a:pt x="66675" y="33338"/>
                    </a:cubicBezTo>
                    <a:cubicBezTo>
                      <a:pt x="85087" y="33338"/>
                      <a:pt x="100012" y="48263"/>
                      <a:pt x="100012" y="66675"/>
                    </a:cubicBezTo>
                    <a:cubicBezTo>
                      <a:pt x="100012" y="85087"/>
                      <a:pt x="85087" y="100012"/>
                      <a:pt x="66675" y="100012"/>
                    </a:cubicBezTo>
                    <a:cubicBezTo>
                      <a:pt x="48263" y="100012"/>
                      <a:pt x="33338" y="85087"/>
                      <a:pt x="33338" y="66675"/>
                    </a:cubicBezTo>
                    <a:close/>
                  </a:path>
                </a:pathLst>
              </a:cu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72250" y="37147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0"/>
                    </a:move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lose/>
                    <a:moveTo>
                      <a:pt x="33338" y="133350"/>
                    </a:moveTo>
                    <a:cubicBezTo>
                      <a:pt x="33338" y="78115"/>
                      <a:pt x="78115" y="33338"/>
                      <a:pt x="133350" y="33338"/>
                    </a:cubicBezTo>
                    <a:cubicBezTo>
                      <a:pt x="188585" y="33338"/>
                      <a:pt x="233362" y="78115"/>
                      <a:pt x="233362" y="133350"/>
                    </a:cubicBezTo>
                    <a:cubicBezTo>
                      <a:pt x="233362" y="188585"/>
                      <a:pt x="188585" y="233362"/>
                      <a:pt x="133350" y="233362"/>
                    </a:cubicBezTo>
                    <a:cubicBezTo>
                      <a:pt x="78115" y="233362"/>
                      <a:pt x="33338" y="188585"/>
                      <a:pt x="33338" y="133350"/>
                    </a:cubicBezTo>
                    <a:close/>
                  </a:path>
                </a:pathLst>
              </a:custGeom>
              <a:solidFill>
                <a:srgbClr val="E67E22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32295" y="3736658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优化优先级已经明确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55105" y="4111942"/>
              <a:ext cx="4381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1. 先控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dynamic CV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的触发范围和 fallback 成本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5105" y="4378642"/>
              <a:ext cx="42142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2. 再减重复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reorder / cleanup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的结构性浪费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5105" y="4645342"/>
              <a:ext cx="39283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3. 最后对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依赖图 / 地址链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做缓存和增量化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33400" y="5295900"/>
            <a:ext cx="11125200" cy="945356"/>
            <a:chOff x="533400" y="5295900"/>
            <a:chExt cx="11125200" cy="945356"/>
          </a:xfrm>
        </p:grpSpPr>
        <p:sp>
          <p:nvSpPr>
            <p:cNvPr id="42" name="Rectangle 42"/>
            <p:cNvSpPr/>
            <p:nvPr/>
          </p:nvSpPr>
          <p:spPr>
            <a:xfrm>
              <a:off x="533400" y="5295900"/>
              <a:ext cx="11125200" cy="933450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4248150" y="54483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19050">
              <a:solidFill>
                <a:srgbClr val="D9E2EC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7772400" y="54483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19050">
              <a:solidFill>
                <a:srgbClr val="D9E2E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4860" y="5518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后端范围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5812" y="5803106"/>
              <a:ext cx="38651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A5：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默认开启 dynamic_cv_pipeline，治理收益最大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5812" y="6012656"/>
              <a:ext cx="41773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A3：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整体链路更轻，重点仍在 Triton-to-Linalg 类 pass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99610" y="5518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风险判断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00562" y="5803106"/>
              <a:ext cx="4694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真正需要关注的是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25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少数非线性热点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，不是所有 pass 平均变慢。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00562" y="6012656"/>
              <a:ext cx="30928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随着 kernel 变大，放大项会更集中暴露。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23860" y="5518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非主要瓶颈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24812" y="5803106"/>
              <a:ext cx="3347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其余简单 pass 多为</a:t>
              </a:r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线性扫描或局部 rewrite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24812" y="60126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可一笔带过，不进入主表。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21018" y="6466999"/>
            <a:ext cx="11149965" cy="198120"/>
            <a:chOff x="521018" y="6466999"/>
            <a:chExt cx="11149965" cy="198120"/>
          </a:xfrm>
        </p:grpSpPr>
        <p:sp>
          <p:nvSpPr>
            <p:cNvPr id="55" name="TextBox 55"/>
            <p:cNvSpPr txBox="1"/>
            <p:nvPr/>
          </p:nvSpPr>
          <p:spPr>
            <a:xfrm>
              <a:off x="521018" y="6466999"/>
              <a:ext cx="39407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基于 triton-ascend 代码静态分析，结论用于优化优先级判断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25179" y="64669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5" grpId="0"/>
      <p:bldP spid="31" grpId="0"/>
      <p:bldP spid="41" grpId="0"/>
      <p:bldP spid="5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63A5F"/>
                </a:gs>
                <a:gs pos="100000">
                  <a:srgbClr val="2F6B9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77178"/>
            <a:ext cx="5969912" cy="668178"/>
            <a:chOff x="501015" y="277178"/>
            <a:chExt cx="5969912" cy="668178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77178"/>
              <a:ext cx="546124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高复杂度 Pass 成因与优化方向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9112" y="716756"/>
              <a:ext cx="59518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仅展开 4 个高复杂度热点；其余线性扫描或局部 rewrite pass 统一视为非主瓶颈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047750"/>
            <a:ext cx="11125200" cy="419100"/>
            <a:chOff x="533400" y="1047750"/>
            <a:chExt cx="11125200" cy="419100"/>
          </a:xfrm>
        </p:grpSpPr>
        <p:sp>
          <p:nvSpPr>
            <p:cNvPr id="8" name="Rectangle 8"/>
            <p:cNvSpPr/>
            <p:nvPr/>
          </p:nvSpPr>
          <p:spPr>
            <a:xfrm>
              <a:off x="533400" y="1047750"/>
              <a:ext cx="11125200" cy="4191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4775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0" y="1152525"/>
              <a:ext cx="82846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共同放大机制：</a:t>
              </a:r>
              <a:r>
                <a:rPr lang="zh-CN" sz="15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全图重扫</a:t>
              </a:r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+ </a:t>
              </a:r>
              <a:r>
                <a:rPr lang="zh-CN" sz="15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依赖图重建</a:t>
              </a:r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+ </a:t>
              </a:r>
              <a:r>
                <a:rPr lang="zh-CN" sz="15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多轮 rewrite/cleanup</a:t>
              </a:r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+ </a:t>
              </a:r>
              <a:r>
                <a:rPr lang="zh-CN" sz="15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重复 reorder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676400"/>
            <a:ext cx="5448300" cy="2076450"/>
            <a:chOff x="533400" y="1676400"/>
            <a:chExt cx="5448300" cy="2076450"/>
          </a:xfrm>
        </p:grpSpPr>
        <p:sp>
          <p:nvSpPr>
            <p:cNvPr id="12" name="Rectangle 12"/>
            <p:cNvSpPr/>
            <p:nvPr/>
          </p:nvSpPr>
          <p:spPr>
            <a:xfrm>
              <a:off x="533400" y="1676400"/>
              <a:ext cx="5448300" cy="2076450"/>
            </a:xfrm>
            <a:prstGeom prst="roundRect">
              <a:avLst>
                <a:gd name="adj" fmla="val 733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1676400"/>
              <a:ext cx="5448300" cy="457200"/>
            </a:xfrm>
            <a:prstGeom prst="roundRect">
              <a:avLst>
                <a:gd name="adj" fmla="val 33333"/>
              </a:avLst>
            </a:prstGeom>
            <a:solidFill>
              <a:srgbClr val="FBEA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1981200"/>
              <a:ext cx="5448300" cy="152400"/>
            </a:xfrm>
            <a:prstGeom prst="rect">
              <a:avLst/>
            </a:prstGeom>
            <a:solidFill>
              <a:srgbClr val="FBEAE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42950" y="1790700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228600" y="214312"/>
                  </a:moveTo>
                  <a:lnTo>
                    <a:pt x="0" y="214312"/>
                  </a:lnTo>
                  <a:lnTo>
                    <a:pt x="0" y="171450"/>
                  </a:lnTo>
                  <a:lnTo>
                    <a:pt x="100012" y="0"/>
                  </a:lnTo>
                  <a:lnTo>
                    <a:pt x="128588" y="0"/>
                  </a:lnTo>
                  <a:lnTo>
                    <a:pt x="228600" y="171450"/>
                  </a:lnTo>
                  <a:lnTo>
                    <a:pt x="228600" y="214312"/>
                  </a:lnTo>
                  <a:close/>
                  <a:moveTo>
                    <a:pt x="100012" y="57150"/>
                  </a:moveTo>
                  <a:lnTo>
                    <a:pt x="128588" y="57150"/>
                  </a:lnTo>
                  <a:lnTo>
                    <a:pt x="128588" y="128588"/>
                  </a:lnTo>
                  <a:lnTo>
                    <a:pt x="100012" y="128588"/>
                  </a:lnTo>
                  <a:lnTo>
                    <a:pt x="100012" y="57150"/>
                  </a:lnTo>
                  <a:close/>
                  <a:moveTo>
                    <a:pt x="100012" y="157162"/>
                  </a:moveTo>
                  <a:lnTo>
                    <a:pt x="128588" y="157162"/>
                  </a:lnTo>
                  <a:lnTo>
                    <a:pt x="128588" y="185738"/>
                  </a:lnTo>
                  <a:lnTo>
                    <a:pt x="100012" y="185738"/>
                  </a:lnTo>
                  <a:lnTo>
                    <a:pt x="100012" y="157162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4895" y="1793558"/>
              <a:ext cx="24836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dynamic_cv_pipeline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67200" y="1790700"/>
              <a:ext cx="15240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8B5A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81363" y="1847374"/>
              <a:ext cx="1295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A5 only / 默认开启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7710" y="2251710"/>
              <a:ext cx="35444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复杂度：</a:t>
              </a:r>
              <a:r>
                <a:rPr lang="zh-CN" sz="12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O(P·(N+E))，坏情况接近 O(P·N²)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7710" y="2575560"/>
              <a:ext cx="42454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成因：先对模块执行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clone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，再串行跑 10 个子 pass。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7710" y="2804160"/>
              <a:ext cx="41490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放大机制：重复做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依赖图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BFS/DFS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reorder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7710" y="3032760"/>
              <a:ext cx="38774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优化方向：先做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gating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，再复用图与排序结果。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10300" y="1676400"/>
            <a:ext cx="7279005" cy="2076450"/>
            <a:chOff x="6210300" y="1676400"/>
            <a:chExt cx="7279005" cy="2076450"/>
          </a:xfrm>
        </p:grpSpPr>
        <p:sp>
          <p:nvSpPr>
            <p:cNvPr id="24" name="Rectangle 24"/>
            <p:cNvSpPr/>
            <p:nvPr/>
          </p:nvSpPr>
          <p:spPr>
            <a:xfrm>
              <a:off x="6210300" y="1676400"/>
              <a:ext cx="5448300" cy="2076450"/>
            </a:xfrm>
            <a:prstGeom prst="roundRect">
              <a:avLst>
                <a:gd name="adj" fmla="val 733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10300" y="1676400"/>
              <a:ext cx="5448300" cy="457200"/>
            </a:xfrm>
            <a:prstGeom prst="roundRect">
              <a:avLst>
                <a:gd name="adj" fmla="val 33333"/>
              </a:avLst>
            </a:prstGeom>
            <a:solidFill>
              <a:srgbClr val="FFF3E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10300" y="1981200"/>
              <a:ext cx="5448300" cy="152400"/>
            </a:xfrm>
            <a:prstGeom prst="rect">
              <a:avLst/>
            </a:prstGeom>
            <a:solidFill>
              <a:srgbClr val="FFF3E6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419850" y="1804988"/>
              <a:ext cx="228600" cy="200025"/>
              <a:chOff x="6419850" y="1804988"/>
              <a:chExt cx="228600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591300" y="1804988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00025">
                    <a:moveTo>
                      <a:pt x="57150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57150" y="200025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05575" y="1862138"/>
                <a:ext cx="571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4287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142875"/>
                    </a:lnTo>
                    <a:lnTo>
                      <a:pt x="0" y="1428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419850" y="1919288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85725"/>
                    </a:lnTo>
                    <a:lnTo>
                      <a:pt x="0" y="85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E22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741795" y="1793558"/>
              <a:ext cx="20155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triton_to_linalg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829800" y="1790700"/>
              <a:ext cx="16764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0C99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20163" y="1847374"/>
              <a:ext cx="1295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85A00"/>
                  </a:solidFill>
                  <a:latin typeface="Arial"/>
                  <a:ea typeface="Microsoft YaHei"/>
                  <a:cs typeface="Arial"/>
                </a:rPr>
                <a:t>A5 + A3 / 默认开启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04610" y="2251710"/>
              <a:ext cx="39212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复杂度：</a:t>
              </a:r>
              <a:r>
                <a:rPr lang="zh-CN" sz="120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O(K·N + E)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，且易被内部子流程继续放大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04610" y="2575560"/>
              <a:ext cx="70846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成因：多轮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greedy rewrite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cse/canonicalize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UseAnalysis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与 conversion 叠加。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04610" y="2804160"/>
              <a:ext cx="50078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放大机制：不是单次算法太重，而是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pass 内部还有小流水线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04610" y="3032760"/>
              <a:ext cx="501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优化方向：压缩 cleanup 次数，给简单 kernel 走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fast path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3981450"/>
            <a:ext cx="5448300" cy="2076450"/>
            <a:chOff x="533400" y="3981450"/>
            <a:chExt cx="5448300" cy="2076450"/>
          </a:xfrm>
        </p:grpSpPr>
        <p:sp>
          <p:nvSpPr>
            <p:cNvPr id="39" name="Rectangle 39"/>
            <p:cNvSpPr/>
            <p:nvPr/>
          </p:nvSpPr>
          <p:spPr>
            <a:xfrm>
              <a:off x="533400" y="3981450"/>
              <a:ext cx="5448300" cy="2076450"/>
            </a:xfrm>
            <a:prstGeom prst="roundRect">
              <a:avLst>
                <a:gd name="adj" fmla="val 733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981450"/>
              <a:ext cx="5448300" cy="457200"/>
            </a:xfrm>
            <a:prstGeom prst="roundRect">
              <a:avLst>
                <a:gd name="adj" fmla="val 33333"/>
              </a:avLst>
            </a:prstGeom>
            <a:solidFill>
              <a:srgbClr val="EAF2F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286250"/>
              <a:ext cx="5448300" cy="152400"/>
            </a:xfrm>
            <a:prstGeom prst="rect">
              <a:avLst/>
            </a:prstGeom>
            <a:solidFill>
              <a:srgbClr val="EAF2F8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47135" y="4138612"/>
              <a:ext cx="224415" cy="138690"/>
            </a:xfrm>
            <a:custGeom>
              <a:avLst/>
              <a:gdLst/>
              <a:ahLst/>
              <a:cxnLst/>
              <a:rect l="l" t="t" r="r" b="b"/>
              <a:pathLst>
                <a:path w="224415" h="138690">
                  <a:moveTo>
                    <a:pt x="138690" y="0"/>
                  </a:moveTo>
                  <a:lnTo>
                    <a:pt x="124403" y="14288"/>
                  </a:lnTo>
                  <a:lnTo>
                    <a:pt x="157162" y="47047"/>
                  </a:lnTo>
                  <a:lnTo>
                    <a:pt x="117259" y="86951"/>
                  </a:lnTo>
                  <a:lnTo>
                    <a:pt x="74396" y="44088"/>
                  </a:lnTo>
                  <a:lnTo>
                    <a:pt x="0" y="118485"/>
                  </a:lnTo>
                  <a:lnTo>
                    <a:pt x="20206" y="138690"/>
                  </a:lnTo>
                  <a:lnTo>
                    <a:pt x="74396" y="84499"/>
                  </a:lnTo>
                  <a:lnTo>
                    <a:pt x="117259" y="127362"/>
                  </a:lnTo>
                  <a:lnTo>
                    <a:pt x="177368" y="67253"/>
                  </a:lnTo>
                  <a:lnTo>
                    <a:pt x="210128" y="100012"/>
                  </a:lnTo>
                  <a:lnTo>
                    <a:pt x="224415" y="85725"/>
                  </a:lnTo>
                  <a:lnTo>
                    <a:pt x="224415" y="0"/>
                  </a:lnTo>
                  <a:lnTo>
                    <a:pt x="138690" y="0"/>
                  </a:lnTo>
                  <a:close/>
                </a:path>
              </a:pathLst>
            </a:custGeom>
            <a:solidFill>
              <a:srgbClr val="2F6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64895" y="4098608"/>
              <a:ext cx="29011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triton_to_unstructure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133850" y="4095750"/>
              <a:ext cx="16573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FD4E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314688" y="4152424"/>
              <a:ext cx="1295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F6B9A"/>
                  </a:solidFill>
                  <a:latin typeface="Arial"/>
                  <a:ea typeface="Microsoft YaHei"/>
                  <a:cs typeface="Arial"/>
                </a:rPr>
                <a:t>A5 + A3 / 默认开启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7710" y="4556760"/>
              <a:ext cx="34305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复杂度：</a:t>
              </a:r>
              <a:r>
                <a:rPr lang="zh-CN" sz="1200" b="1" dirty="0">
                  <a:solidFill>
                    <a:srgbClr val="2F6B9A"/>
                  </a:solidFill>
                  <a:latin typeface="Arial"/>
                  <a:ea typeface="Microsoft YaHei"/>
                  <a:cs typeface="Arial"/>
                </a:rPr>
                <a:t>O(N + M·L)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，地址链长时明显变重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7710" y="4880610"/>
              <a:ext cx="46310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成因：对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load/store/atomic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路径做地址链解析与重写。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7710" y="5109210"/>
              <a:ext cx="5121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放大机制：memory op 越多、地址链越长，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parse 成本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越突出。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7710" y="5337810"/>
              <a:ext cx="5086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优化方向：对地址链做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memoization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，并只解析候选 mem-op。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10300" y="3981450"/>
            <a:ext cx="5448300" cy="2076450"/>
            <a:chOff x="6210300" y="3981450"/>
            <a:chExt cx="5448300" cy="2076450"/>
          </a:xfrm>
        </p:grpSpPr>
        <p:sp>
          <p:nvSpPr>
            <p:cNvPr id="51" name="Rectangle 51"/>
            <p:cNvSpPr/>
            <p:nvPr/>
          </p:nvSpPr>
          <p:spPr>
            <a:xfrm>
              <a:off x="6210300" y="3981450"/>
              <a:ext cx="5448300" cy="2076450"/>
            </a:xfrm>
            <a:prstGeom prst="roundRect">
              <a:avLst>
                <a:gd name="adj" fmla="val 733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10300" y="3981450"/>
              <a:ext cx="5448300" cy="457200"/>
            </a:xfrm>
            <a:prstGeom prst="roundRect">
              <a:avLst>
                <a:gd name="adj" fmla="val 33333"/>
              </a:avLst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10300" y="4286250"/>
              <a:ext cx="5448300" cy="15240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34138" y="4095750"/>
              <a:ext cx="200025" cy="228600"/>
              <a:chOff x="6434138" y="4095750"/>
              <a:chExt cx="200025" cy="2286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34138" y="4095750"/>
                <a:ext cx="2000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14300">
                    <a:moveTo>
                      <a:pt x="0" y="71438"/>
                    </a:moveTo>
                    <a:lnTo>
                      <a:pt x="0" y="42862"/>
                    </a:lnTo>
                    <a:lnTo>
                      <a:pt x="100012" y="0"/>
                    </a:lnTo>
                    <a:lnTo>
                      <a:pt x="200025" y="42862"/>
                    </a:lnTo>
                    <a:lnTo>
                      <a:pt x="200025" y="71438"/>
                    </a:lnTo>
                    <a:lnTo>
                      <a:pt x="100012" y="114300"/>
                    </a:lnTo>
                    <a:lnTo>
                      <a:pt x="0" y="71438"/>
                    </a:lnTo>
                    <a:close/>
                  </a:path>
                </a:pathLst>
              </a:custGeom>
              <a:solidFill>
                <a:srgbClr val="163A5F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34138" y="425291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100012" y="71438"/>
                    </a:moveTo>
                    <a:lnTo>
                      <a:pt x="0" y="28575"/>
                    </a:lnTo>
                    <a:lnTo>
                      <a:pt x="0" y="0"/>
                    </a:lnTo>
                    <a:lnTo>
                      <a:pt x="100012" y="42862"/>
                    </a:lnTo>
                    <a:lnTo>
                      <a:pt x="200025" y="0"/>
                    </a:lnTo>
                    <a:lnTo>
                      <a:pt x="200025" y="28575"/>
                    </a:lnTo>
                    <a:lnTo>
                      <a:pt x="100012" y="71438"/>
                    </a:lnTo>
                    <a:close/>
                  </a:path>
                </a:pathLst>
              </a:custGeom>
              <a:solidFill>
                <a:srgbClr val="163A5F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34138" y="419576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0" y="28575"/>
                    </a:moveTo>
                    <a:lnTo>
                      <a:pt x="100012" y="71438"/>
                    </a:lnTo>
                    <a:lnTo>
                      <a:pt x="200025" y="28575"/>
                    </a:lnTo>
                    <a:lnTo>
                      <a:pt x="200025" y="0"/>
                    </a:lnTo>
                    <a:lnTo>
                      <a:pt x="100012" y="42862"/>
                    </a:lnTo>
                    <a:lnTo>
                      <a:pt x="0" y="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163A5F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41795" y="4098608"/>
              <a:ext cx="32048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重复 triton_to_structure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791700" y="4095750"/>
              <a:ext cx="17145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001113" y="4152424"/>
              <a:ext cx="12956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A5 + A3 / 默认开启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04610" y="4556760"/>
              <a:ext cx="4166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复杂度：</a:t>
              </a:r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O(K·N)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，问题在于“再跑一遍”而非单次超重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04610" y="4880610"/>
              <a:ext cx="44996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成因：同一类 structured lowering 在链路中执行两次。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04610" y="5109210"/>
              <a:ext cx="43418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放大机制：第二次是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全模块重复重扫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，边际收益可疑。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04610" y="5337810"/>
              <a:ext cx="4131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优化方向：先做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cheap-scan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，确认必要后再运行。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33400" y="6229350"/>
            <a:ext cx="11125200" cy="342900"/>
            <a:chOff x="533400" y="6229350"/>
            <a:chExt cx="11125200" cy="342900"/>
          </a:xfrm>
        </p:grpSpPr>
        <p:sp>
          <p:nvSpPr>
            <p:cNvPr id="66" name="Rectangle 66"/>
            <p:cNvSpPr/>
            <p:nvPr/>
          </p:nvSpPr>
          <p:spPr>
            <a:xfrm>
              <a:off x="533400" y="6229350"/>
              <a:ext cx="11125200" cy="342900"/>
            </a:xfrm>
            <a:prstGeom prst="roundRect">
              <a:avLst>
                <a:gd name="adj" fmla="val 33333"/>
              </a:avLst>
            </a:prstGeom>
            <a:solidFill>
              <a:srgbClr val="163A5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8660" y="6328410"/>
              <a:ext cx="6609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优先顺序：</a:t>
              </a:r>
              <a:r>
                <a:rPr lang="zh-CN" sz="1200" b="1" dirty="0">
                  <a:solidFill>
                    <a:srgbClr val="FFD0A6"/>
                  </a:solidFill>
                  <a:latin typeface="Arial"/>
                  <a:ea typeface="Microsoft YaHei"/>
                  <a:cs typeface="Arial"/>
                </a:rPr>
                <a:t>dynamic CV gating</a:t>
              </a:r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1200" b="1" dirty="0">
                  <a:solidFill>
                    <a:srgbClr val="FFD0A6"/>
                  </a:solidFill>
                  <a:latin typeface="Arial"/>
                  <a:ea typeface="Microsoft YaHei"/>
                  <a:cs typeface="Arial"/>
                </a:rPr>
                <a:t>reorder / cleanup 去重</a:t>
              </a:r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1200" b="1" dirty="0">
                  <a:solidFill>
                    <a:srgbClr val="FFD0A6"/>
                  </a:solidFill>
                  <a:latin typeface="Arial"/>
                  <a:ea typeface="Microsoft YaHei"/>
                  <a:cs typeface="Arial"/>
                </a:rPr>
                <a:t>依赖图与地址链缓存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21018" y="6638449"/>
            <a:ext cx="11149965" cy="198120"/>
            <a:chOff x="521018" y="6638449"/>
            <a:chExt cx="11149965" cy="198120"/>
          </a:xfrm>
        </p:grpSpPr>
        <p:sp>
          <p:nvSpPr>
            <p:cNvPr id="69" name="TextBox 69"/>
            <p:cNvSpPr txBox="1"/>
            <p:nvPr/>
          </p:nvSpPr>
          <p:spPr>
            <a:xfrm>
              <a:off x="521018" y="6638449"/>
              <a:ext cx="39976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其余 pass 多为线性扫描或局部 rewrite，本次不进入主比较表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489579" y="66384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  <p:bldP spid="38" grpId="0"/>
      <p:bldP spid="50" grpId="0"/>
      <p:bldP spid="65" grpId="0"/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163A5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277178"/>
            <a:ext cx="6339601" cy="668178"/>
            <a:chOff x="501015" y="277178"/>
            <a:chExt cx="6339601" cy="668178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277178"/>
              <a:ext cx="311495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编译 Pass 总览表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9112" y="716756"/>
              <a:ext cx="6321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按重要性排序展示全链路 pass：前部突出高风险热点，尾部将低复杂度 pass 合并为组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047750"/>
            <a:ext cx="11125200" cy="400050"/>
            <a:chOff x="533400" y="1047750"/>
            <a:chExt cx="11125200" cy="400050"/>
          </a:xfrm>
        </p:grpSpPr>
        <p:sp>
          <p:nvSpPr>
            <p:cNvPr id="8" name="Rectangle 8"/>
            <p:cNvSpPr/>
            <p:nvPr/>
          </p:nvSpPr>
          <p:spPr>
            <a:xfrm>
              <a:off x="533400" y="1047750"/>
              <a:ext cx="11125200" cy="4000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047750"/>
              <a:ext cx="76200" cy="400050"/>
            </a:xfrm>
            <a:prstGeom prst="roundRect">
              <a:avLst>
                <a:gd name="adj" fmla="val 50000"/>
              </a:avLst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0" y="1143000"/>
              <a:ext cx="104469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管理重点：前 4 项是主要治理对象；其余 pass 可按 </a:t>
              </a:r>
              <a:r>
                <a:rPr lang="zh-CN" sz="15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线性扫描</a:t>
              </a:r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、</a:t>
              </a:r>
              <a:r>
                <a:rPr lang="zh-CN" sz="15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局部 rewrite</a:t>
              </a:r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、 </a:t>
              </a:r>
              <a:r>
                <a:rPr lang="zh-CN" sz="15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轻量转换</a:t>
              </a:r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分组管理。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638300"/>
            <a:ext cx="11125200" cy="4476750"/>
            <a:chOff x="533400" y="1638300"/>
            <a:chExt cx="11125200" cy="4476750"/>
          </a:xfrm>
        </p:grpSpPr>
        <p:sp>
          <p:nvSpPr>
            <p:cNvPr id="12" name="Rectangle 12"/>
            <p:cNvSpPr/>
            <p:nvPr/>
          </p:nvSpPr>
          <p:spPr>
            <a:xfrm>
              <a:off x="533400" y="1638300"/>
              <a:ext cx="11125200" cy="4476750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33400" y="1638300"/>
            <a:ext cx="11125200" cy="4400550"/>
            <a:chOff x="533400" y="1638300"/>
            <a:chExt cx="11125200" cy="4400550"/>
          </a:xfrm>
        </p:grpSpPr>
        <p:sp>
          <p:nvSpPr>
            <p:cNvPr id="14" name="Rectangle 14"/>
            <p:cNvSpPr/>
            <p:nvPr/>
          </p:nvSpPr>
          <p:spPr>
            <a:xfrm>
              <a:off x="533400" y="1638300"/>
              <a:ext cx="11125200" cy="514350"/>
            </a:xfrm>
            <a:prstGeom prst="roundRect">
              <a:avLst>
                <a:gd name="adj" fmla="val 29630"/>
              </a:avLst>
            </a:prstGeom>
            <a:solidFill>
              <a:srgbClr val="163A5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000250"/>
              <a:ext cx="11125200" cy="152400"/>
            </a:xfrm>
            <a:prstGeom prst="rect">
              <a:avLst/>
            </a:prstGeom>
            <a:solidFill>
              <a:srgbClr val="163A5F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2628900" y="1714500"/>
              <a:ext cx="9525" cy="4324350"/>
            </a:xfrm>
            <a:custGeom>
              <a:avLst/>
              <a:gdLst/>
              <a:ahLst/>
              <a:cxnLst/>
              <a:rect l="l" t="t" r="r" b="b"/>
              <a:pathLst>
                <a:path w="9525" h="4324350">
                  <a:moveTo>
                    <a:pt x="0" y="0"/>
                  </a:moveTo>
                  <a:lnTo>
                    <a:pt x="0" y="4324350"/>
                  </a:lnTo>
                </a:path>
              </a:pathLst>
            </a:custGeom>
            <a:noFill/>
            <a:ln w="14288">
              <a:solidFill>
                <a:srgbClr val="36597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943350" y="1714500"/>
              <a:ext cx="9525" cy="4324350"/>
            </a:xfrm>
            <a:custGeom>
              <a:avLst/>
              <a:gdLst/>
              <a:ahLst/>
              <a:cxnLst/>
              <a:rect l="l" t="t" r="r" b="b"/>
              <a:pathLst>
                <a:path w="9525" h="4324350">
                  <a:moveTo>
                    <a:pt x="0" y="0"/>
                  </a:moveTo>
                  <a:lnTo>
                    <a:pt x="0" y="4324350"/>
                  </a:lnTo>
                </a:path>
              </a:pathLst>
            </a:custGeom>
            <a:noFill/>
            <a:ln w="14288">
              <a:solidFill>
                <a:srgbClr val="36597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105400" y="1714500"/>
              <a:ext cx="9525" cy="4324350"/>
            </a:xfrm>
            <a:custGeom>
              <a:avLst/>
              <a:gdLst/>
              <a:ahLst/>
              <a:cxnLst/>
              <a:rect l="l" t="t" r="r" b="b"/>
              <a:pathLst>
                <a:path w="9525" h="4324350">
                  <a:moveTo>
                    <a:pt x="0" y="0"/>
                  </a:moveTo>
                  <a:lnTo>
                    <a:pt x="0" y="4324350"/>
                  </a:lnTo>
                </a:path>
              </a:pathLst>
            </a:custGeom>
            <a:noFill/>
            <a:ln w="14288">
              <a:solidFill>
                <a:srgbClr val="36597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19900" y="1714500"/>
              <a:ext cx="9525" cy="4324350"/>
            </a:xfrm>
            <a:custGeom>
              <a:avLst/>
              <a:gdLst/>
              <a:ahLst/>
              <a:cxnLst/>
              <a:rect l="l" t="t" r="r" b="b"/>
              <a:pathLst>
                <a:path w="9525" h="4324350">
                  <a:moveTo>
                    <a:pt x="0" y="0"/>
                  </a:moveTo>
                  <a:lnTo>
                    <a:pt x="0" y="4324350"/>
                  </a:lnTo>
                </a:path>
              </a:pathLst>
            </a:custGeom>
            <a:noFill/>
            <a:ln w="14288">
              <a:solidFill>
                <a:srgbClr val="36597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620250" y="1714500"/>
              <a:ext cx="9525" cy="4324350"/>
            </a:xfrm>
            <a:custGeom>
              <a:avLst/>
              <a:gdLst/>
              <a:ahLst/>
              <a:cxnLst/>
              <a:rect l="l" t="t" r="r" b="b"/>
              <a:pathLst>
                <a:path w="9525" h="4324350">
                  <a:moveTo>
                    <a:pt x="0" y="0"/>
                  </a:moveTo>
                  <a:lnTo>
                    <a:pt x="0" y="4324350"/>
                  </a:lnTo>
                </a:path>
              </a:pathLst>
            </a:custGeom>
            <a:noFill/>
            <a:ln w="14288">
              <a:solidFill>
                <a:srgbClr val="36597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7705" y="1816418"/>
              <a:ext cx="11418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Pass / 分组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45105" y="18164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59555" y="18164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默认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21605" y="18164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复杂度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36105" y="1816418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重要性 / 成因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36455" y="18164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动作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2152650"/>
            <a:ext cx="11125200" cy="495300"/>
            <a:chOff x="533400" y="2152650"/>
            <a:chExt cx="11125200" cy="495300"/>
          </a:xfrm>
        </p:grpSpPr>
        <p:sp>
          <p:nvSpPr>
            <p:cNvPr id="28" name="Rectangle 28"/>
            <p:cNvSpPr/>
            <p:nvPr/>
          </p:nvSpPr>
          <p:spPr>
            <a:xfrm>
              <a:off x="533400" y="2152650"/>
              <a:ext cx="11125200" cy="495300"/>
            </a:xfrm>
            <a:prstGeom prst="rect">
              <a:avLst/>
            </a:prstGeom>
            <a:solidFill>
              <a:srgbClr val="FBEA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7705" y="2311718"/>
              <a:ext cx="22701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1. dynamic_cv_pipeline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47010" y="2327910"/>
              <a:ext cx="223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61460" y="2327910"/>
              <a:ext cx="214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23510" y="2327910"/>
              <a:ext cx="2036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392B"/>
                  </a:solidFill>
                  <a:latin typeface="Arial"/>
                  <a:ea typeface="Microsoft YaHei"/>
                  <a:cs typeface="Arial"/>
                </a:rPr>
                <a:t>O(P·(N+E)) ~ O(P·N²)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8962" y="2336006"/>
              <a:ext cx="3577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模块 clone + 多子 pass + 重复图分析 / reorder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39312" y="23360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优先治理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7705" y="2807018"/>
            <a:ext cx="10230326" cy="274320"/>
            <a:chOff x="687705" y="2807018"/>
            <a:chExt cx="10230326" cy="274320"/>
          </a:xfrm>
        </p:grpSpPr>
        <p:sp>
          <p:nvSpPr>
            <p:cNvPr id="36" name="TextBox 36"/>
            <p:cNvSpPr txBox="1"/>
            <p:nvPr/>
          </p:nvSpPr>
          <p:spPr>
            <a:xfrm>
              <a:off x="687705" y="2807018"/>
              <a:ext cx="19389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2. triton_to_linalg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47010" y="2823210"/>
              <a:ext cx="617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A5 + A3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61460" y="2823210"/>
              <a:ext cx="214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23510" y="2823210"/>
              <a:ext cx="9874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O(K·N + E)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38962" y="2831306"/>
              <a:ext cx="3963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多轮 rewrite / cleanup + UseAnalysis + conversion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39312" y="28313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压缩内部流水线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3143250"/>
            <a:ext cx="11125200" cy="495300"/>
            <a:chOff x="533400" y="3143250"/>
            <a:chExt cx="11125200" cy="495300"/>
          </a:xfrm>
        </p:grpSpPr>
        <p:sp>
          <p:nvSpPr>
            <p:cNvPr id="43" name="Rectangle 43"/>
            <p:cNvSpPr/>
            <p:nvPr/>
          </p:nvSpPr>
          <p:spPr>
            <a:xfrm>
              <a:off x="533400" y="3143250"/>
              <a:ext cx="11125200" cy="495300"/>
            </a:xfrm>
            <a:prstGeom prst="rect">
              <a:avLst/>
            </a:prstGeom>
            <a:solidFill>
              <a:srgbClr val="F9FBF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705" y="3302318"/>
              <a:ext cx="26635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3. triton_to_unstructure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47010" y="3318510"/>
              <a:ext cx="617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A5 + A3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61460" y="3318510"/>
              <a:ext cx="214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23510" y="3318510"/>
              <a:ext cx="10242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6B9A"/>
                  </a:solidFill>
                  <a:latin typeface="Arial"/>
                  <a:ea typeface="Microsoft YaHei"/>
                  <a:cs typeface="Arial"/>
                </a:rPr>
                <a:t>O(N + M·L)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38962" y="3326606"/>
              <a:ext cx="2994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地址链解析与 memory-op rewrite 叠加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39312" y="33266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做地址链缓存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7705" y="3797618"/>
            <a:ext cx="10361771" cy="274320"/>
            <a:chOff x="687705" y="3797618"/>
            <a:chExt cx="10361771" cy="274320"/>
          </a:xfrm>
        </p:grpSpPr>
        <p:sp>
          <p:nvSpPr>
            <p:cNvPr id="51" name="TextBox 51"/>
            <p:cNvSpPr txBox="1"/>
            <p:nvPr/>
          </p:nvSpPr>
          <p:spPr>
            <a:xfrm>
              <a:off x="687705" y="3797618"/>
              <a:ext cx="3408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4. repeated triton_to_structure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747010" y="3813810"/>
              <a:ext cx="617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A5 + A3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61460" y="3813810"/>
              <a:ext cx="214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23510" y="3813810"/>
              <a:ext cx="6745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O(K·N)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38962" y="3821906"/>
              <a:ext cx="2838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问题在“重复全图重扫”，边际收益存疑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39312" y="3821906"/>
              <a:ext cx="1310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先做 cheap-scan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3400" y="4133850"/>
            <a:ext cx="11125200" cy="495300"/>
            <a:chOff x="533400" y="4133850"/>
            <a:chExt cx="11125200" cy="495300"/>
          </a:xfrm>
        </p:grpSpPr>
        <p:sp>
          <p:nvSpPr>
            <p:cNvPr id="58" name="Rectangle 58"/>
            <p:cNvSpPr/>
            <p:nvPr/>
          </p:nvSpPr>
          <p:spPr>
            <a:xfrm>
              <a:off x="533400" y="4133850"/>
              <a:ext cx="11125200" cy="495300"/>
            </a:xfrm>
            <a:prstGeom prst="rect">
              <a:avLst/>
            </a:prstGeom>
            <a:solidFill>
              <a:srgbClr val="F9FBFD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7705" y="4292918"/>
              <a:ext cx="28291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5. triton_control_flow_opt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47010" y="4309110"/>
              <a:ext cx="617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A5 + A3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61460" y="4309110"/>
              <a:ext cx="214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23510" y="4309110"/>
              <a:ext cx="6745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O(N·D)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38962" y="4317206"/>
              <a:ext cx="3010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控制流嵌套深时明显变重，但低于前 4 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39312" y="43172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按需优化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88658" y="4796314"/>
            <a:ext cx="10600133" cy="259080"/>
            <a:chOff x="688658" y="4796314"/>
            <a:chExt cx="10600133" cy="259080"/>
          </a:xfrm>
        </p:grpSpPr>
        <p:sp>
          <p:nvSpPr>
            <p:cNvPr id="66" name="TextBox 66"/>
            <p:cNvSpPr txBox="1"/>
            <p:nvPr/>
          </p:nvSpPr>
          <p:spPr>
            <a:xfrm>
              <a:off x="688658" y="4796314"/>
              <a:ext cx="27012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6. 局部 rewrite / 轻量转换类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747010" y="4804410"/>
              <a:ext cx="617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A5 + A3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061460" y="48044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多为是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23510" y="480441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多为 O(N)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38962" y="4812506"/>
              <a:ext cx="43498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含 mask、bubble-up、annotation、llvm、hivm、hfusion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39312" y="48125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一笔带过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33400" y="5124450"/>
            <a:ext cx="11125200" cy="495300"/>
            <a:chOff x="533400" y="5124450"/>
            <a:chExt cx="11125200" cy="495300"/>
          </a:xfrm>
        </p:grpSpPr>
        <p:sp>
          <p:nvSpPr>
            <p:cNvPr id="73" name="Rectangle 73"/>
            <p:cNvSpPr/>
            <p:nvPr/>
          </p:nvSpPr>
          <p:spPr>
            <a:xfrm>
              <a:off x="533400" y="5124450"/>
              <a:ext cx="11125200" cy="495300"/>
            </a:xfrm>
            <a:prstGeom prst="rect">
              <a:avLst/>
            </a:prstGeom>
            <a:solidFill>
              <a:srgbClr val="F9FBFD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8658" y="5291614"/>
              <a:ext cx="16063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7. auto_blockify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747010" y="5299710"/>
              <a:ext cx="617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A5 + A3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061460" y="529971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默认否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223510" y="5299710"/>
              <a:ext cx="4721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O(N)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938962" y="5307806"/>
              <a:ext cx="3372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默认 auto_blockify_size=1，通常立即 no-op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39312" y="53078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低优先级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88658" y="5786914"/>
            <a:ext cx="10591918" cy="259080"/>
            <a:chOff x="688658" y="5786914"/>
            <a:chExt cx="10591918" cy="259080"/>
          </a:xfrm>
        </p:grpSpPr>
        <p:sp>
          <p:nvSpPr>
            <p:cNvPr id="81" name="TextBox 81"/>
            <p:cNvSpPr txBox="1"/>
            <p:nvPr/>
          </p:nvSpPr>
          <p:spPr>
            <a:xfrm>
              <a:off x="688658" y="5786914"/>
              <a:ext cx="33465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8. dynamic CV 轻量辅助 / cleanup 类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747010" y="5795010"/>
              <a:ext cx="2232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061460" y="5795010"/>
              <a:ext cx="214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67E22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223510" y="5795010"/>
              <a:ext cx="13278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3A5F"/>
                  </a:solidFill>
                  <a:latin typeface="Arial"/>
                  <a:ea typeface="Microsoft YaHei"/>
                  <a:cs typeface="Arial"/>
                </a:rPr>
                <a:t>O(N) ~ O(N+E)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38962" y="5803106"/>
              <a:ext cx="4341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含 pre-check、remove attr、部分 analyze/helper pass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739312" y="58031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7085"/>
                  </a:solidFill>
                  <a:latin typeface="Arial"/>
                  <a:ea typeface="Microsoft YaHei"/>
                  <a:cs typeface="Arial"/>
                </a:rPr>
                <a:t>随主热点顺带治理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33400" y="6248400"/>
            <a:ext cx="11125200" cy="323850"/>
            <a:chOff x="533400" y="6248400"/>
            <a:chExt cx="11125200" cy="323850"/>
          </a:xfrm>
        </p:grpSpPr>
        <p:sp>
          <p:nvSpPr>
            <p:cNvPr id="88" name="Rectangle 88"/>
            <p:cNvSpPr/>
            <p:nvPr/>
          </p:nvSpPr>
          <p:spPr>
            <a:xfrm>
              <a:off x="533400" y="6248400"/>
              <a:ext cx="11125200" cy="323850"/>
            </a:xfrm>
            <a:prstGeom prst="roundRect">
              <a:avLst>
                <a:gd name="adj" fmla="val 35294"/>
              </a:avLst>
            </a:prstGeom>
            <a:solidFill>
              <a:srgbClr val="163A5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09612" y="6336506"/>
              <a:ext cx="76195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排序原则：先看对编译时间的放大能力，再看后端范围与默认开启情况；完整视图不等于平均投入。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21018" y="6638449"/>
            <a:ext cx="11149965" cy="198120"/>
            <a:chOff x="521018" y="6638449"/>
            <a:chExt cx="11149965" cy="198120"/>
          </a:xfrm>
        </p:grpSpPr>
        <p:sp>
          <p:nvSpPr>
            <p:cNvPr id="91" name="TextBox 91"/>
            <p:cNvSpPr txBox="1"/>
            <p:nvPr/>
          </p:nvSpPr>
          <p:spPr>
            <a:xfrm>
              <a:off x="521018" y="6638449"/>
              <a:ext cx="34423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全链路可见，但管理关注点继续锁定在少数高风险热点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489579" y="66384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35" grpId="0"/>
      <p:bldP spid="42" grpId="0"/>
      <p:bldP spid="50" grpId="0"/>
      <p:bldP spid="57" grpId="0"/>
      <p:bldP spid="65" grpId="0"/>
      <p:bldP spid="72" grpId="0"/>
      <p:bldP spid="80" grpId="0"/>
      <p:bldP spid="8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